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Membantu calon pelanggan menemukan informasi resmi Mecosin melalui pencarian Google.</a:t>
            </a:r>
          </a:p>
          <a:p/>
          <a:p>
            <a:r>
              <a:t>Sumber: deck PPTX yang disediakan dan quotation.json. Contoh konseptual; bukan data riset atau temuan audit Mecosin.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Website yang sudah online belum tentu muncul saat orang mencari produk atau layanan Mecosin.</a:t>
            </a:r>
          </a:p>
          <a:p/>
          <a:p>
            <a:r>
              <a:t>Sumber: deck PPTX yang disediakan dan quotation.json. Contoh konseptual; bukan data riset atau temuan audit Mecosin.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Ketiganya saling mendukung. SEO dasar yang sudah dikerjakan saat membuat website tidak ditagihkan lagi.</a:t>
            </a:r>
          </a:p>
          <a:p/>
          <a:p>
            <a:r>
              <a:t>Sumber: deck PPTX yang disediakan dan quotation.json. Contoh konseptual; bukan data riset atau temuan audit Mecosin.</a:t>
            </a:r>
          </a:p>
          <a:p/>
          <a:p>
            <a:r>
              <a:t>Penjelasan lengkap:</a:t>
            </a:r>
          </a:p>
          <a:p>
            <a:r>
              <a:t>01 / PEMBUATAN WEBSITE</a:t>
            </a:r>
          </a:p>
          <a:p>
            <a:r>
              <a:t>Menyiapkan website</a:t>
            </a:r>
          </a:p>
          <a:p>
            <a:r>
              <a:t>Membuat halaman, fitur, struktur, dan SEO dasar.</a:t>
            </a:r>
          </a:p>
          <a:p>
            <a:r>
              <a:t>Contoh: membuat halaman produk.</a:t>
            </a:r>
          </a:p>
          <a:p>
            <a:r>
              <a:t>02 / MAINTENANCE</a:t>
            </a:r>
          </a:p>
          <a:p>
            <a:r>
              <a:t>Merawat website</a:t>
            </a:r>
          </a:p>
          <a:p>
            <a:r>
              <a:t>Pembaruan, backup, dan perbaikan fungsi.</a:t>
            </a:r>
          </a:p>
          <a:p>
            <a:r>
              <a:t>Contoh: memperbaiki formulir yang rusak.</a:t>
            </a:r>
          </a:p>
          <a:p>
            <a:r>
              <a:t>03 / SEO MANAGEMENT</a:t>
            </a:r>
          </a:p>
          <a:p>
            <a:r>
              <a:t>Meningkatkan visibilitas</a:t>
            </a:r>
          </a:p>
          <a:p>
            <a:r>
              <a:t>Riset, optimasi, konten, dan evaluasi.</a:t>
            </a:r>
          </a:p>
          <a:p>
            <a:r>
              <a:t>Contoh: melengkapi informasi yang dicari pelanggan.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Menulis artikel termasuk on-page SEO. Pekerjaan SEO juga mencakup perbaikan teknis dan reputasi website.</a:t>
            </a:r>
          </a:p>
          <a:p/>
          <a:p>
            <a:r>
              <a:t>Sumber: deck PPTX yang disediakan dan quotation.json. Contoh konseptual; bukan data riset atau temuan audit Mecosin.</a:t>
            </a:r>
          </a:p>
          <a:p/>
          <a:p>
            <a:r>
              <a:t>Penjelasan lengkap:</a:t>
            </a:r>
          </a:p>
          <a:p>
            <a:r>
              <a:t>SEO</a:t>
            </a:r>
          </a:p>
          <a:p>
            <a:r>
              <a:t>TECHNICAL</a:t>
            </a:r>
          </a:p>
          <a:p>
            <a:r>
              <a:t>Akses &amp; struktur</a:t>
            </a:r>
          </a:p>
          <a:p>
            <a:r>
              <a:t>Contoh: indexing, redirect,</a:t>
            </a:r>
          </a:p>
          <a:p>
            <a:r>
              <a:t>performa, schema.</a:t>
            </a:r>
          </a:p>
          <a:p>
            <a:r>
              <a:t>ON-PAGE</a:t>
            </a:r>
          </a:p>
          <a:p>
            <a:r>
              <a:t>Isi halaman</a:t>
            </a:r>
          </a:p>
          <a:p>
            <a:r>
              <a:t>Contoh: riset, info produk,</a:t>
            </a:r>
          </a:p>
          <a:p>
            <a:r>
              <a:t>artikel, dan internal link.</a:t>
            </a:r>
          </a:p>
          <a:p>
            <a:r>
              <a:t>OFF-PAGE</a:t>
            </a:r>
          </a:p>
          <a:p>
            <a:r>
              <a:t>Reputasi di luar website</a:t>
            </a:r>
          </a:p>
          <a:p>
            <a:r>
              <a:t>Contoh: tautan dari situs lain</a:t>
            </a:r>
          </a:p>
          <a:p>
            <a:r>
              <a:t>dan penyebutan merek.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 perlu menemukan dan membaca halaman, lalu menilai apakah halaman layak disimpan dan ditampilkan.</a:t>
            </a:r>
          </a:p>
          <a:p/>
          <a:p>
            <a:r>
              <a:t>Sumber: https://developers.google.com/search/docs/fundamentals/how-search-works</a:t>
            </a:r>
          </a:p>
          <a:p>
            <a:r>
              <a:t>Pilot infografik: jaringan halaman menggambarkan crawling, database menggambarkan indeks, dan hasil pencarian adalah simulasi. Masuk indeks tidak menjamin peringkat tinggi.</a:t>
            </a:r>
          </a:p>
          <a:p/>
          <a:p>
            <a:r>
              <a:t>Penjelasan lengkap:</a:t>
            </a:r>
          </a:p>
          <a:p>
            <a:r>
              <a:t>01</a:t>
            </a:r>
          </a:p>
          <a:p>
            <a:r>
              <a:t>Crawling</a:t>
            </a:r>
          </a:p>
          <a:p>
            <a:r>
              <a:t>Googlebot menemukan dan membaca halaman.</a:t>
            </a:r>
          </a:p>
          <a:p>
            <a:r>
              <a:t>02</a:t>
            </a:r>
          </a:p>
          <a:p>
            <a:r>
              <a:t>Indexing</a:t>
            </a:r>
          </a:p>
          <a:p>
            <a:r>
              <a:t>Google menilai halaman untuk disimpan di indeks.</a:t>
            </a:r>
          </a:p>
          <a:p>
            <a:r>
              <a:t>03</a:t>
            </a:r>
          </a:p>
          <a:p>
            <a:r>
              <a:t>Hasil pencarian</a:t>
            </a:r>
          </a:p>
          <a:p>
            <a:r>
              <a:t>Google memilih hasil yang relevan.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robots.txt mengatur crawling, bukan cara andal menghapus URL dari index. noindex harus bisa dibaca Google agar berlaku. Hapus hanya pada halaman yang memang siap publik; staging dan halaman privat tetap dilindungi. Sitemap membantu penemuan tetapi tidak menjamin indexing. Contoh noindex adalah simulasi, bukan temuan audit Mecosin.</a:t>
            </a:r>
          </a:p>
          <a:p/>
          <a:p>
            <a:r>
              <a:t>Sumber: https://developers.google.com/search/docs/crawling-indexing/block-indexing</a:t>
            </a:r>
          </a:p>
          <a:p/>
          <a:p>
            <a:r>
              <a:t>Penjelasan lengkap:</a:t>
            </a:r>
          </a:p>
          <a:p>
            <a:r>
              <a:t>Halaman website</a:t>
            </a:r>
          </a:p>
          <a:p>
            <a:r>
              <a:t>Pengunjung dapat membuka</a:t>
            </a:r>
          </a:p>
          <a:p>
            <a:r>
              <a:t>SEBELUM</a:t>
            </a:r>
          </a:p>
          <a:p>
            <a:r>
              <a:t>Sudah online, masih noindex</a:t>
            </a:r>
          </a:p>
          <a:p>
            <a:r>
              <a:t>noindex: tidak masuk indeks</a:t>
            </a:r>
          </a:p>
          <a:p>
            <a:r>
              <a:t>Halaman bisa dibuka, tetapi Google diminta tidak memasukkannya ke indeks.</a:t>
            </a:r>
          </a:p>
          <a:p>
            <a:r>
              <a:t>PEMERIKSAAN TIM</a:t>
            </a:r>
          </a:p>
          <a:p>
            <a:r>
              <a:t>Pastikan siap ditayangkan</a:t>
            </a:r>
          </a:p>
          <a:p>
            <a:r>
              <a:t>Periksa akses dan isi halaman. Perbaiki aturan yang salah, lalu pantau lewat Search Console.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Arahkan alamat lama ke halaman pengganti yang sesuai. Perbarui juga internal link dan sitemap.</a:t>
            </a:r>
          </a:p>
          <a:p/>
          <a:p>
            <a:r>
              <a:t>Sumber: https://developers.google.com/search/docs/crawling-indexing/site-move-with-url-changes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Pastikan halaman cepat dibuka, tampilannya tidak bergeser, dan mudah digunakan.</a:t>
            </a:r>
          </a:p>
          <a:p/>
          <a:p>
            <a:r>
              <a:t>Sumber: https://developers.google.com/search/docs/appearance/page-experience</a:t>
            </a:r>
          </a:p>
          <a:p/>
          <a:p>
            <a:r>
              <a:t>Penjelasan lengkap:</a:t>
            </a:r>
          </a:p>
          <a:p>
            <a:r>
              <a:t>Gambar terlalu besar?</a:t>
            </a:r>
          </a:p>
          <a:p>
            <a:r>
              <a:t>Ringankan ukuran filenya.</a:t>
            </a:r>
          </a:p>
          <a:p>
            <a:r>
              <a:t>Pilih ukuran dan format yang sesuai.</a:t>
            </a:r>
          </a:p>
          <a:p>
            <a:r>
              <a:t>Atur lebar dan tinggi gambar.</a:t>
            </a:r>
          </a:p>
          <a:p>
            <a:r>
              <a:t>Coba lagi lewat ponsel.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Schema memberi keterangan tambahan dalam kode, misalnya judul, penulis, dan tanggal terbit artikel.</a:t>
            </a:r>
          </a:p>
          <a:p/>
          <a:p>
            <a:r>
              <a:t>Sumber: https://developers.google.com/search/docs/appearance/structured-data/article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Mulai dari produk, layanan, dan calon pelanggan Mecosin. Jangan hanya mengejar kata kunci yang banyak dicari.</a:t>
            </a:r>
          </a:p>
          <a:p/>
          <a:p>
            <a:r>
              <a:t>Sumber: deck PPTX yang disediakan dan quotation.json. Contoh konseptual; bukan data riset atau temuan audit Mecosin.</a:t>
            </a:r>
          </a:p>
          <a:p/>
          <a:p>
            <a:r>
              <a:t>Penjelasan lengkap:</a:t>
            </a:r>
          </a:p>
          <a:p>
            <a:r>
              <a:t>Tujuan bisnis Mecosin</a:t>
            </a:r>
          </a:p>
          <a:p>
            <a:r>
              <a:t>KONSUMEN</a:t>
            </a:r>
          </a:p>
          <a:p>
            <a:r>
              <a:t>Informasi</a:t>
            </a:r>
          </a:p>
          <a:p>
            <a:r>
              <a:t>produk</a:t>
            </a:r>
          </a:p>
          <a:p>
            <a:r>
              <a:t>Contoh: Laserin sachet.</a:t>
            </a:r>
          </a:p>
          <a:p>
            <a:r>
              <a:t>CALON MITRA</a:t>
            </a:r>
          </a:p>
          <a:p>
            <a:r>
              <a:t>Informasi</a:t>
            </a:r>
          </a:p>
          <a:p>
            <a:r>
              <a:t>layanan</a:t>
            </a:r>
          </a:p>
          <a:p>
            <a:r>
              <a:t>Contoh: maklon herbal.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Volume dari alat SEO adalah estimasi pencarian pada negara, bahasa dan periode tertentu; bukan jumlah orang unik atau kunjungan yang dijanjikan. Slide sengaja tidak memasukkan angka karena riset volume aktual belum dilakukan. Contoh keyword bukan target final.</a:t>
            </a:r>
          </a:p>
          <a:p/>
          <a:p>
            <a:r>
              <a:t>Sumber: deck PPTX yang disediakan dan quotation.json. Contoh konseptual; bukan data riset atau temuan audit Mecosin.</a:t>
            </a:r>
          </a:p>
          <a:p/>
          <a:p>
            <a:r>
              <a:t>Penjelasan lengkap:</a:t>
            </a:r>
          </a:p>
          <a:p>
            <a:r>
              <a:t>CONTOH KATA KUNCI</a:t>
            </a:r>
          </a:p>
          <a:p>
            <a:r>
              <a:t>Laserin</a:t>
            </a:r>
          </a:p>
          <a:p>
            <a:r>
              <a:t>Laserin sachet</a:t>
            </a:r>
          </a:p>
          <a:p>
            <a:r>
              <a:t>Volume dan tren perlu diteliti.</a:t>
            </a:r>
          </a:p>
          <a:p>
            <a:r>
              <a:t>Bandingkan pasar dan periode yang sama.</a:t>
            </a:r>
          </a:p>
          <a:p>
            <a:r>
              <a:t>Tanpa angka rekaan</a:t>
            </a:r>
          </a:p>
          <a:p>
            <a:r>
              <a:t>Pilih kata kunci yang sesuai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Orang yang mencari panduan dan orang yang ingin membeli membutuhkan halaman yang berbeda.</a:t>
            </a:r>
          </a:p>
          <a:p/>
          <a:p>
            <a:r>
              <a:t>Sumber: deck PPTX yang disediakan dan quotation.json. Contoh konseptual; bukan data riset atau temuan audit Mecosin.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Pelajari halaman yang muncul untuk kata kunci yang sama. Situsnya belum tentu berasal dari bisnis sejenis.</a:t>
            </a:r>
          </a:p>
          <a:p/>
          <a:p>
            <a:r>
              <a:t>Sumber: deck PPTX yang disediakan dan quotation.json. Contoh konseptual; bukan data riset atau temuan audit Mecosin.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Cari kata kunci yang dijangkau kompetitor, tetapi belum dijangkau Mecosin. Pilih sesuai kebutuhan bisnis.</a:t>
            </a:r>
          </a:p>
          <a:p/>
          <a:p>
            <a:r>
              <a:t>Sumber: deck PPTX yang disediakan dan quotation.json. Contoh konseptual; bukan data riset atau temuan audit Mecosin.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Cocokkan kata kunci dengan halaman yang tepat. Periksa halaman yang sudah ada sebelum membuat halaman baru.</a:t>
            </a:r>
          </a:p>
          <a:p/>
          <a:p>
            <a:r>
              <a:t>Sumber: deck PPTX yang disediakan dan quotation.json. Contoh konseptual; bukan data riset atau temuan audit Mecosin.</a:t>
            </a:r>
          </a:p>
          <a:p>
            <a:r>
              <a:t>Pilot infografik: tiga pencarian dipetakan ke halaman produk Laserin sachet, artikel panduan label, dan halaman layanan B2B. Semua adalah contoh, bukan hasil riset keyword atau konfirmasi kapabilitas layanan.</a:t>
            </a:r>
          </a:p>
          <a:p/>
          <a:p>
            <a:r>
              <a:t>Penjelasan lengkap:</a:t>
            </a:r>
          </a:p>
          <a:p>
            <a:r>
              <a:t>Laserin sachet</a:t>
            </a:r>
          </a:p>
          <a:p>
            <a:r>
              <a:t>›</a:t>
            </a:r>
          </a:p>
          <a:p>
            <a:r>
              <a:t>Halaman produk Laserin sachet</a:t>
            </a:r>
          </a:p>
          <a:p>
            <a:r>
              <a:t>Cara membaca label herbal</a:t>
            </a:r>
          </a:p>
          <a:p>
            <a:r>
              <a:t>›</a:t>
            </a:r>
          </a:p>
          <a:p>
            <a:r>
              <a:t>Artikel panduan label</a:t>
            </a:r>
          </a:p>
          <a:p>
            <a:r>
              <a:t>Maklon herbal</a:t>
            </a:r>
          </a:p>
          <a:p>
            <a:r>
              <a:t>›</a:t>
            </a:r>
          </a:p>
          <a:p>
            <a:r>
              <a:t>Halaman layanan B2B</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Gunakan hasil riset dan kondisi website untuk memilih konten yang perlu dibuat atau diperbarui.</a:t>
            </a:r>
          </a:p>
          <a:p/>
          <a:p>
            <a:r>
              <a:t>Sumber: deck PPTX yang disediakan dan quotation.json. Contoh konseptual; bukan data riset atau temuan audit Mecosin.</a:t>
            </a:r>
          </a:p>
          <a:p/>
          <a:p>
            <a:r>
              <a:t>Penjelasan lengkap:</a:t>
            </a:r>
          </a:p>
          <a:p>
            <a:r>
              <a:t>PRIORITAS 1</a:t>
            </a:r>
          </a:p>
          <a:p>
            <a:r>
              <a:t>Perbarui halaman produk</a:t>
            </a:r>
          </a:p>
          <a:p>
            <a:r>
              <a:t>Lengkapi informasi resmi.</a:t>
            </a:r>
          </a:p>
          <a:p>
            <a:r>
              <a:t>PRIORITAS 2</a:t>
            </a:r>
          </a:p>
          <a:p>
            <a:r>
              <a:t>Buat panduan</a:t>
            </a:r>
          </a:p>
          <a:p>
            <a:r>
              <a:t>Jawab pertanyaan yang belum dibahas.</a:t>
            </a:r>
          </a:p>
          <a:p>
            <a:r>
              <a:t>PRIORITAS 3</a:t>
            </a:r>
          </a:p>
          <a:p>
            <a:r>
              <a:t>Hubungkan konten</a:t>
            </a:r>
          </a:p>
          <a:p>
            <a:r>
              <a:t>Tentukan tautan dan jadwal tayangnya.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 menjelaskan pembaca yang dituju, pertanyaan yang perlu dijawab, sumber, dan tujuan artikel.</a:t>
            </a:r>
          </a:p>
          <a:p/>
          <a:p>
            <a:r>
              <a:t>Sumber: deck PPTX yang disediakan dan quotation.json. Contoh konseptual; bukan data riset atau temuan audit Mecosin.</a:t>
            </a:r>
          </a:p>
          <a:p/>
          <a:p>
            <a:r>
              <a:t>Penjelasan lengkap:</a:t>
            </a:r>
          </a:p>
          <a:p>
            <a:r>
              <a:t>CONTOH BRIEF</a:t>
            </a:r>
          </a:p>
          <a:p>
            <a:r>
              <a:t>Cara Membaca Label Produk Herbal</a:t>
            </a:r>
          </a:p>
          <a:p>
            <a:r>
              <a:t>Pembaca: orang yang ingin memahami label.</a:t>
            </a:r>
          </a:p>
          <a:p>
            <a:r>
              <a:t>Isi: bagian label dan cara membacanya.</a:t>
            </a:r>
          </a:p>
          <a:p>
            <a:r>
              <a:t>Sumber: materi resmi yang disetujui.</a:t>
            </a:r>
          </a:p>
          <a:p>
            <a:r>
              <a:t>Tujuan: memahami label dan info terkait.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Susun artikel agar pembaca mudah menemukan jawaban. Gunakan sumber yang jelas dan materi resmi.</a:t>
            </a:r>
          </a:p>
          <a:p/>
          <a:p>
            <a:r>
              <a:t>Sumber: deck PPTX yang disediakan dan quotation.json. Contoh konseptual; bukan data riset atau temuan audit Mecosin.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adalah judul halaman. Meta description memberi ringkasan agar orang tahu isinya sebelum mengeklik.</a:t>
            </a:r>
          </a:p>
          <a:p/>
          <a:p>
            <a:r>
              <a:t>Sumber: https://developers.google.com/search/docs/appearance/snippet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Internal link menghubungkan halaman terkait. CTA mengajak pembaca melakukan langkah berikutnya.</a:t>
            </a:r>
          </a:p>
          <a:p/>
          <a:p>
            <a:r>
              <a:t>Sumber: deck PPTX yang disediakan dan quotation.json. Contoh konseptual; bukan data riset atau temuan audit Mecosin.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Konten yang selesai ditulis masih perlu diperiksa dan disetujui.</a:t>
            </a:r>
          </a:p>
          <a:p/>
          <a:p>
            <a:r>
              <a:t>Sumber: deck PPTX yang disediakan dan quotation.json. Contoh konseptual; bukan data riset atau temuan audit Mecosin.</a:t>
            </a:r>
          </a:p>
          <a:p/>
          <a:p>
            <a:r>
              <a:t>Penjelasan lengkap:</a:t>
            </a:r>
          </a:p>
          <a:p>
            <a:r>
              <a:t>01</a:t>
            </a:r>
          </a:p>
          <a:p>
            <a:r>
              <a:t>Pemeriksaan konten</a:t>
            </a:r>
          </a:p>
          <a:p>
            <a:r>
              <a:t>Periksa isi, metadata, gambar, tautan, dan tampilan di ponsel.</a:t>
            </a:r>
          </a:p>
          <a:p>
            <a:r>
              <a:t>02</a:t>
            </a:r>
          </a:p>
          <a:p>
            <a:r>
              <a:t>Persetujuan Mecosin</a:t>
            </a:r>
          </a:p>
          <a:p>
            <a:r>
              <a:t>Mecosin memeriksa informasi produk berdasarkan materi resmi.</a:t>
            </a:r>
          </a:p>
          <a:p>
            <a:r>
              <a:t>03</a:t>
            </a:r>
          </a:p>
          <a:p>
            <a:r>
              <a:t>Publikasi</a:t>
            </a:r>
          </a:p>
          <a:p>
            <a:r>
              <a:t>Tayangkan versi yang disetujui, lalu periksa hasilnya di website.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Pantau seberapa sering halaman muncul, berapa yang mengeklik, apa yang dilakukan pengunjung, dan hasilnya bagi bisnis.</a:t>
            </a:r>
          </a:p>
          <a:p/>
          <a:p>
            <a:r>
              <a:t>Sumber: https://support.google.com/webmasters/answer/10268906?hl=en</a:t>
            </a:r>
          </a:p>
          <a:p/>
          <a:p>
            <a:r>
              <a:t>Penjelasan lengkap:</a:t>
            </a:r>
          </a:p>
          <a:p>
            <a:r>
              <a:t>01</a:t>
            </a:r>
          </a:p>
          <a:p>
            <a:r>
              <a:t>Ditemukan</a:t>
            </a:r>
          </a:p>
          <a:p>
            <a:r>
              <a:t>Tayangan &amp; kata pencarian</a:t>
            </a:r>
          </a:p>
          <a:p>
            <a:r>
              <a:t>02</a:t>
            </a:r>
          </a:p>
          <a:p>
            <a:r>
              <a:t>Diklik</a:t>
            </a:r>
          </a:p>
          <a:p>
            <a:r>
              <a:t>Klik, CTR &amp; kunjungan</a:t>
            </a:r>
          </a:p>
          <a:p>
            <a:r>
              <a:t>03</a:t>
            </a:r>
          </a:p>
          <a:p>
            <a:r>
              <a:t>Digunakan</a:t>
            </a:r>
          </a:p>
          <a:p>
            <a:r>
              <a:t>Membaca &amp; mengeklik tautan</a:t>
            </a:r>
          </a:p>
          <a:p>
            <a:r>
              <a:t>04</a:t>
            </a:r>
          </a:p>
          <a:p>
            <a:r>
              <a:t>Hasil bisnis</a:t>
            </a:r>
          </a:p>
          <a:p>
            <a:r>
              <a:t>Pertanyaan relevan / pembelian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Jangan menyimpulkan dari satu angka saja. Cari penyebabnya sebelum menentukan perbaikan.</a:t>
            </a:r>
          </a:p>
          <a:p/>
          <a:p>
            <a:r>
              <a:t>Sumber: deck PPTX yang disediakan dan quotation.json. Contoh konseptual; bukan data riset atau temuan audit Mecosin.</a:t>
            </a:r>
          </a:p>
          <a:p/>
          <a:p>
            <a:r>
              <a:t>Penjelasan lengkap:</a:t>
            </a:r>
          </a:p>
          <a:p>
            <a:r>
              <a:t>CONTOH KONDISI</a:t>
            </a:r>
          </a:p>
          <a:p>
            <a:r>
              <a:t>Sudah muncul.</a:t>
            </a:r>
          </a:p>
          <a:p>
            <a:r>
              <a:t>Jarang diklik.</a:t>
            </a:r>
          </a:p>
          <a:p>
            <a:r>
              <a:t>Periksa penyebabnya</a:t>
            </a:r>
          </a:p>
          <a:p>
            <a:r>
              <a:t>Kata pencarian dan tujuannya</a:t>
            </a:r>
          </a:p>
          <a:p>
            <a:r>
              <a:t>posisi</a:t>
            </a:r>
          </a:p>
          <a:p>
            <a:r>
              <a:t>judul</a:t>
            </a:r>
          </a:p>
          <a:p>
            <a:r>
              <a:t>tampilan di Google</a:t>
            </a:r>
          </a:p>
          <a:p>
            <a:r>
              <a:t>Perbaiki metadata atau isi jika belum menjawab kebutuhan pencari.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Website bisa diperbarui hari ini. Google dan pengunjung membutuhkan waktu untuk merespons perubahan itu.</a:t>
            </a:r>
          </a:p>
          <a:p/>
          <a:p>
            <a:r>
              <a:t>Sumber: deck PPTX yang disediakan dan quotation.json. Contoh konseptual; bukan data riset atau temuan audit Mecosin.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Pengalaman membantu memilih langkah yang tepat dan mengurangi pekerjaan ulang. Peringkat tetap tidak dijamin.</a:t>
            </a:r>
          </a:p>
          <a:p/>
          <a:p>
            <a:r>
              <a:t>Sumber: deck PPTX yang disediakan dan quotation.json. Contoh konseptual; bukan data riset atau temuan audit Mecosin.</a:t>
            </a:r>
          </a:p>
          <a:p/>
          <a:p>
            <a:r>
              <a:t>Penjelasan lengkap:</a:t>
            </a:r>
          </a:p>
          <a:p>
            <a:r>
              <a:t>PRIORITAS 1</a:t>
            </a:r>
          </a:p>
          <a:p>
            <a:r>
              <a:t>Halaman terblokir</a:t>
            </a:r>
          </a:p>
          <a:p>
            <a:r>
              <a:t>Periksa akses lebih dulu.</a:t>
            </a:r>
          </a:p>
          <a:p>
            <a:r>
              <a:t>PRIORITAS 2</a:t>
            </a:r>
          </a:p>
          <a:p>
            <a:r>
              <a:t>Informasi belum lengkap</a:t>
            </a:r>
          </a:p>
          <a:p>
            <a:r>
              <a:t>Lengkapi informasi produk.</a:t>
            </a:r>
          </a:p>
          <a:p>
            <a:r>
              <a:t>PRIORITAS 3</a:t>
            </a:r>
          </a:p>
          <a:p>
            <a:r>
              <a:t>Peluang artikel baru</a:t>
            </a:r>
          </a:p>
          <a:p>
            <a:r>
              <a:t>Tulis artikel yang paling dibutuhkan.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Pekerjaan mengikuti kondisi website dan kebutuhan bisnis. Tidak semua halaman harus diubah setiap bulan.</a:t>
            </a:r>
          </a:p>
          <a:p/>
          <a:p>
            <a:r>
              <a:t>Sumber: deck PPTX yang disediakan dan quotation.json. Contoh konseptual; bukan data riset atau temuan audit Mecosin.</a:t>
            </a:r>
          </a:p>
          <a:p>
            <a:r>
              <a:t>Pilot infografik: kalender untuk rencana, pensil untuk pekerjaan, kaca pembesar untuk evaluasi, dan panah balik untuk penyesuaian. Siklus menggambarkan urutan kerja, bukan grafik peningkatan hasil.</a:t>
            </a:r>
          </a:p>
          <a:p/>
          <a:p>
            <a:r>
              <a:t>Penjelasan lengkap:</a:t>
            </a:r>
          </a:p>
          <a:p>
            <a:r>
              <a:t>01 / RENCANAKAN</a:t>
            </a:r>
          </a:p>
          <a:p>
            <a:r>
              <a:t>Topik &amp; halaman prioritas</a:t>
            </a:r>
          </a:p>
          <a:p>
            <a:r>
              <a:t>02 / KERJAKAN</a:t>
            </a:r>
          </a:p>
          <a:p>
            <a:r>
              <a:t>Artikel &amp; catatan perubahan</a:t>
            </a:r>
          </a:p>
          <a:p>
            <a:r>
              <a:t>03 / EVALUASI</a:t>
            </a:r>
          </a:p>
          <a:p>
            <a:r>
              <a:t>Laporan hasil &amp; kendala</a:t>
            </a:r>
          </a:p>
          <a:p>
            <a:r>
              <a:t>04 / SESUAIKAN</a:t>
            </a:r>
          </a:p>
          <a:p>
            <a:r>
              <a:t>Rencana bulan berikutnya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Studi Google Search Central: tahun pertama fokus crawl error dilaporkan diikuti organic traffic +15%. Setelah rangkaian optimasi, organic traffic Google Search +102% YoY pada musim rekrutmen September 2019. Bukan eksperimen maintenance versus tanpa maintenance, bukan hasil satu tindakan, dan bukan proyeksi Mecosin. Kutipan asli diperiksa terhadap teks dan screenshot arsip sumber proyek. Alat historis pada artikel bukan rekomendasi tools aktif hari ini.</a:t>
            </a:r>
          </a:p>
          <a:p/>
          <a:p>
            <a:r>
              <a:t>Sumber: https://developers.google.com/search/case-studies/saramin-case-study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Pengelolaan bulanan mencakup strategi, pembuatan konten, perbaikan halaman, dan evaluasi.</a:t>
            </a:r>
          </a:p>
          <a:p/>
          <a:p>
            <a:r>
              <a:t>Sumber: deck PPTX yang disediakan dan quotation.json. Contoh konseptual; bukan data riset atau temuan audit Mecosin.</a:t>
            </a:r>
          </a:p>
          <a:p/>
          <a:p>
            <a:r>
              <a:t>Cakupan quotation: SEO bulanan mencakup strategi keyword, 15 artikel, on-page SEO, internal linking, schema markup, technical SEO, AI generative images, monitoring, dan reporting. Backlink on demand.</a:t>
            </a:r>
          </a:p>
          <a:p>
            <a:r>
              <a:t>Ilustrasi AI pendukung tersedia sesuai kebutuhan, bukan foto produk resmi. Halaman existing yang dioptimasi dipilih sesuai prioritas, tanpa kuota halaman yang dikarang. Monitoring GSC/GA4 membutuhkan akses. Ketentuan revisi dan keterlambatan approval perlu disepakati; tidak ada SLA baru yang dibuat dalam deck ini.</a:t>
            </a:r>
          </a:p>
          <a:p/>
          <a:p>
            <a:r>
              <a:t>Penjelasan lengkap:</a:t>
            </a:r>
          </a:p>
          <a:p>
            <a:r>
              <a:t>Rp15 juta</a:t>
            </a:r>
          </a:p>
          <a:p>
            <a:r>
              <a:t>per bulan</a:t>
            </a:r>
          </a:p>
          <a:p>
            <a:r>
              <a:t>15</a:t>
            </a:r>
          </a:p>
          <a:p>
            <a:r>
              <a:t>artikel SEO per bulan</a:t>
            </a:r>
          </a:p>
          <a:p>
            <a:r>
              <a:t>Riset, brief, penulisan, penyuntingan, optimasi, dan penayangan setelah disetujui.</a:t>
            </a:r>
          </a:p>
          <a:p>
            <a:r>
              <a:t>+ Optimasi on-page &amp; technical SEO</a:t>
            </a:r>
          </a:p>
          <a:p>
            <a:r>
              <a:t>+ Pemantauan &amp; laporan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Mecosin menerima hasil kerja yang bisa diperiksa. Dampaknya dinilai dari data pencarian, bukan jumlah artikel saja.</a:t>
            </a:r>
          </a:p>
          <a:p/>
          <a:p>
            <a:r>
              <a:t>Sumber: deck PPTX yang disediakan dan quotation.json. Contoh konseptual; bukan data riset atau temuan audit Mecosin.</a:t>
            </a:r>
          </a:p>
          <a:p/>
          <a:p>
            <a:r>
              <a:t>Penjelasan lengkap:</a:t>
            </a:r>
          </a:p>
          <a:p>
            <a:r>
              <a:t>KONTEN</a:t>
            </a:r>
          </a:p>
          <a:p>
            <a:r>
              <a:t>15 artikel SEO</a:t>
            </a:r>
          </a:p>
          <a:p>
            <a:r>
              <a:t>Brief, draf, revisi sesuai alur, status persetujuan, dan penayangan.</a:t>
            </a:r>
          </a:p>
          <a:p>
            <a:r>
              <a:t>OPTIMASI</a:t>
            </a:r>
          </a:p>
          <a:p>
            <a:r>
              <a:t>Catatan perubahan</a:t>
            </a:r>
          </a:p>
          <a:p>
            <a:r>
              <a:t>Halaman yang dioptimasi dan pekerjaan teknis sesuai prioritas.</a:t>
            </a:r>
          </a:p>
          <a:p>
            <a:r>
              <a:t>EVALUASI</a:t>
            </a:r>
          </a:p>
          <a:p>
            <a:r>
              <a:t>Laporan &amp; rencana</a:t>
            </a:r>
          </a:p>
          <a:p>
            <a:r>
              <a:t>Hasil yang sudah tercatat, kendala, dan rencana bulan berikutnya.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Cakupan dan pembagian tugas yang jelas membantu pekerjaan dan persetujuan konten berjalan lancar.</a:t>
            </a:r>
          </a:p>
          <a:p/>
          <a:p>
            <a:r>
              <a:t>Sumber: deck PPTX yang disediakan dan quotation.json. Contoh konseptual; bukan data riset atau temuan audit Mecosin.</a:t>
            </a:r>
          </a:p>
          <a:p/>
          <a:p>
            <a:r>
              <a:t>Pengecualian quotation:</a:t>
            </a:r>
          </a:p>
          <a:p>
            <a:r>
              <a:t>Biaya backlink/placement, advertorial/PR, iklan, video/fotografi, dan pengelolaan media sosial.</a:t>
            </a:r>
          </a:p>
          <a:p>
            <a:r>
              <a:t>Redesign/development besar, terjemahan tambahan, dan review medis/legal profesional.</a:t>
            </a:r>
          </a:p>
          <a:p>
            <a:r>
              <a:t>Jaminan ranking, traffic, sales, atau kutipan AI search.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Sepakati arah pekerjaan, siapkan data, dan tentukan alur persetujuan sebelum produksi dimulai.</a:t>
            </a:r>
          </a:p>
          <a:p/>
          <a:p>
            <a:r>
              <a:t>Sumber: deck PPTX yang disediakan dan quotation.json. Contoh konseptual; bukan data riset atau temuan audit Mecosin.</a:t>
            </a:r>
          </a:p>
          <a:p/>
          <a:p>
            <a:r>
              <a:t>Penjelasan lengkap:</a:t>
            </a:r>
          </a:p>
          <a:p>
            <a:r>
              <a:t>Tentukan prioritas dan siapa yang menyetujui konten sebelum mulai.</a:t>
            </a:r>
          </a:p>
          <a:p>
            <a:r>
              <a:t>01</a:t>
            </a:r>
          </a:p>
          <a:p>
            <a:r>
              <a:t>Fokus bisnis</a:t>
            </a:r>
          </a:p>
          <a:p>
            <a:r>
              <a:t>Produk, calon pelanggan, dan peluang utama.</a:t>
            </a:r>
          </a:p>
          <a:p>
            <a:r>
              <a:t>02</a:t>
            </a:r>
          </a:p>
          <a:p>
            <a:r>
              <a:t>Akses &amp; materi</a:t>
            </a:r>
          </a:p>
          <a:p>
            <a:r>
              <a:t>Website, GSC, Analytics, materi resmi.</a:t>
            </a:r>
          </a:p>
          <a:p>
            <a:r>
              <a:t>03</a:t>
            </a:r>
          </a:p>
          <a:p>
            <a:r>
              <a:t>PIC &amp; persetujuan</a:t>
            </a:r>
          </a:p>
          <a:p>
            <a:r>
              <a:t>Pemeriksa konten dan PIC pertanyaan masuk.</a:t>
            </a:r>
          </a:p>
          <a:p>
            <a:r>
              <a:t>Mulai bekerja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notesSlide" Target="../notesSlides/notesSlide1.xml"/><Relationship Id="rId5" Type="http://schemas.openxmlformats.org/officeDocument/2006/relationships/image" Target="../media/image1.png"/><Relationship Id="rId6" Type="http://schemas.openxmlformats.org/officeDocument/2006/relationships/image" Target="../media/image12.png"/><Relationship Id="rId7"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notesSlide" Target="../notesSlides/notesSlide2.xml"/><Relationship Id="rId5" Type="http://schemas.openxmlformats.org/officeDocument/2006/relationships/image" Target="../media/image12.png"/><Relationship Id="rId6"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notesSlide" Target="../notesSlides/notesSlide3.xml"/><Relationship Id="rId5" Type="http://schemas.openxmlformats.org/officeDocument/2006/relationships/image" Target="../media/image12.png"/><Relationship Id="rId6"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notesSlide" Target="../notesSlides/notesSlide4.xml"/><Relationship Id="rId5" Type="http://schemas.openxmlformats.org/officeDocument/2006/relationships/image" Target="../media/image12.png"/><Relationship Id="rId6"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notesSlide" Target="../notesSlides/notesSlide5.xml"/><Relationship Id="rId7" Type="http://schemas.openxmlformats.org/officeDocument/2006/relationships/image" Target="../media/image12.png"/><Relationship Id="rId8"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notesSlide" Target="../notesSlides/notesSlide6.xml"/><Relationship Id="rId6" Type="http://schemas.openxmlformats.org/officeDocument/2006/relationships/image" Target="../media/image12.png"/><Relationship Id="rId7"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notesSlide" Target="../notesSlides/notesSlide7.xml"/><Relationship Id="rId5" Type="http://schemas.openxmlformats.org/officeDocument/2006/relationships/image" Target="../media/image12.png"/><Relationship Id="rId6"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notesSlide" Target="../notesSlides/notesSlide8.xml"/><Relationship Id="rId6" Type="http://schemas.openxmlformats.org/officeDocument/2006/relationships/image" Target="../media/image12.png"/><Relationship Id="rId7"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notesSlide" Target="../notesSlides/notesSlide9.xml"/><Relationship Id="rId5" Type="http://schemas.openxmlformats.org/officeDocument/2006/relationships/image" Target="../media/image12.png"/><Relationship Id="rId6"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notesSlide" Target="../notesSlides/notesSlide10.xml"/><Relationship Id="rId6" Type="http://schemas.openxmlformats.org/officeDocument/2006/relationships/image" Target="../media/image12.png"/><Relationship Id="rId7"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notesSlide" Target="../notesSlides/notesSlide11.xml"/><Relationship Id="rId6" Type="http://schemas.openxmlformats.org/officeDocument/2006/relationships/image" Target="../media/image12.png"/><Relationship Id="rId7"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notesSlide" Target="../notesSlides/notesSlide12.xml"/><Relationship Id="rId5" Type="http://schemas.openxmlformats.org/officeDocument/2006/relationships/image" Target="../media/image12.png"/><Relationship Id="rId6"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notesSlide" Target="../notesSlides/notesSlide13.xml"/><Relationship Id="rId6" Type="http://schemas.openxmlformats.org/officeDocument/2006/relationships/image" Target="../media/image12.png"/><Relationship Id="rId7"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notesSlide" Target="../notesSlides/notesSlide14.xml"/><Relationship Id="rId5" Type="http://schemas.openxmlformats.org/officeDocument/2006/relationships/image" Target="../media/image12.png"/><Relationship Id="rId6"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notesSlide" Target="../notesSlides/notesSlide15.xml"/><Relationship Id="rId5" Type="http://schemas.openxmlformats.org/officeDocument/2006/relationships/image" Target="../media/image12.png"/><Relationship Id="rId6"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notesSlide" Target="../notesSlides/notesSlide16.xml"/><Relationship Id="rId6" Type="http://schemas.openxmlformats.org/officeDocument/2006/relationships/image" Target="../media/image12.png"/><Relationship Id="rId7"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notesSlide" Target="../notesSlides/notesSlide17.xml"/><Relationship Id="rId6" Type="http://schemas.openxmlformats.org/officeDocument/2006/relationships/image" Target="../media/image12.png"/><Relationship Id="rId7"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notesSlide" Target="../notesSlides/notesSlide18.xml"/><Relationship Id="rId5" Type="http://schemas.openxmlformats.org/officeDocument/2006/relationships/image" Target="../media/image12.png"/><Relationship Id="rId6"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notesSlide" Target="../notesSlides/notesSlide19.xml"/><Relationship Id="rId5" Type="http://schemas.openxmlformats.org/officeDocument/2006/relationships/image" Target="../media/image12.png"/><Relationship Id="rId6"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notesSlide" Target="../notesSlides/notesSlide20.xml"/><Relationship Id="rId5" Type="http://schemas.openxmlformats.org/officeDocument/2006/relationships/image" Target="../media/image12.png"/><Relationship Id="rId6"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notesSlide" Target="../notesSlides/notesSlide21.xml"/><Relationship Id="rId5" Type="http://schemas.openxmlformats.org/officeDocument/2006/relationships/image" Target="../media/image12.png"/><Relationship Id="rId6"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notesSlide" Target="../notesSlides/notesSlide22.xml"/><Relationship Id="rId5" Type="http://schemas.openxmlformats.org/officeDocument/2006/relationships/image" Target="../media/image12.png"/><Relationship Id="rId6"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notesSlide" Target="../notesSlides/notesSlide23.xml"/><Relationship Id="rId5" Type="http://schemas.openxmlformats.org/officeDocument/2006/relationships/image" Target="../media/image12.png"/><Relationship Id="rId6"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notesSlide" Target="../notesSlides/notesSlide24.xml"/><Relationship Id="rId5" Type="http://schemas.openxmlformats.org/officeDocument/2006/relationships/image" Target="../media/image12.png"/><Relationship Id="rId6"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notesSlide" Target="../notesSlides/notesSlide25.xml"/><Relationship Id="rId6" Type="http://schemas.openxmlformats.org/officeDocument/2006/relationships/image" Target="../media/image12.png"/><Relationship Id="rId7"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notesSlide" Target="../notesSlides/notesSlide26.xml"/><Relationship Id="rId5" Type="http://schemas.openxmlformats.org/officeDocument/2006/relationships/image" Target="../media/image12.png"/><Relationship Id="rId6"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notesSlide" Target="../notesSlides/notesSlide27.xml"/><Relationship Id="rId5" Type="http://schemas.openxmlformats.org/officeDocument/2006/relationships/hyperlink" Target="https://developers.google.com/search/case-studies/saramin-case-study" TargetMode="External"/><Relationship Id="rId6" Type="http://schemas.openxmlformats.org/officeDocument/2006/relationships/image" Target="../media/image12.png"/><Relationship Id="rId7"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notesSlide" Target="../notesSlides/notesSlide28.xml"/><Relationship Id="rId5" Type="http://schemas.openxmlformats.org/officeDocument/2006/relationships/image" Target="../media/image12.png"/><Relationship Id="rId6"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notesSlide" Target="../notesSlides/notesSlide29.xml"/><Relationship Id="rId5" Type="http://schemas.openxmlformats.org/officeDocument/2006/relationships/image" Target="../media/image12.png"/><Relationship Id="rId6"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notesSlide" Target="../notesSlides/notesSlide30.xml"/><Relationship Id="rId5" Type="http://schemas.openxmlformats.org/officeDocument/2006/relationships/image" Target="../media/image12.png"/><Relationship Id="rId6"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notesSlide" Target="../notesSlides/notesSlide31.xml"/><Relationship Id="rId6" Type="http://schemas.openxmlformats.org/officeDocument/2006/relationships/image" Target="../media/image12.png"/><Relationship Id="rId7" Type="http://schemas.openxmlformats.org/officeDocument/2006/relationships/image" Target="../media/image1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613F"/>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D2AB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502920" y="210312"/>
            <a:ext cx="2395728" cy="448056"/>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6"/>
          <a:stretch>
            <a:fillRect/>
          </a:stretch>
        </p:blipFill>
        <p:spPr>
          <a:xfrm>
            <a:off x="603504" y="323088"/>
            <a:ext cx="585216" cy="195072"/>
          </a:xfrm>
          <a:prstGeom prst="rect">
            <a:avLst/>
          </a:prstGeom>
          <a:effectLst/>
        </p:spPr>
      </p:pic>
      <p:sp>
        <p:nvSpPr>
          <p:cNvPr id="5" name="TextBox 4"/>
          <p:cNvSpPr txBox="1"/>
          <p:nvPr/>
        </p:nvSpPr>
        <p:spPr>
          <a:xfrm>
            <a:off x="1271016" y="283464"/>
            <a:ext cx="164592" cy="228600"/>
          </a:xfrm>
          <a:prstGeom prst="rect">
            <a:avLst/>
          </a:prstGeom>
          <a:noFill/>
          <a:effectLst/>
        </p:spPr>
        <p:txBody>
          <a:bodyPr wrap="square" tIns="0" bIns="0" lIns="0" rIns="0">
            <a:spAutoFit/>
          </a:bodyPr>
          <a:lstStyle/>
          <a:p>
            <a:pPr>
              <a:spcBef>
                <a:spcPts val="0"/>
              </a:spcBef>
              <a:spcAft>
                <a:spcPts val="600"/>
              </a:spcAft>
              <a:defRPr sz="1200" b="0">
                <a:solidFill>
                  <a:srgbClr val="567168"/>
                </a:solidFill>
                <a:latin typeface="Nimbus Sans"/>
              </a:defRPr>
            </a:pPr>
            <a:r>
              <a:t>×</a:t>
            </a:r>
          </a:p>
        </p:txBody>
      </p:sp>
      <p:pic>
        <p:nvPicPr>
          <p:cNvPr id="33" name="Picture 32" descr="image.png"/>
          <p:cNvPicPr>
            <a:picLocks noChangeAspect="1"/>
          </p:cNvPicPr>
          <p:nvPr/>
        </p:nvPicPr>
        <p:blipFill>
          <a:blip r:embed="rId7"/>
          <a:stretch>
            <a:fillRect/>
          </a:stretch>
        </p:blipFill>
        <p:spPr>
          <a:xfrm>
            <a:off x="1536192" y="334792"/>
            <a:ext cx="1243584" cy="153375"/>
          </a:xfrm>
          <a:prstGeom prst="rect">
            <a:avLst/>
          </a:prstGeom>
          <a:effectLst/>
        </p:spPr>
      </p:pic>
      <p:sp>
        <p:nvSpPr>
          <p:cNvPr id="7" name="TextBox 6"/>
          <p:cNvSpPr txBox="1"/>
          <p:nvPr/>
        </p:nvSpPr>
        <p:spPr>
          <a:xfrm>
            <a:off x="5486400" y="356616"/>
            <a:ext cx="6062472" cy="237744"/>
          </a:xfrm>
          <a:prstGeom prst="rect">
            <a:avLst/>
          </a:prstGeom>
          <a:noFill/>
          <a:effectLst/>
        </p:spPr>
        <p:txBody>
          <a:bodyPr wrap="square" tIns="0" bIns="0" lIns="0" rIns="0">
            <a:spAutoFit/>
          </a:bodyPr>
          <a:lstStyle/>
          <a:p>
            <a:pPr algn="r">
              <a:spcBef>
                <a:spcPts val="0"/>
              </a:spcBef>
              <a:spcAft>
                <a:spcPts val="600"/>
              </a:spcAft>
              <a:defRPr sz="1000" b="1">
                <a:solidFill>
                  <a:srgbClr val="E4EEDC"/>
                </a:solidFill>
                <a:latin typeface="Nimbus Sans"/>
              </a:defRPr>
            </a:pPr>
            <a:r>
              <a:t>01 / MENGAPA SEO?</a:t>
            </a:r>
          </a:p>
        </p:txBody>
      </p:sp>
      <p:sp>
        <p:nvSpPr>
          <p:cNvPr id="8" name="TextBox 7"/>
          <p:cNvSpPr txBox="1"/>
          <p:nvPr/>
        </p:nvSpPr>
        <p:spPr>
          <a:xfrm>
            <a:off x="594360" y="1508760"/>
            <a:ext cx="3657600" cy="1371600"/>
          </a:xfrm>
          <a:prstGeom prst="rect">
            <a:avLst/>
          </a:prstGeom>
          <a:noFill/>
          <a:effectLst/>
        </p:spPr>
        <p:txBody>
          <a:bodyPr wrap="square" tIns="0" bIns="0" lIns="0" rIns="0">
            <a:spAutoFit/>
          </a:bodyPr>
          <a:lstStyle/>
          <a:p>
            <a:r>
              <a:rPr sz="3000" b="1">
                <a:solidFill>
                  <a:srgbClr val="FFFFFF"/>
                </a:solidFill>
                <a:latin typeface="Nimbus Sans"/>
              </a:rPr>
              <a:t>SEO</a:t>
            </a:r>
          </a:p>
          <a:p>
            <a:r>
              <a:rPr sz="3000" b="1">
                <a:solidFill>
                  <a:srgbClr val="FFFFFF"/>
                </a:solidFill>
                <a:latin typeface="Nimbus Sans"/>
              </a:rPr>
              <a:t>Management</a:t>
            </a:r>
          </a:p>
          <a:p>
            <a:r>
              <a:rPr sz="3000" b="1">
                <a:solidFill>
                  <a:srgbClr val="FFFFFF"/>
                </a:solidFill>
                <a:latin typeface="Nimbus Sans"/>
              </a:rPr>
              <a:t>untuk Mecosin</a:t>
            </a:r>
          </a:p>
        </p:txBody>
      </p:sp>
      <p:sp>
        <p:nvSpPr>
          <p:cNvPr id="9" name="TextBox 8"/>
          <p:cNvSpPr txBox="1"/>
          <p:nvPr/>
        </p:nvSpPr>
        <p:spPr>
          <a:xfrm>
            <a:off x="594360" y="3154680"/>
            <a:ext cx="3383280" cy="1463040"/>
          </a:xfrm>
          <a:prstGeom prst="rect">
            <a:avLst/>
          </a:prstGeom>
          <a:noFill/>
          <a:effectLst/>
        </p:spPr>
        <p:txBody>
          <a:bodyPr wrap="square" tIns="0" bIns="0" lIns="0" rIns="0">
            <a:spAutoFit/>
          </a:bodyPr>
          <a:lstStyle/>
          <a:p>
            <a:pPr>
              <a:spcBef>
                <a:spcPts val="0"/>
              </a:spcBef>
              <a:spcAft>
                <a:spcPts val="400"/>
              </a:spcAft>
              <a:defRPr sz="1700" b="0">
                <a:solidFill>
                  <a:srgbClr val="E4EEDC"/>
                </a:solidFill>
                <a:latin typeface="Nimbus Sans"/>
              </a:defRPr>
            </a:pPr>
            <a:r>
              <a:rPr sz="1900"/>
              <a:t>Membantu calon pelanggan menemukan informasi resmi Mecosin melalui pencarian Google.</a:t>
            </a:r>
          </a:p>
        </p:txBody>
      </p:sp>
      <p:sp>
        <p:nvSpPr>
          <p:cNvPr id="10" name="TextBox 9"/>
          <p:cNvSpPr txBox="1"/>
          <p:nvPr/>
        </p:nvSpPr>
        <p:spPr>
          <a:xfrm>
            <a:off x="594360" y="6437376"/>
            <a:ext cx="10287000" cy="219456"/>
          </a:xfrm>
          <a:prstGeom prst="rect">
            <a:avLst/>
          </a:prstGeom>
          <a:noFill/>
          <a:effectLst/>
        </p:spPr>
        <p:txBody>
          <a:bodyPr wrap="square" tIns="0" bIns="0" lIns="0" rIns="0">
            <a:spAutoFit/>
          </a:bodyPr>
          <a:lstStyle/>
          <a:p>
            <a:pPr>
              <a:spcBef>
                <a:spcPts val="0"/>
              </a:spcBef>
              <a:spcAft>
                <a:spcPts val="400"/>
              </a:spcAft>
              <a:defRPr sz="900" b="0">
                <a:solidFill>
                  <a:srgbClr val="E4EEDC"/>
                </a:solidFill>
                <a:latin typeface="Nimbus Sans"/>
              </a:defRPr>
            </a:pPr>
            <a:r>
              <a:rPr sz="900"/>
              <a:t>Linc × Mecosin · Strategi dan pengelolaan bulanan</a:t>
            </a:r>
          </a:p>
        </p:txBody>
      </p:sp>
      <p:sp>
        <p:nvSpPr>
          <p:cNvPr id="11" name="TextBox 10"/>
          <p:cNvSpPr txBox="1"/>
          <p:nvPr/>
        </p:nvSpPr>
        <p:spPr>
          <a:xfrm>
            <a:off x="11091672" y="6391656"/>
            <a:ext cx="457200" cy="256032"/>
          </a:xfrm>
          <a:prstGeom prst="rect">
            <a:avLst/>
          </a:prstGeom>
          <a:noFill/>
          <a:effectLst/>
        </p:spPr>
        <p:txBody>
          <a:bodyPr wrap="square" tIns="0" bIns="0" lIns="0" rIns="0">
            <a:spAutoFit/>
          </a:bodyPr>
          <a:lstStyle/>
          <a:p>
            <a:pPr>
              <a:spcBef>
                <a:spcPts val="0"/>
              </a:spcBef>
              <a:spcAft>
                <a:spcPts val="600"/>
              </a:spcAft>
              <a:defRPr sz="1200" b="1">
                <a:solidFill>
                  <a:srgbClr val="FFFFFF"/>
                </a:solidFill>
                <a:latin typeface="Nimbus Sans"/>
              </a:defRPr>
            </a:pPr>
            <a:r>
              <a:t>01</a:t>
            </a:r>
          </a:p>
        </p:txBody>
      </p:sp>
      <p:sp>
        <p:nvSpPr>
          <p:cNvPr id="12" name="Rectangle 11"/>
          <p:cNvSpPr/>
          <p:nvPr/>
        </p:nvSpPr>
        <p:spPr>
          <a:xfrm>
            <a:off x="566928" y="6739128"/>
            <a:ext cx="1755648" cy="32004"/>
          </a:xfrm>
          <a:prstGeom prst="rect">
            <a:avLst/>
          </a:prstGeom>
          <a:solidFill>
            <a:srgbClr val="D2AB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2432304" y="6739128"/>
            <a:ext cx="1755648" cy="32004"/>
          </a:xfrm>
          <a:prstGeom prst="rect">
            <a:avLst/>
          </a:prstGeom>
          <a:solidFill>
            <a:srgbClr val="56716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297680" y="6739128"/>
            <a:ext cx="1755648" cy="32004"/>
          </a:xfrm>
          <a:prstGeom prst="rect">
            <a:avLst/>
          </a:prstGeom>
          <a:solidFill>
            <a:srgbClr val="56716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163056" y="6739128"/>
            <a:ext cx="1755648" cy="32004"/>
          </a:xfrm>
          <a:prstGeom prst="rect">
            <a:avLst/>
          </a:prstGeom>
          <a:solidFill>
            <a:srgbClr val="56716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8028431" y="6739128"/>
            <a:ext cx="1755648" cy="32004"/>
          </a:xfrm>
          <a:prstGeom prst="rect">
            <a:avLst/>
          </a:prstGeom>
          <a:solidFill>
            <a:srgbClr val="56716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893807" y="6739128"/>
            <a:ext cx="1755648" cy="32004"/>
          </a:xfrm>
          <a:prstGeom prst="rect">
            <a:avLst/>
          </a:prstGeom>
          <a:solidFill>
            <a:srgbClr val="56716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ounded Rectangle 27"/>
          <p:cNvSpPr/>
          <p:nvPr/>
        </p:nvSpPr>
        <p:spPr>
          <a:xfrm>
            <a:off x="594360" y="5833872"/>
            <a:ext cx="10972800" cy="484632"/>
          </a:xfrm>
          <a:prstGeom prst="roundRect">
            <a:avLst>
              <a:gd name="adj" fmla="val 3500"/>
            </a:avLst>
          </a:prstGeom>
          <a:solidFill>
            <a:srgbClr val="193E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77240" y="5943600"/>
            <a:ext cx="10607040" cy="283464"/>
          </a:xfrm>
          <a:prstGeom prst="rect">
            <a:avLst/>
          </a:prstGeom>
          <a:noFill/>
          <a:effectLst/>
        </p:spPr>
        <p:txBody>
          <a:bodyPr wrap="square" tIns="0" bIns="0" lIns="0" rIns="0">
            <a:spAutoFit/>
          </a:bodyPr>
          <a:lstStyle/>
          <a:p>
            <a:pPr>
              <a:spcBef>
                <a:spcPts val="0"/>
              </a:spcBef>
              <a:spcAft>
                <a:spcPts val="400"/>
              </a:spcAft>
              <a:defRPr sz="1200" b="0">
                <a:solidFill>
                  <a:srgbClr val="FFFFFF"/>
                </a:solidFill>
                <a:latin typeface="Nimbus Sans"/>
              </a:defRPr>
            </a:pPr>
            <a:r>
              <a:rPr sz="1200"/>
              <a:t>Website menyediakan informasi. SEO membantu orang menemukannya saat mencari produk atau layanan.</a:t>
            </a:r>
          </a:p>
        </p:txBody>
      </p:sp>
      <p:pic>
        <p:nvPicPr>
          <p:cNvPr id="34" name="Picture 33" descr="homepage-mecosin.png"/>
          <p:cNvPicPr>
            <a:picLocks noChangeAspect="1"/>
          </p:cNvPicPr>
          <p:nvPr/>
        </p:nvPicPr>
        <p:blipFill>
          <a:blip r:embed="rId5"/>
          <a:stretch>
            <a:fillRect/>
          </a:stretch>
        </p:blipFill>
        <p:spPr>
          <a:xfrm>
            <a:off x="4160520" y="1280160"/>
            <a:ext cx="7360920" cy="3859371"/>
          </a:xfrm>
          <a:prstGeom prst="rect">
            <a:avLst/>
          </a:prstGeom>
        </p:spPr>
      </p:pic>
      <p:sp>
        <p:nvSpPr>
          <p:cNvPr id="35" name="TextBox 34"/>
          <p:cNvSpPr txBox="1"/>
          <p:nvPr/>
        </p:nvSpPr>
        <p:spPr>
          <a:xfrm>
            <a:off x="4160520" y="5330952"/>
            <a:ext cx="7360920" cy="228600"/>
          </a:xfrm>
          <a:prstGeom prst="rect">
            <a:avLst/>
          </a:prstGeom>
          <a:noFill/>
        </p:spPr>
        <p:txBody>
          <a:bodyPr wrap="square" lIns="0" rIns="0" tIns="0" bIns="0">
            <a:spAutoFit/>
          </a:bodyPr>
          <a:lstStyle/>
          <a:p>
            <a:pPr algn="ctr">
              <a:spcAft>
                <a:spcPts val="0"/>
              </a:spcAft>
            </a:pPr>
            <a:r>
              <a:rPr sz="1200" b="0">
                <a:solidFill>
                  <a:srgbClr val="E4EEDC"/>
                </a:solidFill>
                <a:latin typeface="Nimbus Sans"/>
              </a:rPr>
              <a:t>Homepage Mecosin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3"/>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1761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502920" y="210312"/>
            <a:ext cx="2395728" cy="448056"/>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4" name="Picture 33" descr="image.png"/>
          <p:cNvPicPr>
            <a:picLocks noChangeAspect="1"/>
          </p:cNvPicPr>
          <p:nvPr/>
        </p:nvPicPr>
        <p:blipFill>
          <a:blip r:embed="rId5"/>
          <a:stretch>
            <a:fillRect/>
          </a:stretch>
        </p:blipFill>
        <p:spPr>
          <a:xfrm>
            <a:off x="603504" y="323088"/>
            <a:ext cx="585216" cy="195072"/>
          </a:xfrm>
          <a:prstGeom prst="rect">
            <a:avLst/>
          </a:prstGeom>
          <a:effectLst/>
        </p:spPr>
      </p:pic>
      <p:sp>
        <p:nvSpPr>
          <p:cNvPr id="5" name="TextBox 4"/>
          <p:cNvSpPr txBox="1"/>
          <p:nvPr/>
        </p:nvSpPr>
        <p:spPr>
          <a:xfrm>
            <a:off x="1271016" y="283464"/>
            <a:ext cx="164592" cy="228600"/>
          </a:xfrm>
          <a:prstGeom prst="rect">
            <a:avLst/>
          </a:prstGeom>
          <a:noFill/>
          <a:effectLst/>
        </p:spPr>
        <p:txBody>
          <a:bodyPr wrap="square" tIns="0" bIns="0" lIns="0" rIns="0">
            <a:spAutoFit/>
          </a:bodyPr>
          <a:lstStyle/>
          <a:p>
            <a:pPr>
              <a:spcBef>
                <a:spcPts val="0"/>
              </a:spcBef>
              <a:spcAft>
                <a:spcPts val="600"/>
              </a:spcAft>
              <a:defRPr sz="1200" b="0">
                <a:solidFill>
                  <a:srgbClr val="567168"/>
                </a:solidFill>
                <a:latin typeface="Nimbus Sans"/>
              </a:defRPr>
            </a:pPr>
            <a:r>
              <a:t>×</a:t>
            </a:r>
          </a:p>
        </p:txBody>
      </p:sp>
      <p:pic>
        <p:nvPicPr>
          <p:cNvPr id="35" name="Picture 34" descr="image.png"/>
          <p:cNvPicPr>
            <a:picLocks noChangeAspect="1"/>
          </p:cNvPicPr>
          <p:nvPr/>
        </p:nvPicPr>
        <p:blipFill>
          <a:blip r:embed="rId6"/>
          <a:stretch>
            <a:fillRect/>
          </a:stretch>
        </p:blipFill>
        <p:spPr>
          <a:xfrm>
            <a:off x="1536192" y="334792"/>
            <a:ext cx="1243584" cy="153375"/>
          </a:xfrm>
          <a:prstGeom prst="rect">
            <a:avLst/>
          </a:prstGeom>
          <a:effectLst/>
        </p:spPr>
      </p:pic>
      <p:sp>
        <p:nvSpPr>
          <p:cNvPr id="7" name="TextBox 6"/>
          <p:cNvSpPr txBox="1"/>
          <p:nvPr/>
        </p:nvSpPr>
        <p:spPr>
          <a:xfrm>
            <a:off x="5486400" y="356616"/>
            <a:ext cx="6062472" cy="237744"/>
          </a:xfrm>
          <a:prstGeom prst="rect">
            <a:avLst/>
          </a:prstGeom>
          <a:noFill/>
          <a:effectLst/>
        </p:spPr>
        <p:txBody>
          <a:bodyPr wrap="square" tIns="0" bIns="0" lIns="0" rIns="0">
            <a:spAutoFit/>
          </a:bodyPr>
          <a:lstStyle/>
          <a:p>
            <a:pPr algn="r">
              <a:spcBef>
                <a:spcPts val="0"/>
              </a:spcBef>
              <a:spcAft>
                <a:spcPts val="600"/>
              </a:spcAft>
              <a:defRPr sz="1000" b="1">
                <a:solidFill>
                  <a:srgbClr val="17613F"/>
                </a:solidFill>
                <a:latin typeface="Nimbus Sans"/>
              </a:defRPr>
            </a:pPr>
            <a:r>
              <a:t>01 / MENGAPA SEO?</a:t>
            </a:r>
          </a:p>
        </p:txBody>
      </p:sp>
      <p:sp>
        <p:nvSpPr>
          <p:cNvPr id="8" name="TextBox 7"/>
          <p:cNvSpPr txBox="1"/>
          <p:nvPr/>
        </p:nvSpPr>
        <p:spPr>
          <a:xfrm>
            <a:off x="594360" y="960120"/>
            <a:ext cx="10972800" cy="822960"/>
          </a:xfrm>
          <a:prstGeom prst="rect">
            <a:avLst/>
          </a:prstGeom>
          <a:noFill/>
          <a:effectLst/>
        </p:spPr>
        <p:txBody>
          <a:bodyPr wrap="square" tIns="0" bIns="0" lIns="0" rIns="0">
            <a:spAutoFit/>
          </a:bodyPr>
          <a:lstStyle/>
          <a:p>
            <a:pPr>
              <a:spcBef>
                <a:spcPts val="0"/>
              </a:spcBef>
              <a:spcAft>
                <a:spcPts val="400"/>
              </a:spcAft>
              <a:defRPr sz="3100" b="1">
                <a:solidFill>
                  <a:srgbClr val="193E32"/>
                </a:solidFill>
                <a:latin typeface="Nimbus Sans"/>
              </a:defRPr>
            </a:pPr>
            <a:r>
              <a:rPr sz="3100"/>
              <a:t>Website sudah online. Bagaimana orang menemukannya?</a:t>
            </a:r>
          </a:p>
        </p:txBody>
      </p:sp>
      <p:sp>
        <p:nvSpPr>
          <p:cNvPr id="9" name="TextBox 8"/>
          <p:cNvSpPr txBox="1"/>
          <p:nvPr/>
        </p:nvSpPr>
        <p:spPr>
          <a:xfrm>
            <a:off x="594360" y="1792224"/>
            <a:ext cx="10972800" cy="594360"/>
          </a:xfrm>
          <a:prstGeom prst="rect">
            <a:avLst/>
          </a:prstGeom>
          <a:noFill/>
          <a:effectLst/>
        </p:spPr>
        <p:txBody>
          <a:bodyPr wrap="square" tIns="0" bIns="0" lIns="0" rIns="0">
            <a:spAutoFit/>
          </a:bodyPr>
          <a:lstStyle/>
          <a:p>
            <a:pPr>
              <a:spcBef>
                <a:spcPts val="0"/>
              </a:spcBef>
              <a:spcAft>
                <a:spcPts val="400"/>
              </a:spcAft>
              <a:defRPr sz="1700" b="0">
                <a:solidFill>
                  <a:srgbClr val="567168"/>
                </a:solidFill>
                <a:latin typeface="Nimbus Sans"/>
              </a:defRPr>
            </a:pPr>
            <a:r>
              <a:rPr sz="1700"/>
              <a:t>Website yang sudah online belum tentu muncul saat orang mencari produk atau layanan Mecosin.</a:t>
            </a:r>
          </a:p>
        </p:txBody>
      </p:sp>
      <p:sp>
        <p:nvSpPr>
          <p:cNvPr id="10" name="TextBox 9"/>
          <p:cNvSpPr txBox="1"/>
          <p:nvPr/>
        </p:nvSpPr>
        <p:spPr>
          <a:xfrm>
            <a:off x="594360" y="6437376"/>
            <a:ext cx="10287000" cy="219456"/>
          </a:xfrm>
          <a:prstGeom prst="rect">
            <a:avLst/>
          </a:prstGeom>
          <a:noFill/>
          <a:effectLst/>
        </p:spPr>
        <p:txBody>
          <a:bodyPr wrap="square" tIns="0" bIns="0" lIns="0" rIns="0">
            <a:spAutoFit/>
          </a:bodyPr>
          <a:lstStyle/>
          <a:p>
            <a:pPr>
              <a:spcBef>
                <a:spcPts val="0"/>
              </a:spcBef>
              <a:spcAft>
                <a:spcPts val="400"/>
              </a:spcAft>
              <a:defRPr sz="900" b="0">
                <a:solidFill>
                  <a:srgbClr val="567168"/>
                </a:solidFill>
                <a:latin typeface="Nimbus Sans"/>
              </a:defRPr>
            </a:pPr>
            <a:r>
              <a:rPr sz="900"/>
              <a:t>Contoh untuk penjelasan, bukan hasil audit Mecosin.</a:t>
            </a:r>
          </a:p>
        </p:txBody>
      </p:sp>
      <p:sp>
        <p:nvSpPr>
          <p:cNvPr id="11" name="TextBox 10"/>
          <p:cNvSpPr txBox="1"/>
          <p:nvPr/>
        </p:nvSpPr>
        <p:spPr>
          <a:xfrm>
            <a:off x="11091672" y="6391656"/>
            <a:ext cx="457200" cy="256032"/>
          </a:xfrm>
          <a:prstGeom prst="rect">
            <a:avLst/>
          </a:prstGeom>
          <a:noFill/>
          <a:effectLst/>
        </p:spPr>
        <p:txBody>
          <a:bodyPr wrap="square" tIns="0" bIns="0" lIns="0" rIns="0">
            <a:spAutoFit/>
          </a:bodyPr>
          <a:lstStyle/>
          <a:p>
            <a:pPr>
              <a:spcBef>
                <a:spcPts val="0"/>
              </a:spcBef>
              <a:spcAft>
                <a:spcPts val="600"/>
              </a:spcAft>
              <a:defRPr sz="1200" b="1">
                <a:solidFill>
                  <a:srgbClr val="17613F"/>
                </a:solidFill>
                <a:latin typeface="Nimbus Sans"/>
              </a:defRPr>
            </a:pPr>
            <a:r>
              <a:t>02</a:t>
            </a:r>
          </a:p>
        </p:txBody>
      </p:sp>
      <p:sp>
        <p:nvSpPr>
          <p:cNvPr id="12" name="Rectangle 11"/>
          <p:cNvSpPr/>
          <p:nvPr/>
        </p:nvSpPr>
        <p:spPr>
          <a:xfrm>
            <a:off x="566928" y="6739128"/>
            <a:ext cx="1755648" cy="32004"/>
          </a:xfrm>
          <a:prstGeom prst="rect">
            <a:avLst/>
          </a:prstGeom>
          <a:solidFill>
            <a:srgbClr val="D2AB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2432304"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297680"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163056"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8028431"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893807"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ounded Rectangle 17"/>
          <p:cNvSpPr/>
          <p:nvPr/>
        </p:nvSpPr>
        <p:spPr>
          <a:xfrm>
            <a:off x="594360" y="2596896"/>
            <a:ext cx="5715000" cy="2468880"/>
          </a:xfrm>
          <a:prstGeom prst="roundRect">
            <a:avLst>
              <a:gd name="adj" fmla="val 3500"/>
            </a:avLst>
          </a:prstGeom>
          <a:solidFill>
            <a:srgbClr val="FFFFFF"/>
          </a:solidFill>
          <a:ln w="12700">
            <a:solidFill>
              <a:srgbClr val="CCD9C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ounded Rectangle 18"/>
          <p:cNvSpPr/>
          <p:nvPr/>
        </p:nvSpPr>
        <p:spPr>
          <a:xfrm>
            <a:off x="594360" y="2596896"/>
            <a:ext cx="5715000" cy="393192"/>
          </a:xfrm>
          <a:prstGeom prst="roundRect">
            <a:avLst>
              <a:gd name="adj" fmla="val 12000"/>
            </a:avLst>
          </a:prstGeom>
          <a:solidFill>
            <a:srgbClr val="E4EE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77240" y="2706624"/>
            <a:ext cx="5349240" cy="201168"/>
          </a:xfrm>
          <a:prstGeom prst="rect">
            <a:avLst/>
          </a:prstGeom>
          <a:noFill/>
          <a:effectLst/>
        </p:spPr>
        <p:txBody>
          <a:bodyPr wrap="square" tIns="0" bIns="0" lIns="0" rIns="0">
            <a:spAutoFit/>
          </a:bodyPr>
          <a:lstStyle/>
          <a:p>
            <a:pPr>
              <a:spcBef>
                <a:spcPts val="0"/>
              </a:spcBef>
              <a:spcAft>
                <a:spcPts val="600"/>
              </a:spcAft>
              <a:defRPr sz="1100" b="0">
                <a:solidFill>
                  <a:srgbClr val="567168"/>
                </a:solidFill>
                <a:latin typeface="Nimbus Sans"/>
              </a:defRPr>
            </a:pPr>
            <a:r>
              <a:t>Simulasi hasil pencarian</a:t>
            </a:r>
          </a:p>
        </p:txBody>
      </p:sp>
      <p:sp>
        <p:nvSpPr>
          <p:cNvPr id="21" name="Rounded Rectangle 20"/>
          <p:cNvSpPr/>
          <p:nvPr/>
        </p:nvSpPr>
        <p:spPr>
          <a:xfrm>
            <a:off x="795528" y="3172968"/>
            <a:ext cx="5312664" cy="411480"/>
          </a:xfrm>
          <a:prstGeom prst="roundRect">
            <a:avLst>
              <a:gd name="adj" fmla="val 12000"/>
            </a:avLst>
          </a:prstGeom>
          <a:solidFill>
            <a:srgbClr val="F6F8F3"/>
          </a:solidFill>
          <a:ln w="12700">
            <a:solidFill>
              <a:srgbClr val="CCD9C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41832" y="3273551"/>
            <a:ext cx="5020056" cy="219456"/>
          </a:xfrm>
          <a:prstGeom prst="rect">
            <a:avLst/>
          </a:prstGeom>
          <a:noFill/>
          <a:effectLst/>
        </p:spPr>
        <p:txBody>
          <a:bodyPr wrap="square" tIns="0" bIns="0" lIns="0" rIns="0">
            <a:spAutoFit/>
          </a:bodyPr>
          <a:lstStyle/>
          <a:p>
            <a:pPr>
              <a:spcBef>
                <a:spcPts val="0"/>
              </a:spcBef>
              <a:spcAft>
                <a:spcPts val="600"/>
              </a:spcAft>
              <a:defRPr sz="1300" b="0">
                <a:solidFill>
                  <a:srgbClr val="193E32"/>
                </a:solidFill>
                <a:latin typeface="Nimbus Sans"/>
              </a:defRPr>
            </a:pPr>
            <a:r>
              <a:t>Laserin sachet</a:t>
            </a:r>
          </a:p>
        </p:txBody>
      </p:sp>
      <p:sp>
        <p:nvSpPr>
          <p:cNvPr id="23" name="TextBox 22"/>
          <p:cNvSpPr txBox="1"/>
          <p:nvPr/>
        </p:nvSpPr>
        <p:spPr>
          <a:xfrm>
            <a:off x="850392" y="3767328"/>
            <a:ext cx="5202936" cy="201168"/>
          </a:xfrm>
          <a:prstGeom prst="rect">
            <a:avLst/>
          </a:prstGeom>
          <a:noFill/>
          <a:effectLst/>
        </p:spPr>
        <p:txBody>
          <a:bodyPr wrap="square" tIns="0" bIns="0" lIns="0" rIns="0">
            <a:spAutoFit/>
          </a:bodyPr>
          <a:lstStyle/>
          <a:p>
            <a:pPr>
              <a:spcBef>
                <a:spcPts val="0"/>
              </a:spcBef>
              <a:spcAft>
                <a:spcPts val="600"/>
              </a:spcAft>
              <a:defRPr sz="1100" b="0">
                <a:solidFill>
                  <a:srgbClr val="567168"/>
                </a:solidFill>
                <a:latin typeface="Nimbus Sans"/>
              </a:defRPr>
            </a:pPr>
            <a:r>
              <a:t>mecosin.id</a:t>
            </a:r>
          </a:p>
        </p:txBody>
      </p:sp>
      <p:sp>
        <p:nvSpPr>
          <p:cNvPr id="24" name="TextBox 23"/>
          <p:cNvSpPr txBox="1"/>
          <p:nvPr/>
        </p:nvSpPr>
        <p:spPr>
          <a:xfrm>
            <a:off x="850392" y="4105656"/>
            <a:ext cx="5202936" cy="457200"/>
          </a:xfrm>
          <a:prstGeom prst="rect">
            <a:avLst/>
          </a:prstGeom>
          <a:noFill/>
          <a:effectLst/>
        </p:spPr>
        <p:txBody>
          <a:bodyPr wrap="square" tIns="0" bIns="0" lIns="0" rIns="0">
            <a:spAutoFit/>
          </a:bodyPr>
          <a:lstStyle/>
          <a:p>
            <a:pPr>
              <a:spcBef>
                <a:spcPts val="0"/>
              </a:spcBef>
              <a:spcAft>
                <a:spcPts val="600"/>
              </a:spcAft>
              <a:defRPr sz="2000" b="1">
                <a:solidFill>
                  <a:srgbClr val="247CA2"/>
                </a:solidFill>
                <a:latin typeface="Nimbus Sans"/>
              </a:defRPr>
            </a:pPr>
            <a:r>
              <a:t>Laserin Sachet | Mecosin</a:t>
            </a:r>
          </a:p>
        </p:txBody>
      </p:sp>
      <p:sp>
        <p:nvSpPr>
          <p:cNvPr id="25" name="TextBox 24"/>
          <p:cNvSpPr txBox="1"/>
          <p:nvPr/>
        </p:nvSpPr>
        <p:spPr>
          <a:xfrm>
            <a:off x="850392" y="4590288"/>
            <a:ext cx="5202936" cy="365760"/>
          </a:xfrm>
          <a:prstGeom prst="rect">
            <a:avLst/>
          </a:prstGeom>
          <a:noFill/>
          <a:effectLst/>
        </p:spPr>
        <p:txBody>
          <a:bodyPr wrap="square" tIns="0" bIns="0" lIns="0" rIns="0">
            <a:spAutoFit/>
          </a:bodyPr>
          <a:lstStyle/>
          <a:p>
            <a:pPr>
              <a:spcBef>
                <a:spcPts val="0"/>
              </a:spcBef>
              <a:spcAft>
                <a:spcPts val="600"/>
              </a:spcAft>
              <a:defRPr sz="1300" b="0">
                <a:solidFill>
                  <a:srgbClr val="567168"/>
                </a:solidFill>
                <a:latin typeface="Nimbus Sans"/>
              </a:defRPr>
            </a:pPr>
            <a:r>
              <a:t>Informasi produk sesuai materi resmi Mecosin.</a:t>
            </a:r>
          </a:p>
        </p:txBody>
      </p:sp>
      <p:sp>
        <p:nvSpPr>
          <p:cNvPr id="27" name="Rounded Rectangle 26"/>
          <p:cNvSpPr/>
          <p:nvPr/>
        </p:nvSpPr>
        <p:spPr>
          <a:xfrm>
            <a:off x="7132320" y="2596896"/>
            <a:ext cx="4443984" cy="2468880"/>
          </a:xfrm>
          <a:prstGeom prst="roundRect">
            <a:avLst>
              <a:gd name="adj" fmla="val 3500"/>
            </a:avLst>
          </a:prstGeom>
          <a:solidFill>
            <a:srgbClr val="FFFFFF"/>
          </a:solidFill>
          <a:ln w="12700">
            <a:solidFill>
              <a:srgbClr val="CCD9C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ounded Rectangle 27"/>
          <p:cNvSpPr/>
          <p:nvPr/>
        </p:nvSpPr>
        <p:spPr>
          <a:xfrm>
            <a:off x="7132320" y="2596896"/>
            <a:ext cx="4443984" cy="393192"/>
          </a:xfrm>
          <a:prstGeom prst="roundRect">
            <a:avLst>
              <a:gd name="adj" fmla="val 12000"/>
            </a:avLst>
          </a:prstGeom>
          <a:solidFill>
            <a:srgbClr val="E4EE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315200" y="2706624"/>
            <a:ext cx="4078224" cy="201168"/>
          </a:xfrm>
          <a:prstGeom prst="rect">
            <a:avLst/>
          </a:prstGeom>
          <a:noFill/>
          <a:effectLst/>
        </p:spPr>
        <p:txBody>
          <a:bodyPr wrap="square" tIns="0" bIns="0" lIns="0" rIns="0">
            <a:spAutoFit/>
          </a:bodyPr>
          <a:lstStyle/>
          <a:p>
            <a:pPr>
              <a:spcBef>
                <a:spcPts val="0"/>
              </a:spcBef>
              <a:spcAft>
                <a:spcPts val="600"/>
              </a:spcAft>
              <a:defRPr sz="1100" b="0">
                <a:solidFill>
                  <a:srgbClr val="567168"/>
                </a:solidFill>
                <a:latin typeface="Nimbus Sans"/>
              </a:defRPr>
            </a:pPr>
            <a:r>
              <a:t>Halaman produk</a:t>
            </a:r>
          </a:p>
        </p:txBody>
      </p:sp>
      <p:sp>
        <p:nvSpPr>
          <p:cNvPr id="30" name="TextBox 29"/>
          <p:cNvSpPr txBox="1"/>
          <p:nvPr/>
        </p:nvSpPr>
        <p:spPr>
          <a:xfrm>
            <a:off x="7406640" y="3291839"/>
            <a:ext cx="3749039" cy="411480"/>
          </a:xfrm>
          <a:prstGeom prst="rect">
            <a:avLst/>
          </a:prstGeom>
          <a:noFill/>
          <a:effectLst/>
        </p:spPr>
        <p:txBody>
          <a:bodyPr wrap="square" tIns="0" bIns="0" lIns="0" rIns="0">
            <a:spAutoFit/>
          </a:bodyPr>
          <a:lstStyle/>
          <a:p>
            <a:pPr>
              <a:spcBef>
                <a:spcPts val="0"/>
              </a:spcBef>
              <a:spcAft>
                <a:spcPts val="600"/>
              </a:spcAft>
              <a:defRPr sz="2500" b="1">
                <a:solidFill>
                  <a:srgbClr val="193E32"/>
                </a:solidFill>
                <a:latin typeface="Nimbus Sans"/>
              </a:defRPr>
            </a:pPr>
            <a:r>
              <a:t>Laserin sachet</a:t>
            </a:r>
          </a:p>
        </p:txBody>
      </p:sp>
      <p:sp>
        <p:nvSpPr>
          <p:cNvPr id="31" name="TextBox 30"/>
          <p:cNvSpPr txBox="1"/>
          <p:nvPr/>
        </p:nvSpPr>
        <p:spPr>
          <a:xfrm>
            <a:off x="7406640" y="3895344"/>
            <a:ext cx="3749039" cy="1024128"/>
          </a:xfrm>
          <a:prstGeom prst="rect">
            <a:avLst/>
          </a:prstGeom>
          <a:noFill/>
          <a:effectLst/>
        </p:spPr>
        <p:txBody>
          <a:bodyPr wrap="square" tIns="0" bIns="0" lIns="0" rIns="0">
            <a:spAutoFit/>
          </a:bodyPr>
          <a:lstStyle/>
          <a:p>
            <a:pPr>
              <a:spcBef>
                <a:spcPts val="0"/>
              </a:spcBef>
              <a:spcAft>
                <a:spcPts val="600"/>
              </a:spcAft>
              <a:defRPr sz="1800" b="0">
                <a:solidFill>
                  <a:srgbClr val="567168"/>
                </a:solidFill>
                <a:latin typeface="Nimbus Sans"/>
              </a:defRPr>
            </a:pPr>
            <a:r>
              <a:t>Informasi resmi</a:t>
            </a:r>
          </a:p>
          <a:p>
            <a:pPr>
              <a:spcBef>
                <a:spcPts val="0"/>
              </a:spcBef>
              <a:spcAft>
                <a:spcPts val="600"/>
              </a:spcAft>
              <a:defRPr sz="1800" b="0">
                <a:solidFill>
                  <a:srgbClr val="567168"/>
                </a:solidFill>
                <a:latin typeface="Nimbus Sans"/>
              </a:defRPr>
            </a:pPr>
            <a:r>
              <a:t>Detail kemasan</a:t>
            </a:r>
          </a:p>
          <a:p>
            <a:pPr>
              <a:spcBef>
                <a:spcPts val="0"/>
              </a:spcBef>
              <a:spcAft>
                <a:spcPts val="600"/>
              </a:spcAft>
              <a:defRPr sz="1800" b="0">
                <a:solidFill>
                  <a:srgbClr val="567168"/>
                </a:solidFill>
                <a:latin typeface="Nimbus Sans"/>
              </a:defRPr>
            </a:pPr>
            <a:r>
              <a:t>Cara membeli</a:t>
            </a:r>
          </a:p>
        </p:txBody>
      </p:sp>
      <p:sp>
        <p:nvSpPr>
          <p:cNvPr id="32" name="Rounded Rectangle 31"/>
          <p:cNvSpPr/>
          <p:nvPr/>
        </p:nvSpPr>
        <p:spPr>
          <a:xfrm>
            <a:off x="594360" y="5833872"/>
            <a:ext cx="10972800" cy="484632"/>
          </a:xfrm>
          <a:prstGeom prst="roundRect">
            <a:avLst>
              <a:gd name="adj" fmla="val 3500"/>
            </a:avLst>
          </a:prstGeom>
          <a:solidFill>
            <a:srgbClr val="E4EE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77240" y="5943600"/>
            <a:ext cx="10607040" cy="283464"/>
          </a:xfrm>
          <a:prstGeom prst="rect">
            <a:avLst/>
          </a:prstGeom>
          <a:noFill/>
          <a:effectLst/>
        </p:spPr>
        <p:txBody>
          <a:bodyPr wrap="square" tIns="0" bIns="0" lIns="0" rIns="0">
            <a:spAutoFit/>
          </a:bodyPr>
          <a:lstStyle/>
          <a:p>
            <a:pPr>
              <a:spcBef>
                <a:spcPts val="0"/>
              </a:spcBef>
              <a:spcAft>
                <a:spcPts val="400"/>
              </a:spcAft>
              <a:defRPr sz="1200" b="0">
                <a:solidFill>
                  <a:srgbClr val="17613F"/>
                </a:solidFill>
                <a:latin typeface="Nimbus Sans"/>
              </a:defRPr>
            </a:pPr>
            <a:r>
              <a:rPr sz="1200"/>
              <a:t>Contoh: orang yang mencari nama produk diarahkan ke halaman yang menjelaskan produk tersebut.</a:t>
            </a:r>
          </a:p>
        </p:txBody>
      </p:sp>
      <p:cxnSp>
        <p:nvCxnSpPr>
          <p:cNvPr id="36" name="Connector 35"/>
          <p:cNvCxnSpPr/>
          <p:nvPr/>
        </p:nvCxnSpPr>
        <p:spPr>
          <a:xfrm>
            <a:off x="6428232" y="3767328"/>
            <a:ext cx="566928" cy="0"/>
          </a:xfrm>
          <a:prstGeom prst="line">
            <a:avLst/>
          </a:prstGeom>
          <a:ln w="22860">
            <a:solidFill>
              <a:srgbClr val="17613F"/>
            </a:solidFill>
            <a:tailEnd type="triangle"/>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3"/>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1761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502920" y="210312"/>
            <a:ext cx="2395728" cy="448056"/>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5"/>
          <a:stretch>
            <a:fillRect/>
          </a:stretch>
        </p:blipFill>
        <p:spPr>
          <a:xfrm>
            <a:off x="603504" y="323088"/>
            <a:ext cx="585216" cy="195072"/>
          </a:xfrm>
          <a:prstGeom prst="rect">
            <a:avLst/>
          </a:prstGeom>
          <a:effectLst/>
        </p:spPr>
      </p:pic>
      <p:sp>
        <p:nvSpPr>
          <p:cNvPr id="5" name="TextBox 4"/>
          <p:cNvSpPr txBox="1"/>
          <p:nvPr/>
        </p:nvSpPr>
        <p:spPr>
          <a:xfrm>
            <a:off x="1271016" y="283464"/>
            <a:ext cx="164592" cy="228600"/>
          </a:xfrm>
          <a:prstGeom prst="rect">
            <a:avLst/>
          </a:prstGeom>
          <a:noFill/>
          <a:effectLst/>
        </p:spPr>
        <p:txBody>
          <a:bodyPr wrap="square" tIns="0" bIns="0" lIns="0" rIns="0">
            <a:spAutoFit/>
          </a:bodyPr>
          <a:lstStyle/>
          <a:p>
            <a:pPr>
              <a:spcBef>
                <a:spcPts val="0"/>
              </a:spcBef>
              <a:spcAft>
                <a:spcPts val="600"/>
              </a:spcAft>
              <a:defRPr sz="1200" b="0">
                <a:solidFill>
                  <a:srgbClr val="567168"/>
                </a:solidFill>
                <a:latin typeface="Nimbus Sans"/>
              </a:defRPr>
            </a:pPr>
            <a:r>
              <a:t>×</a:t>
            </a:r>
          </a:p>
        </p:txBody>
      </p:sp>
      <p:pic>
        <p:nvPicPr>
          <p:cNvPr id="33" name="Picture 32" descr="image.png"/>
          <p:cNvPicPr>
            <a:picLocks noChangeAspect="1"/>
          </p:cNvPicPr>
          <p:nvPr/>
        </p:nvPicPr>
        <p:blipFill>
          <a:blip r:embed="rId6"/>
          <a:stretch>
            <a:fillRect/>
          </a:stretch>
        </p:blipFill>
        <p:spPr>
          <a:xfrm>
            <a:off x="1536192" y="334792"/>
            <a:ext cx="1243584" cy="153375"/>
          </a:xfrm>
          <a:prstGeom prst="rect">
            <a:avLst/>
          </a:prstGeom>
          <a:effectLst/>
        </p:spPr>
      </p:pic>
      <p:sp>
        <p:nvSpPr>
          <p:cNvPr id="7" name="TextBox 6"/>
          <p:cNvSpPr txBox="1"/>
          <p:nvPr/>
        </p:nvSpPr>
        <p:spPr>
          <a:xfrm>
            <a:off x="5486400" y="356616"/>
            <a:ext cx="6062472" cy="237744"/>
          </a:xfrm>
          <a:prstGeom prst="rect">
            <a:avLst/>
          </a:prstGeom>
          <a:noFill/>
          <a:effectLst/>
        </p:spPr>
        <p:txBody>
          <a:bodyPr wrap="square" tIns="0" bIns="0" lIns="0" rIns="0">
            <a:spAutoFit/>
          </a:bodyPr>
          <a:lstStyle/>
          <a:p>
            <a:pPr algn="r">
              <a:spcBef>
                <a:spcPts val="0"/>
              </a:spcBef>
              <a:spcAft>
                <a:spcPts val="600"/>
              </a:spcAft>
              <a:defRPr sz="1000" b="1">
                <a:solidFill>
                  <a:srgbClr val="17613F"/>
                </a:solidFill>
                <a:latin typeface="Nimbus Sans"/>
              </a:defRPr>
            </a:pPr>
            <a:r>
              <a:t>01 / MENGAPA SEO?</a:t>
            </a:r>
          </a:p>
        </p:txBody>
      </p:sp>
      <p:sp>
        <p:nvSpPr>
          <p:cNvPr id="8" name="TextBox 7"/>
          <p:cNvSpPr txBox="1"/>
          <p:nvPr/>
        </p:nvSpPr>
        <p:spPr>
          <a:xfrm>
            <a:off x="594360" y="960120"/>
            <a:ext cx="10972800" cy="822960"/>
          </a:xfrm>
          <a:prstGeom prst="rect">
            <a:avLst/>
          </a:prstGeom>
          <a:noFill/>
          <a:effectLst/>
        </p:spPr>
        <p:txBody>
          <a:bodyPr wrap="square" tIns="0" bIns="0" lIns="0" rIns="0">
            <a:spAutoFit/>
          </a:bodyPr>
          <a:lstStyle/>
          <a:p>
            <a:pPr>
              <a:spcBef>
                <a:spcPts val="0"/>
              </a:spcBef>
              <a:spcAft>
                <a:spcPts val="400"/>
              </a:spcAft>
              <a:defRPr sz="3100" b="1">
                <a:solidFill>
                  <a:srgbClr val="193E32"/>
                </a:solidFill>
                <a:latin typeface="Nimbus Sans"/>
              </a:defRPr>
            </a:pPr>
            <a:r>
              <a:rPr sz="3100"/>
              <a:t>Pembuatan website, maintenance, dan SEO berbeda</a:t>
            </a:r>
          </a:p>
        </p:txBody>
      </p:sp>
      <p:sp>
        <p:nvSpPr>
          <p:cNvPr id="9" name="TextBox 8"/>
          <p:cNvSpPr txBox="1"/>
          <p:nvPr/>
        </p:nvSpPr>
        <p:spPr>
          <a:xfrm>
            <a:off x="594360" y="1792224"/>
            <a:ext cx="10972800" cy="594360"/>
          </a:xfrm>
          <a:prstGeom prst="rect">
            <a:avLst/>
          </a:prstGeom>
          <a:noFill/>
          <a:effectLst/>
        </p:spPr>
        <p:txBody>
          <a:bodyPr wrap="square" tIns="0" bIns="0" lIns="0" rIns="0">
            <a:spAutoFit/>
          </a:bodyPr>
          <a:lstStyle/>
          <a:p>
            <a:pPr>
              <a:spcBef>
                <a:spcPts val="0"/>
              </a:spcBef>
              <a:spcAft>
                <a:spcPts val="400"/>
              </a:spcAft>
              <a:defRPr sz="1700" b="0">
                <a:solidFill>
                  <a:srgbClr val="567168"/>
                </a:solidFill>
                <a:latin typeface="Nimbus Sans"/>
              </a:defRPr>
            </a:pPr>
            <a:r>
              <a:rPr sz="1700"/>
              <a:t>Ketiganya saling mendukung. SEO dasar yang sudah dikerjakan saat membuat website tidak ditagihkan lagi.</a:t>
            </a:r>
          </a:p>
        </p:txBody>
      </p:sp>
      <p:sp>
        <p:nvSpPr>
          <p:cNvPr id="10" name="TextBox 9"/>
          <p:cNvSpPr txBox="1"/>
          <p:nvPr/>
        </p:nvSpPr>
        <p:spPr>
          <a:xfrm>
            <a:off x="594360" y="6437376"/>
            <a:ext cx="10287000" cy="219456"/>
          </a:xfrm>
          <a:prstGeom prst="rect">
            <a:avLst/>
          </a:prstGeom>
          <a:noFill/>
          <a:effectLst/>
        </p:spPr>
        <p:txBody>
          <a:bodyPr wrap="square" tIns="0" bIns="0" lIns="0" rIns="0">
            <a:spAutoFit/>
          </a:bodyPr>
          <a:lstStyle/>
          <a:p>
            <a:pPr>
              <a:spcBef>
                <a:spcPts val="0"/>
              </a:spcBef>
              <a:spcAft>
                <a:spcPts val="400"/>
              </a:spcAft>
              <a:defRPr sz="900" b="0">
                <a:solidFill>
                  <a:srgbClr val="567168"/>
                </a:solidFill>
                <a:latin typeface="Nimbus Sans"/>
              </a:defRPr>
            </a:pPr>
            <a:r>
              <a:rPr sz="900"/>
              <a:t>Cakupan mengikuti penawaran. Pekerjaan yang berkaitan dikoordinasikan agar tidak tumpang tindih.</a:t>
            </a:r>
          </a:p>
        </p:txBody>
      </p:sp>
      <p:sp>
        <p:nvSpPr>
          <p:cNvPr id="11" name="TextBox 10"/>
          <p:cNvSpPr txBox="1"/>
          <p:nvPr/>
        </p:nvSpPr>
        <p:spPr>
          <a:xfrm>
            <a:off x="11091672" y="6391656"/>
            <a:ext cx="457200" cy="256032"/>
          </a:xfrm>
          <a:prstGeom prst="rect">
            <a:avLst/>
          </a:prstGeom>
          <a:noFill/>
          <a:effectLst/>
        </p:spPr>
        <p:txBody>
          <a:bodyPr wrap="square" tIns="0" bIns="0" lIns="0" rIns="0">
            <a:spAutoFit/>
          </a:bodyPr>
          <a:lstStyle/>
          <a:p>
            <a:pPr>
              <a:spcBef>
                <a:spcPts val="0"/>
              </a:spcBef>
              <a:spcAft>
                <a:spcPts val="600"/>
              </a:spcAft>
              <a:defRPr sz="1200" b="1">
                <a:solidFill>
                  <a:srgbClr val="17613F"/>
                </a:solidFill>
                <a:latin typeface="Nimbus Sans"/>
              </a:defRPr>
            </a:pPr>
            <a:r>
              <a:t>03</a:t>
            </a:r>
          </a:p>
        </p:txBody>
      </p:sp>
      <p:sp>
        <p:nvSpPr>
          <p:cNvPr id="12" name="Rectangle 11"/>
          <p:cNvSpPr/>
          <p:nvPr/>
        </p:nvSpPr>
        <p:spPr>
          <a:xfrm>
            <a:off x="566928" y="6739128"/>
            <a:ext cx="1755648" cy="32004"/>
          </a:xfrm>
          <a:prstGeom prst="rect">
            <a:avLst/>
          </a:prstGeom>
          <a:solidFill>
            <a:srgbClr val="D2AB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2432304"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297680"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163056"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8028431"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893807"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594360" y="5833872"/>
            <a:ext cx="10972800" cy="484632"/>
          </a:xfrm>
          <a:prstGeom prst="roundRect">
            <a:avLst>
              <a:gd name="adj" fmla="val 3500"/>
            </a:avLst>
          </a:prstGeom>
          <a:solidFill>
            <a:srgbClr val="E4EE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777240" y="5943600"/>
            <a:ext cx="10607040" cy="283464"/>
          </a:xfrm>
          <a:prstGeom prst="rect">
            <a:avLst/>
          </a:prstGeom>
          <a:noFill/>
          <a:effectLst/>
        </p:spPr>
        <p:txBody>
          <a:bodyPr wrap="square" tIns="0" bIns="0" lIns="0" rIns="0">
            <a:spAutoFit/>
          </a:bodyPr>
          <a:lstStyle/>
          <a:p>
            <a:pPr>
              <a:spcBef>
                <a:spcPts val="0"/>
              </a:spcBef>
              <a:spcAft>
                <a:spcPts val="400"/>
              </a:spcAft>
              <a:defRPr sz="1200" b="0">
                <a:solidFill>
                  <a:srgbClr val="17613F"/>
                </a:solidFill>
                <a:latin typeface="Nimbus Sans"/>
              </a:defRPr>
            </a:pPr>
            <a:r>
              <a:rPr sz="1200"/>
              <a:t>SEO berfokus pada pencarian. Maintenance menjaga website tetap berfungsi sesuai cakupan layanan.</a:t>
            </a:r>
          </a:p>
        </p:txBody>
      </p:sp>
      <p:sp>
        <p:nvSpPr>
          <p:cNvPr id="34" name="Rectangle 33"/>
          <p:cNvSpPr/>
          <p:nvPr/>
        </p:nvSpPr>
        <p:spPr>
          <a:xfrm>
            <a:off x="932688" y="2999232"/>
            <a:ext cx="2286000" cy="1234440"/>
          </a:xfrm>
          <a:prstGeom prst="rect">
            <a:avLst/>
          </a:prstGeom>
          <a:solidFill>
            <a:srgbClr val="FFFFFF"/>
          </a:solidFill>
          <a:ln w="2032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a:off x="932688" y="3209544"/>
            <a:ext cx="2286000" cy="0"/>
          </a:xfrm>
          <a:prstGeom prst="line">
            <a:avLst/>
          </a:prstGeom>
          <a:ln w="12700">
            <a:solidFill>
              <a:srgbClr val="17613F"/>
            </a:solidFill>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1042416" y="3072384"/>
            <a:ext cx="41148" cy="41148"/>
          </a:xfrm>
          <a:prstGeom prst="ellips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161288" y="3072384"/>
            <a:ext cx="41148" cy="41148"/>
          </a:xfrm>
          <a:prstGeom prst="ellips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280160" y="3072384"/>
            <a:ext cx="41148" cy="41148"/>
          </a:xfrm>
          <a:prstGeom prst="ellips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43000" y="3337560"/>
            <a:ext cx="502920" cy="731520"/>
          </a:xfrm>
          <a:prstGeom prst="rect">
            <a:avLst/>
          </a:prstGeom>
          <a:solidFill>
            <a:srgbClr val="FFFFFF"/>
          </a:solidFill>
          <a:ln w="2032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143000" y="3337560"/>
            <a:ext cx="502920" cy="137160"/>
          </a:xfrm>
          <a:prstGeom prst="rect">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a:off x="1271016" y="3657600"/>
            <a:ext cx="208940"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271016" y="3831335"/>
            <a:ext cx="208940"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271016" y="4005072"/>
            <a:ext cx="98298"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856231" y="3474720"/>
            <a:ext cx="1106425" cy="0"/>
          </a:xfrm>
          <a:prstGeom prst="line">
            <a:avLst/>
          </a:prstGeom>
          <a:ln w="2540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856231" y="3776472"/>
            <a:ext cx="932689" cy="0"/>
          </a:xfrm>
          <a:prstGeom prst="line">
            <a:avLst/>
          </a:prstGeom>
          <a:ln w="25400">
            <a:solidFill>
              <a:srgbClr val="17613F"/>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777240" y="2587752"/>
            <a:ext cx="3108960" cy="274320"/>
          </a:xfrm>
          <a:prstGeom prst="rect">
            <a:avLst/>
          </a:prstGeom>
          <a:noFill/>
        </p:spPr>
        <p:txBody>
          <a:bodyPr wrap="square" lIns="0" rIns="0" tIns="0" bIns="0">
            <a:spAutoFit/>
          </a:bodyPr>
          <a:lstStyle/>
          <a:p>
            <a:pPr algn="l">
              <a:spcAft>
                <a:spcPts val="0"/>
              </a:spcAft>
            </a:pPr>
            <a:r>
              <a:rPr sz="1200" b="1">
                <a:solidFill>
                  <a:srgbClr val="17613F"/>
                </a:solidFill>
                <a:latin typeface="Nimbus Sans"/>
              </a:rPr>
              <a:t>01 / PEMBUATAN WEBSITE</a:t>
            </a:r>
          </a:p>
        </p:txBody>
      </p:sp>
      <p:sp>
        <p:nvSpPr>
          <p:cNvPr id="47" name="TextBox 46"/>
          <p:cNvSpPr txBox="1"/>
          <p:nvPr/>
        </p:nvSpPr>
        <p:spPr>
          <a:xfrm>
            <a:off x="777240" y="4434840"/>
            <a:ext cx="3200400" cy="594360"/>
          </a:xfrm>
          <a:prstGeom prst="rect">
            <a:avLst/>
          </a:prstGeom>
          <a:noFill/>
        </p:spPr>
        <p:txBody>
          <a:bodyPr wrap="square" lIns="0" rIns="0" tIns="0" bIns="0">
            <a:spAutoFit/>
          </a:bodyPr>
          <a:lstStyle/>
          <a:p>
            <a:pPr algn="l">
              <a:spcAft>
                <a:spcPts val="0"/>
              </a:spcAft>
            </a:pPr>
            <a:r>
              <a:rPr sz="2200" b="1">
                <a:solidFill>
                  <a:srgbClr val="17613F"/>
                </a:solidFill>
                <a:latin typeface="Nimbus Sans"/>
              </a:rPr>
              <a:t>Menyiapkan website</a:t>
            </a:r>
          </a:p>
        </p:txBody>
      </p:sp>
      <p:sp>
        <p:nvSpPr>
          <p:cNvPr id="48" name="TextBox 47"/>
          <p:cNvSpPr txBox="1"/>
          <p:nvPr/>
        </p:nvSpPr>
        <p:spPr>
          <a:xfrm>
            <a:off x="777240" y="5102352"/>
            <a:ext cx="3200400" cy="493776"/>
          </a:xfrm>
          <a:prstGeom prst="rect">
            <a:avLst/>
          </a:prstGeom>
          <a:noFill/>
        </p:spPr>
        <p:txBody>
          <a:bodyPr wrap="square" lIns="0" rIns="0" tIns="0" bIns="0">
            <a:spAutoFit/>
          </a:bodyPr>
          <a:lstStyle/>
          <a:p>
            <a:pPr algn="l">
              <a:spcAft>
                <a:spcPts val="0"/>
              </a:spcAft>
            </a:pPr>
            <a:r>
              <a:rPr sz="1600" b="0">
                <a:solidFill>
                  <a:srgbClr val="567168"/>
                </a:solidFill>
                <a:latin typeface="Nimbus Sans"/>
              </a:rPr>
              <a:t>Halaman, fitur, struktur, dan SEO dasar.</a:t>
            </a:r>
          </a:p>
        </p:txBody>
      </p:sp>
      <p:cxnSp>
        <p:nvCxnSpPr>
          <p:cNvPr id="49" name="Connector 48"/>
          <p:cNvCxnSpPr/>
          <p:nvPr/>
        </p:nvCxnSpPr>
        <p:spPr>
          <a:xfrm>
            <a:off x="3429000" y="3840480"/>
            <a:ext cx="548639" cy="0"/>
          </a:xfrm>
          <a:prstGeom prst="line">
            <a:avLst/>
          </a:prstGeom>
          <a:ln w="2540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3977639" y="3200400"/>
            <a:ext cx="0" cy="1463040"/>
          </a:xfrm>
          <a:prstGeom prst="line">
            <a:avLst/>
          </a:prstGeom>
          <a:ln w="2540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3977639" y="3200400"/>
            <a:ext cx="594361" cy="0"/>
          </a:xfrm>
          <a:prstGeom prst="line">
            <a:avLst/>
          </a:prstGeom>
          <a:ln w="25400">
            <a:solidFill>
              <a:srgbClr val="17613F"/>
            </a:solidFill>
            <a:tailEnd type="triangle"/>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3977639" y="4663440"/>
            <a:ext cx="594361" cy="0"/>
          </a:xfrm>
          <a:prstGeom prst="line">
            <a:avLst/>
          </a:prstGeom>
          <a:ln w="25400">
            <a:solidFill>
              <a:srgbClr val="17613F"/>
            </a:solidFill>
            <a:tailEnd type="triangle"/>
          </a:ln>
        </p:spPr>
        <p:style>
          <a:lnRef idx="2">
            <a:schemeClr val="accent1"/>
          </a:lnRef>
          <a:fillRef idx="0">
            <a:schemeClr val="accent1"/>
          </a:fillRef>
          <a:effectRef idx="1">
            <a:schemeClr val="accent1"/>
          </a:effectRef>
          <a:fontRef idx="minor">
            <a:schemeClr val="tx1"/>
          </a:fontRef>
        </p:style>
      </p:cxnSp>
      <p:sp>
        <p:nvSpPr>
          <p:cNvPr id="53" name="Oval 52"/>
          <p:cNvSpPr/>
          <p:nvPr/>
        </p:nvSpPr>
        <p:spPr>
          <a:xfrm>
            <a:off x="4892040" y="2862072"/>
            <a:ext cx="484632" cy="484632"/>
          </a:xfrm>
          <a:prstGeom prst="ellipse">
            <a:avLst/>
          </a:prstGeom>
          <a:noFill/>
          <a:ln w="3048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a:off x="5294284" y="3264316"/>
            <a:ext cx="227777" cy="227777"/>
          </a:xfrm>
          <a:prstGeom prst="line">
            <a:avLst/>
          </a:prstGeom>
          <a:ln w="3810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5138928" y="3575304"/>
            <a:ext cx="137160" cy="137159"/>
          </a:xfrm>
          <a:prstGeom prst="line">
            <a:avLst/>
          </a:prstGeom>
          <a:ln w="3810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5276088" y="3410712"/>
            <a:ext cx="301752" cy="301751"/>
          </a:xfrm>
          <a:prstGeom prst="line">
            <a:avLst/>
          </a:prstGeom>
          <a:ln w="38100">
            <a:solidFill>
              <a:srgbClr val="17613F"/>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5943600" y="2788920"/>
            <a:ext cx="5303520" cy="594360"/>
          </a:xfrm>
          <a:prstGeom prst="rect">
            <a:avLst/>
          </a:prstGeom>
          <a:noFill/>
        </p:spPr>
        <p:txBody>
          <a:bodyPr wrap="square" lIns="0" rIns="0" tIns="0" bIns="0">
            <a:spAutoFit/>
          </a:bodyPr>
          <a:lstStyle/>
          <a:p>
            <a:pPr algn="l">
              <a:spcAft>
                <a:spcPts val="0"/>
              </a:spcAft>
            </a:pPr>
            <a:r>
              <a:rPr sz="2200" b="1">
                <a:solidFill>
                  <a:srgbClr val="17613F"/>
                </a:solidFill>
                <a:latin typeface="Nimbus Sans"/>
              </a:rPr>
              <a:t>02 / Merawat website</a:t>
            </a:r>
          </a:p>
        </p:txBody>
      </p:sp>
      <p:sp>
        <p:nvSpPr>
          <p:cNvPr id="58" name="TextBox 57"/>
          <p:cNvSpPr txBox="1"/>
          <p:nvPr/>
        </p:nvSpPr>
        <p:spPr>
          <a:xfrm>
            <a:off x="5943600" y="3456432"/>
            <a:ext cx="5303520" cy="493776"/>
          </a:xfrm>
          <a:prstGeom prst="rect">
            <a:avLst/>
          </a:prstGeom>
          <a:noFill/>
        </p:spPr>
        <p:txBody>
          <a:bodyPr wrap="square" lIns="0" rIns="0" tIns="0" bIns="0">
            <a:spAutoFit/>
          </a:bodyPr>
          <a:lstStyle/>
          <a:p>
            <a:pPr algn="l">
              <a:spcAft>
                <a:spcPts val="0"/>
              </a:spcAft>
            </a:pPr>
            <a:r>
              <a:rPr sz="1600" b="0">
                <a:solidFill>
                  <a:srgbClr val="567168"/>
                </a:solidFill>
                <a:latin typeface="Nimbus Sans"/>
              </a:rPr>
              <a:t>Pembaruan, backup, dan perbaikan fungsi.</a:t>
            </a:r>
          </a:p>
        </p:txBody>
      </p:sp>
      <p:cxnSp>
        <p:nvCxnSpPr>
          <p:cNvPr id="59" name="Connector 58"/>
          <p:cNvCxnSpPr/>
          <p:nvPr/>
        </p:nvCxnSpPr>
        <p:spPr>
          <a:xfrm flipV="1">
            <a:off x="4608575" y="4498848"/>
            <a:ext cx="868681" cy="365760"/>
          </a:xfrm>
          <a:prstGeom prst="line">
            <a:avLst/>
          </a:prstGeom>
          <a:ln w="1905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4608575" y="4864608"/>
            <a:ext cx="868681" cy="411480"/>
          </a:xfrm>
          <a:prstGeom prst="line">
            <a:avLst/>
          </a:prstGeom>
          <a:ln w="19050">
            <a:solidFill>
              <a:srgbClr val="17613F"/>
            </a:solidFill>
          </a:ln>
        </p:spPr>
        <p:style>
          <a:lnRef idx="2">
            <a:schemeClr val="accent1"/>
          </a:lnRef>
          <a:fillRef idx="0">
            <a:schemeClr val="accent1"/>
          </a:fillRef>
          <a:effectRef idx="1">
            <a:schemeClr val="accent1"/>
          </a:effectRef>
          <a:fontRef idx="minor">
            <a:schemeClr val="tx1"/>
          </a:fontRef>
        </p:style>
      </p:cxnSp>
      <p:sp>
        <p:nvSpPr>
          <p:cNvPr id="61" name="Oval 60"/>
          <p:cNvSpPr/>
          <p:nvPr/>
        </p:nvSpPr>
        <p:spPr>
          <a:xfrm>
            <a:off x="4361688" y="4617720"/>
            <a:ext cx="493776" cy="493776"/>
          </a:xfrm>
          <a:prstGeom prst="ellipse">
            <a:avLst/>
          </a:prstGeom>
          <a:solidFill>
            <a:srgbClr val="FFFFFF"/>
          </a:solidFill>
          <a:ln w="2540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5230368" y="4251960"/>
            <a:ext cx="493776" cy="493776"/>
          </a:xfrm>
          <a:prstGeom prst="ellipse">
            <a:avLst/>
          </a:prstGeom>
          <a:solidFill>
            <a:srgbClr val="FFFFFF"/>
          </a:solidFill>
          <a:ln w="2540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5230368" y="5029200"/>
            <a:ext cx="493776" cy="493776"/>
          </a:xfrm>
          <a:prstGeom prst="ellipse">
            <a:avLst/>
          </a:prstGeom>
          <a:solidFill>
            <a:srgbClr val="FFFFFF"/>
          </a:solidFill>
          <a:ln w="2540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943600" y="4315968"/>
            <a:ext cx="5303520" cy="594360"/>
          </a:xfrm>
          <a:prstGeom prst="rect">
            <a:avLst/>
          </a:prstGeom>
          <a:noFill/>
        </p:spPr>
        <p:txBody>
          <a:bodyPr wrap="square" lIns="0" rIns="0" tIns="0" bIns="0">
            <a:spAutoFit/>
          </a:bodyPr>
          <a:lstStyle/>
          <a:p>
            <a:pPr algn="l">
              <a:spcAft>
                <a:spcPts val="0"/>
              </a:spcAft>
            </a:pPr>
            <a:r>
              <a:rPr sz="2200" b="1">
                <a:solidFill>
                  <a:srgbClr val="17613F"/>
                </a:solidFill>
                <a:latin typeface="Nimbus Sans"/>
              </a:rPr>
              <a:t>03 / Meningkatkan visibilitas</a:t>
            </a:r>
          </a:p>
        </p:txBody>
      </p:sp>
      <p:sp>
        <p:nvSpPr>
          <p:cNvPr id="65" name="TextBox 64"/>
          <p:cNvSpPr txBox="1"/>
          <p:nvPr/>
        </p:nvSpPr>
        <p:spPr>
          <a:xfrm>
            <a:off x="5943600" y="4983479"/>
            <a:ext cx="5303520" cy="493776"/>
          </a:xfrm>
          <a:prstGeom prst="rect">
            <a:avLst/>
          </a:prstGeom>
          <a:noFill/>
        </p:spPr>
        <p:txBody>
          <a:bodyPr wrap="square" lIns="0" rIns="0" tIns="0" bIns="0">
            <a:spAutoFit/>
          </a:bodyPr>
          <a:lstStyle/>
          <a:p>
            <a:pPr algn="l">
              <a:spcAft>
                <a:spcPts val="0"/>
              </a:spcAft>
            </a:pPr>
            <a:r>
              <a:rPr sz="1600" b="0">
                <a:solidFill>
                  <a:srgbClr val="567168"/>
                </a:solidFill>
                <a:latin typeface="Nimbus Sans"/>
              </a:rPr>
              <a:t>Riset, optimasi, konten, dan evaluasi.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3"/>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1761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502920" y="210312"/>
            <a:ext cx="2395728" cy="448056"/>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5"/>
          <a:stretch>
            <a:fillRect/>
          </a:stretch>
        </p:blipFill>
        <p:spPr>
          <a:xfrm>
            <a:off x="603504" y="323088"/>
            <a:ext cx="585216" cy="195072"/>
          </a:xfrm>
          <a:prstGeom prst="rect">
            <a:avLst/>
          </a:prstGeom>
          <a:effectLst/>
        </p:spPr>
      </p:pic>
      <p:sp>
        <p:nvSpPr>
          <p:cNvPr id="5" name="TextBox 4"/>
          <p:cNvSpPr txBox="1"/>
          <p:nvPr/>
        </p:nvSpPr>
        <p:spPr>
          <a:xfrm>
            <a:off x="1271016" y="283464"/>
            <a:ext cx="164592" cy="228600"/>
          </a:xfrm>
          <a:prstGeom prst="rect">
            <a:avLst/>
          </a:prstGeom>
          <a:noFill/>
          <a:effectLst/>
        </p:spPr>
        <p:txBody>
          <a:bodyPr wrap="square" tIns="0" bIns="0" lIns="0" rIns="0">
            <a:spAutoFit/>
          </a:bodyPr>
          <a:lstStyle/>
          <a:p>
            <a:pPr>
              <a:spcBef>
                <a:spcPts val="0"/>
              </a:spcBef>
              <a:spcAft>
                <a:spcPts val="600"/>
              </a:spcAft>
              <a:defRPr sz="1200" b="0">
                <a:solidFill>
                  <a:srgbClr val="567168"/>
                </a:solidFill>
                <a:latin typeface="Nimbus Sans"/>
              </a:defRPr>
            </a:pPr>
            <a:r>
              <a:t>×</a:t>
            </a:r>
          </a:p>
        </p:txBody>
      </p:sp>
      <p:pic>
        <p:nvPicPr>
          <p:cNvPr id="33" name="Picture 32" descr="image.png"/>
          <p:cNvPicPr>
            <a:picLocks noChangeAspect="1"/>
          </p:cNvPicPr>
          <p:nvPr/>
        </p:nvPicPr>
        <p:blipFill>
          <a:blip r:embed="rId6"/>
          <a:stretch>
            <a:fillRect/>
          </a:stretch>
        </p:blipFill>
        <p:spPr>
          <a:xfrm>
            <a:off x="1536192" y="334792"/>
            <a:ext cx="1243584" cy="153375"/>
          </a:xfrm>
          <a:prstGeom prst="rect">
            <a:avLst/>
          </a:prstGeom>
          <a:effectLst/>
        </p:spPr>
      </p:pic>
      <p:sp>
        <p:nvSpPr>
          <p:cNvPr id="7" name="TextBox 6"/>
          <p:cNvSpPr txBox="1"/>
          <p:nvPr/>
        </p:nvSpPr>
        <p:spPr>
          <a:xfrm>
            <a:off x="5486400" y="356616"/>
            <a:ext cx="6062472" cy="237744"/>
          </a:xfrm>
          <a:prstGeom prst="rect">
            <a:avLst/>
          </a:prstGeom>
          <a:noFill/>
          <a:effectLst/>
        </p:spPr>
        <p:txBody>
          <a:bodyPr wrap="square" tIns="0" bIns="0" lIns="0" rIns="0">
            <a:spAutoFit/>
          </a:bodyPr>
          <a:lstStyle/>
          <a:p>
            <a:pPr algn="r">
              <a:spcBef>
                <a:spcPts val="0"/>
              </a:spcBef>
              <a:spcAft>
                <a:spcPts val="600"/>
              </a:spcAft>
              <a:defRPr sz="1000" b="1">
                <a:solidFill>
                  <a:srgbClr val="17613F"/>
                </a:solidFill>
                <a:latin typeface="Nimbus Sans"/>
              </a:defRPr>
            </a:pPr>
            <a:r>
              <a:t>01 / MENGAPA SEO?</a:t>
            </a:r>
          </a:p>
        </p:txBody>
      </p:sp>
      <p:sp>
        <p:nvSpPr>
          <p:cNvPr id="8" name="TextBox 7"/>
          <p:cNvSpPr txBox="1"/>
          <p:nvPr/>
        </p:nvSpPr>
        <p:spPr>
          <a:xfrm>
            <a:off x="594360" y="960120"/>
            <a:ext cx="10972800" cy="822960"/>
          </a:xfrm>
          <a:prstGeom prst="rect">
            <a:avLst/>
          </a:prstGeom>
          <a:noFill/>
          <a:effectLst/>
        </p:spPr>
        <p:txBody>
          <a:bodyPr wrap="square" tIns="0" bIns="0" lIns="0" rIns="0">
            <a:spAutoFit/>
          </a:bodyPr>
          <a:lstStyle/>
          <a:p>
            <a:pPr>
              <a:spcBef>
                <a:spcPts val="0"/>
              </a:spcBef>
              <a:spcAft>
                <a:spcPts val="400"/>
              </a:spcAft>
              <a:defRPr sz="3100" b="1">
                <a:solidFill>
                  <a:srgbClr val="193E32"/>
                </a:solidFill>
                <a:latin typeface="Nimbus Sans"/>
              </a:defRPr>
            </a:pPr>
            <a:r>
              <a:rPr sz="3100"/>
              <a:t>Tiga bagian utama pekerjaan SEO</a:t>
            </a:r>
          </a:p>
        </p:txBody>
      </p:sp>
      <p:sp>
        <p:nvSpPr>
          <p:cNvPr id="9" name="TextBox 8"/>
          <p:cNvSpPr txBox="1"/>
          <p:nvPr/>
        </p:nvSpPr>
        <p:spPr>
          <a:xfrm>
            <a:off x="594360" y="1792224"/>
            <a:ext cx="10972800" cy="594360"/>
          </a:xfrm>
          <a:prstGeom prst="rect">
            <a:avLst/>
          </a:prstGeom>
          <a:noFill/>
          <a:effectLst/>
        </p:spPr>
        <p:txBody>
          <a:bodyPr wrap="square" tIns="0" bIns="0" lIns="0" rIns="0">
            <a:spAutoFit/>
          </a:bodyPr>
          <a:lstStyle/>
          <a:p>
            <a:pPr>
              <a:spcBef>
                <a:spcPts val="0"/>
              </a:spcBef>
              <a:spcAft>
                <a:spcPts val="400"/>
              </a:spcAft>
              <a:defRPr sz="1700" b="0">
                <a:solidFill>
                  <a:srgbClr val="567168"/>
                </a:solidFill>
                <a:latin typeface="Nimbus Sans"/>
              </a:defRPr>
            </a:pPr>
            <a:r>
              <a:rPr sz="1700"/>
              <a:t>Menulis artikel termasuk on-page SEO. Pekerjaan SEO juga mencakup perbaikan teknis dan reputasi website.</a:t>
            </a:r>
          </a:p>
        </p:txBody>
      </p:sp>
      <p:sp>
        <p:nvSpPr>
          <p:cNvPr id="10" name="TextBox 9"/>
          <p:cNvSpPr txBox="1"/>
          <p:nvPr/>
        </p:nvSpPr>
        <p:spPr>
          <a:xfrm>
            <a:off x="594360" y="6437376"/>
            <a:ext cx="10287000" cy="219456"/>
          </a:xfrm>
          <a:prstGeom prst="rect">
            <a:avLst/>
          </a:prstGeom>
          <a:noFill/>
          <a:effectLst/>
        </p:spPr>
        <p:txBody>
          <a:bodyPr wrap="square" tIns="0" bIns="0" lIns="0" rIns="0">
            <a:spAutoFit/>
          </a:bodyPr>
          <a:lstStyle/>
          <a:p>
            <a:pPr>
              <a:spcBef>
                <a:spcPts val="0"/>
              </a:spcBef>
              <a:spcAft>
                <a:spcPts val="400"/>
              </a:spcAft>
              <a:defRPr sz="900" b="0">
                <a:solidFill>
                  <a:srgbClr val="567168"/>
                </a:solidFill>
                <a:latin typeface="Nimbus Sans"/>
              </a:defRPr>
            </a:pPr>
            <a:r>
              <a:rPr sz="900"/>
              <a:t>Backlink berbayar, media placement dan PR tidak termasuk paket bulanan.</a:t>
            </a:r>
          </a:p>
        </p:txBody>
      </p:sp>
      <p:sp>
        <p:nvSpPr>
          <p:cNvPr id="11" name="TextBox 10"/>
          <p:cNvSpPr txBox="1"/>
          <p:nvPr/>
        </p:nvSpPr>
        <p:spPr>
          <a:xfrm>
            <a:off x="11091672" y="6391656"/>
            <a:ext cx="457200" cy="256032"/>
          </a:xfrm>
          <a:prstGeom prst="rect">
            <a:avLst/>
          </a:prstGeom>
          <a:noFill/>
          <a:effectLst/>
        </p:spPr>
        <p:txBody>
          <a:bodyPr wrap="square" tIns="0" bIns="0" lIns="0" rIns="0">
            <a:spAutoFit/>
          </a:bodyPr>
          <a:lstStyle/>
          <a:p>
            <a:pPr>
              <a:spcBef>
                <a:spcPts val="0"/>
              </a:spcBef>
              <a:spcAft>
                <a:spcPts val="600"/>
              </a:spcAft>
              <a:defRPr sz="1200" b="1">
                <a:solidFill>
                  <a:srgbClr val="17613F"/>
                </a:solidFill>
                <a:latin typeface="Nimbus Sans"/>
              </a:defRPr>
            </a:pPr>
            <a:r>
              <a:t>04</a:t>
            </a:r>
          </a:p>
        </p:txBody>
      </p:sp>
      <p:sp>
        <p:nvSpPr>
          <p:cNvPr id="12" name="Rectangle 11"/>
          <p:cNvSpPr/>
          <p:nvPr/>
        </p:nvSpPr>
        <p:spPr>
          <a:xfrm>
            <a:off x="566928" y="6739128"/>
            <a:ext cx="1755648" cy="32004"/>
          </a:xfrm>
          <a:prstGeom prst="rect">
            <a:avLst/>
          </a:prstGeom>
          <a:solidFill>
            <a:srgbClr val="D2AB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2432304"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297680"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163056"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8028431"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893807"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594360" y="5833872"/>
            <a:ext cx="10972800" cy="484632"/>
          </a:xfrm>
          <a:prstGeom prst="roundRect">
            <a:avLst>
              <a:gd name="adj" fmla="val 3500"/>
            </a:avLst>
          </a:prstGeom>
          <a:solidFill>
            <a:srgbClr val="E4EE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777240" y="5943600"/>
            <a:ext cx="10607040" cy="283464"/>
          </a:xfrm>
          <a:prstGeom prst="rect">
            <a:avLst/>
          </a:prstGeom>
          <a:noFill/>
          <a:effectLst/>
        </p:spPr>
        <p:txBody>
          <a:bodyPr wrap="square" tIns="0" bIns="0" lIns="0" rIns="0">
            <a:spAutoFit/>
          </a:bodyPr>
          <a:lstStyle/>
          <a:p>
            <a:pPr>
              <a:spcBef>
                <a:spcPts val="0"/>
              </a:spcBef>
              <a:spcAft>
                <a:spcPts val="400"/>
              </a:spcAft>
              <a:defRPr sz="1200" b="0">
                <a:solidFill>
                  <a:srgbClr val="17613F"/>
                </a:solidFill>
                <a:latin typeface="Nimbus Sans"/>
              </a:defRPr>
            </a:pPr>
            <a:r>
              <a:rPr sz="1200"/>
              <a:t>Berikutnya: bagaimana halaman ditemukan dan diproses oleh Google?</a:t>
            </a:r>
          </a:p>
        </p:txBody>
      </p:sp>
      <p:sp>
        <p:nvSpPr>
          <p:cNvPr id="34" name="TextBox 33"/>
          <p:cNvSpPr txBox="1"/>
          <p:nvPr/>
        </p:nvSpPr>
        <p:spPr>
          <a:xfrm>
            <a:off x="822960" y="4251960"/>
            <a:ext cx="2971800" cy="594360"/>
          </a:xfrm>
          <a:prstGeom prst="rect">
            <a:avLst/>
          </a:prstGeom>
          <a:noFill/>
        </p:spPr>
        <p:txBody>
          <a:bodyPr wrap="square" lIns="0" rIns="0" tIns="0" bIns="0">
            <a:spAutoFit/>
          </a:bodyPr>
          <a:lstStyle/>
          <a:p>
            <a:pPr algn="l">
              <a:spcAft>
                <a:spcPts val="0"/>
              </a:spcAft>
            </a:pPr>
            <a:r>
              <a:rPr sz="2200" b="1">
                <a:solidFill>
                  <a:srgbClr val="17613F"/>
                </a:solidFill>
                <a:latin typeface="Nimbus Sans"/>
              </a:rPr>
              <a:t>Technical</a:t>
            </a:r>
          </a:p>
        </p:txBody>
      </p:sp>
      <p:sp>
        <p:nvSpPr>
          <p:cNvPr id="35" name="TextBox 34"/>
          <p:cNvSpPr txBox="1"/>
          <p:nvPr/>
        </p:nvSpPr>
        <p:spPr>
          <a:xfrm>
            <a:off x="822960" y="4919472"/>
            <a:ext cx="2971800" cy="493776"/>
          </a:xfrm>
          <a:prstGeom prst="rect">
            <a:avLst/>
          </a:prstGeom>
          <a:noFill/>
        </p:spPr>
        <p:txBody>
          <a:bodyPr wrap="square" lIns="0" rIns="0" tIns="0" bIns="0">
            <a:spAutoFit/>
          </a:bodyPr>
          <a:lstStyle/>
          <a:p>
            <a:pPr algn="l">
              <a:spcAft>
                <a:spcPts val="0"/>
              </a:spcAft>
            </a:pPr>
            <a:r>
              <a:rPr sz="1600" b="0">
                <a:solidFill>
                  <a:srgbClr val="567168"/>
                </a:solidFill>
                <a:latin typeface="Nimbus Sans"/>
              </a:rPr>
              <a:t>Akses &amp; struktur</a:t>
            </a:r>
          </a:p>
          <a:p>
            <a:pPr algn="l">
              <a:spcAft>
                <a:spcPts val="0"/>
              </a:spcAft>
            </a:pPr>
            <a:r>
              <a:rPr sz="1600" b="0">
                <a:solidFill>
                  <a:srgbClr val="567168"/>
                </a:solidFill>
                <a:latin typeface="Nimbus Sans"/>
              </a:rPr>
              <a:t>Indexing, redirect, performa, schema.</a:t>
            </a:r>
          </a:p>
        </p:txBody>
      </p:sp>
      <p:sp>
        <p:nvSpPr>
          <p:cNvPr id="36" name="TextBox 35"/>
          <p:cNvSpPr txBox="1"/>
          <p:nvPr/>
        </p:nvSpPr>
        <p:spPr>
          <a:xfrm>
            <a:off x="4572000" y="4251960"/>
            <a:ext cx="2971800" cy="594360"/>
          </a:xfrm>
          <a:prstGeom prst="rect">
            <a:avLst/>
          </a:prstGeom>
          <a:noFill/>
        </p:spPr>
        <p:txBody>
          <a:bodyPr wrap="square" lIns="0" rIns="0" tIns="0" bIns="0">
            <a:spAutoFit/>
          </a:bodyPr>
          <a:lstStyle/>
          <a:p>
            <a:pPr algn="l">
              <a:spcAft>
                <a:spcPts val="0"/>
              </a:spcAft>
            </a:pPr>
            <a:r>
              <a:rPr sz="2200" b="1">
                <a:solidFill>
                  <a:srgbClr val="17613F"/>
                </a:solidFill>
                <a:latin typeface="Nimbus Sans"/>
              </a:rPr>
              <a:t>On-page</a:t>
            </a:r>
          </a:p>
        </p:txBody>
      </p:sp>
      <p:sp>
        <p:nvSpPr>
          <p:cNvPr id="37" name="TextBox 36"/>
          <p:cNvSpPr txBox="1"/>
          <p:nvPr/>
        </p:nvSpPr>
        <p:spPr>
          <a:xfrm>
            <a:off x="4572000" y="4919472"/>
            <a:ext cx="2971800" cy="493776"/>
          </a:xfrm>
          <a:prstGeom prst="rect">
            <a:avLst/>
          </a:prstGeom>
          <a:noFill/>
        </p:spPr>
        <p:txBody>
          <a:bodyPr wrap="square" lIns="0" rIns="0" tIns="0" bIns="0">
            <a:spAutoFit/>
          </a:bodyPr>
          <a:lstStyle/>
          <a:p>
            <a:pPr algn="l">
              <a:spcAft>
                <a:spcPts val="0"/>
              </a:spcAft>
            </a:pPr>
            <a:r>
              <a:rPr sz="1600" b="0">
                <a:solidFill>
                  <a:srgbClr val="567168"/>
                </a:solidFill>
                <a:latin typeface="Nimbus Sans"/>
              </a:rPr>
              <a:t>Isi halaman</a:t>
            </a:r>
          </a:p>
          <a:p>
            <a:pPr algn="l">
              <a:spcAft>
                <a:spcPts val="0"/>
              </a:spcAft>
            </a:pPr>
            <a:r>
              <a:rPr sz="1600" b="0">
                <a:solidFill>
                  <a:srgbClr val="567168"/>
                </a:solidFill>
                <a:latin typeface="Nimbus Sans"/>
              </a:rPr>
              <a:t>Riset, info produk, artikel, internal link.</a:t>
            </a:r>
          </a:p>
        </p:txBody>
      </p:sp>
      <p:sp>
        <p:nvSpPr>
          <p:cNvPr id="38" name="TextBox 37"/>
          <p:cNvSpPr txBox="1"/>
          <p:nvPr/>
        </p:nvSpPr>
        <p:spPr>
          <a:xfrm>
            <a:off x="8321040" y="4251960"/>
            <a:ext cx="2971800" cy="594360"/>
          </a:xfrm>
          <a:prstGeom prst="rect">
            <a:avLst/>
          </a:prstGeom>
          <a:noFill/>
        </p:spPr>
        <p:txBody>
          <a:bodyPr wrap="square" lIns="0" rIns="0" tIns="0" bIns="0">
            <a:spAutoFit/>
          </a:bodyPr>
          <a:lstStyle/>
          <a:p>
            <a:pPr algn="l">
              <a:spcAft>
                <a:spcPts val="0"/>
              </a:spcAft>
            </a:pPr>
            <a:r>
              <a:rPr sz="2200" b="1">
                <a:solidFill>
                  <a:srgbClr val="17613F"/>
                </a:solidFill>
                <a:latin typeface="Nimbus Sans"/>
              </a:rPr>
              <a:t>Off-page</a:t>
            </a:r>
          </a:p>
        </p:txBody>
      </p:sp>
      <p:sp>
        <p:nvSpPr>
          <p:cNvPr id="39" name="TextBox 38"/>
          <p:cNvSpPr txBox="1"/>
          <p:nvPr/>
        </p:nvSpPr>
        <p:spPr>
          <a:xfrm>
            <a:off x="8321040" y="4919472"/>
            <a:ext cx="2971800" cy="493776"/>
          </a:xfrm>
          <a:prstGeom prst="rect">
            <a:avLst/>
          </a:prstGeom>
          <a:noFill/>
        </p:spPr>
        <p:txBody>
          <a:bodyPr wrap="square" lIns="0" rIns="0" tIns="0" bIns="0">
            <a:spAutoFit/>
          </a:bodyPr>
          <a:lstStyle/>
          <a:p>
            <a:pPr algn="l">
              <a:spcAft>
                <a:spcPts val="0"/>
              </a:spcAft>
            </a:pPr>
            <a:r>
              <a:rPr sz="1600" b="0">
                <a:solidFill>
                  <a:srgbClr val="567168"/>
                </a:solidFill>
                <a:latin typeface="Nimbus Sans"/>
              </a:rPr>
              <a:t>Reputasi di luar website</a:t>
            </a:r>
          </a:p>
          <a:p>
            <a:pPr algn="l">
              <a:spcAft>
                <a:spcPts val="0"/>
              </a:spcAft>
            </a:pPr>
            <a:r>
              <a:rPr sz="1600" b="0">
                <a:solidFill>
                  <a:srgbClr val="567168"/>
                </a:solidFill>
                <a:latin typeface="Nimbus Sans"/>
              </a:rPr>
              <a:t>Tautan dari situs lain &amp; penyebutan merek.</a:t>
            </a:r>
          </a:p>
        </p:txBody>
      </p:sp>
      <p:cxnSp>
        <p:nvCxnSpPr>
          <p:cNvPr id="40" name="Connector 39"/>
          <p:cNvCxnSpPr/>
          <p:nvPr/>
        </p:nvCxnSpPr>
        <p:spPr>
          <a:xfrm flipV="1">
            <a:off x="1801368" y="3035808"/>
            <a:ext cx="868680" cy="365760"/>
          </a:xfrm>
          <a:prstGeom prst="line">
            <a:avLst/>
          </a:prstGeom>
          <a:ln w="1905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801368" y="3401568"/>
            <a:ext cx="868680" cy="411480"/>
          </a:xfrm>
          <a:prstGeom prst="line">
            <a:avLst/>
          </a:prstGeom>
          <a:ln w="19050">
            <a:solidFill>
              <a:srgbClr val="17613F"/>
            </a:solidFill>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1554480" y="3154679"/>
            <a:ext cx="493776" cy="493776"/>
          </a:xfrm>
          <a:prstGeom prst="ellipse">
            <a:avLst/>
          </a:prstGeom>
          <a:solidFill>
            <a:srgbClr val="FFFFFF"/>
          </a:solidFill>
          <a:ln w="2540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2423160" y="2788920"/>
            <a:ext cx="493776" cy="493776"/>
          </a:xfrm>
          <a:prstGeom prst="ellipse">
            <a:avLst/>
          </a:prstGeom>
          <a:solidFill>
            <a:srgbClr val="FFFFFF"/>
          </a:solidFill>
          <a:ln w="2540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2423160" y="3566160"/>
            <a:ext cx="493776" cy="493776"/>
          </a:xfrm>
          <a:prstGeom prst="ellipse">
            <a:avLst/>
          </a:prstGeom>
          <a:solidFill>
            <a:srgbClr val="FFFFFF"/>
          </a:solidFill>
          <a:ln w="2540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166360" y="2926080"/>
            <a:ext cx="685800" cy="914400"/>
          </a:xfrm>
          <a:prstGeom prst="rect">
            <a:avLst/>
          </a:prstGeom>
          <a:solidFill>
            <a:srgbClr val="FFFFFF"/>
          </a:solidFill>
          <a:ln w="2032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166360" y="2926080"/>
            <a:ext cx="685800" cy="137160"/>
          </a:xfrm>
          <a:prstGeom prst="rect">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7" name="Connector 46"/>
          <p:cNvCxnSpPr/>
          <p:nvPr/>
        </p:nvCxnSpPr>
        <p:spPr>
          <a:xfrm>
            <a:off x="5294376" y="3246120"/>
            <a:ext cx="331470"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5294376" y="3419856"/>
            <a:ext cx="331470"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294376" y="3593592"/>
            <a:ext cx="180594"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5925312" y="2926080"/>
            <a:ext cx="685800" cy="914400"/>
          </a:xfrm>
          <a:prstGeom prst="rect">
            <a:avLst/>
          </a:prstGeom>
          <a:solidFill>
            <a:srgbClr val="FFFFFF"/>
          </a:solidFill>
          <a:ln w="2032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925312" y="2926080"/>
            <a:ext cx="685800" cy="137160"/>
          </a:xfrm>
          <a:prstGeom prst="rect">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Connector 51"/>
          <p:cNvCxnSpPr/>
          <p:nvPr/>
        </p:nvCxnSpPr>
        <p:spPr>
          <a:xfrm>
            <a:off x="6053328" y="3246120"/>
            <a:ext cx="331470"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053328" y="3419856"/>
            <a:ext cx="331470"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053328" y="3593592"/>
            <a:ext cx="180594"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5888736" y="2980944"/>
            <a:ext cx="0" cy="905256"/>
          </a:xfrm>
          <a:prstGeom prst="line">
            <a:avLst/>
          </a:prstGeom>
          <a:ln w="25400">
            <a:solidFill>
              <a:srgbClr val="17613F"/>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8778240" y="2926080"/>
            <a:ext cx="685800" cy="868680"/>
          </a:xfrm>
          <a:prstGeom prst="rect">
            <a:avLst/>
          </a:prstGeom>
          <a:solidFill>
            <a:srgbClr val="FFFFFF"/>
          </a:solidFill>
          <a:ln w="2032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778240" y="2926080"/>
            <a:ext cx="685800" cy="137160"/>
          </a:xfrm>
          <a:prstGeom prst="rect">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Connector 57"/>
          <p:cNvCxnSpPr/>
          <p:nvPr/>
        </p:nvCxnSpPr>
        <p:spPr>
          <a:xfrm>
            <a:off x="8906256" y="3246120"/>
            <a:ext cx="331470"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8906256" y="3419856"/>
            <a:ext cx="331470"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8906256" y="3593592"/>
            <a:ext cx="180594"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9829800" y="2926080"/>
            <a:ext cx="685800" cy="868680"/>
          </a:xfrm>
          <a:prstGeom prst="rect">
            <a:avLst/>
          </a:prstGeom>
          <a:solidFill>
            <a:srgbClr val="FFFFFF"/>
          </a:solidFill>
          <a:ln w="2032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829800" y="2926080"/>
            <a:ext cx="685800" cy="137160"/>
          </a:xfrm>
          <a:prstGeom prst="rect">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 name="Connector 62"/>
          <p:cNvCxnSpPr/>
          <p:nvPr/>
        </p:nvCxnSpPr>
        <p:spPr>
          <a:xfrm>
            <a:off x="9957816" y="3246120"/>
            <a:ext cx="331470"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9957816" y="3419856"/>
            <a:ext cx="331470"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9957816" y="3593592"/>
            <a:ext cx="180594"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9491472" y="3401568"/>
            <a:ext cx="301752" cy="0"/>
          </a:xfrm>
          <a:prstGeom prst="line">
            <a:avLst/>
          </a:prstGeom>
          <a:ln w="25400">
            <a:solidFill>
              <a:srgbClr val="D2AB62"/>
            </a:solidFill>
            <a:tailEnd type="triangle"/>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3977639" y="2834640"/>
            <a:ext cx="0" cy="2532888"/>
          </a:xfrm>
          <a:prstGeom prst="line">
            <a:avLst/>
          </a:prstGeom>
          <a:ln w="12700">
            <a:solidFill>
              <a:srgbClr val="CCD9CE"/>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7726679" y="2834640"/>
            <a:ext cx="0" cy="2532888"/>
          </a:xfrm>
          <a:prstGeom prst="line">
            <a:avLst/>
          </a:prstGeom>
          <a:ln w="12700">
            <a:solidFill>
              <a:srgbClr val="CCD9CE"/>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3"/>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1761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502920" y="210312"/>
            <a:ext cx="2395728" cy="448056"/>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7"/>
          <a:stretch>
            <a:fillRect/>
          </a:stretch>
        </p:blipFill>
        <p:spPr>
          <a:xfrm>
            <a:off x="603504" y="323088"/>
            <a:ext cx="585216" cy="195072"/>
          </a:xfrm>
          <a:prstGeom prst="rect">
            <a:avLst/>
          </a:prstGeom>
          <a:effectLst/>
        </p:spPr>
      </p:pic>
      <p:sp>
        <p:nvSpPr>
          <p:cNvPr id="5" name="TextBox 4"/>
          <p:cNvSpPr txBox="1"/>
          <p:nvPr/>
        </p:nvSpPr>
        <p:spPr>
          <a:xfrm>
            <a:off x="1271016" y="283464"/>
            <a:ext cx="164592" cy="228600"/>
          </a:xfrm>
          <a:prstGeom prst="rect">
            <a:avLst/>
          </a:prstGeom>
          <a:noFill/>
          <a:effectLst/>
        </p:spPr>
        <p:txBody>
          <a:bodyPr wrap="square" tIns="0" bIns="0" lIns="0" rIns="0">
            <a:spAutoFit/>
          </a:bodyPr>
          <a:lstStyle/>
          <a:p>
            <a:pPr>
              <a:spcBef>
                <a:spcPts val="0"/>
              </a:spcBef>
              <a:spcAft>
                <a:spcPts val="600"/>
              </a:spcAft>
              <a:defRPr sz="1200" b="0">
                <a:solidFill>
                  <a:srgbClr val="567168"/>
                </a:solidFill>
                <a:latin typeface="Nimbus Sans"/>
              </a:defRPr>
            </a:pPr>
            <a:r>
              <a:t>×</a:t>
            </a:r>
          </a:p>
        </p:txBody>
      </p:sp>
      <p:pic>
        <p:nvPicPr>
          <p:cNvPr id="43" name="Picture 42" descr="image.png"/>
          <p:cNvPicPr>
            <a:picLocks noChangeAspect="1"/>
          </p:cNvPicPr>
          <p:nvPr/>
        </p:nvPicPr>
        <p:blipFill>
          <a:blip r:embed="rId8"/>
          <a:stretch>
            <a:fillRect/>
          </a:stretch>
        </p:blipFill>
        <p:spPr>
          <a:xfrm>
            <a:off x="1536192" y="334792"/>
            <a:ext cx="1243584" cy="153375"/>
          </a:xfrm>
          <a:prstGeom prst="rect">
            <a:avLst/>
          </a:prstGeom>
          <a:effectLst/>
        </p:spPr>
      </p:pic>
      <p:sp>
        <p:nvSpPr>
          <p:cNvPr id="7" name="TextBox 6"/>
          <p:cNvSpPr txBox="1"/>
          <p:nvPr/>
        </p:nvSpPr>
        <p:spPr>
          <a:xfrm>
            <a:off x="5486400" y="356616"/>
            <a:ext cx="6062472" cy="237744"/>
          </a:xfrm>
          <a:prstGeom prst="rect">
            <a:avLst/>
          </a:prstGeom>
          <a:noFill/>
          <a:effectLst/>
        </p:spPr>
        <p:txBody>
          <a:bodyPr wrap="square" tIns="0" bIns="0" lIns="0" rIns="0">
            <a:spAutoFit/>
          </a:bodyPr>
          <a:lstStyle/>
          <a:p>
            <a:pPr algn="r">
              <a:spcBef>
                <a:spcPts val="0"/>
              </a:spcBef>
              <a:spcAft>
                <a:spcPts val="600"/>
              </a:spcAft>
              <a:defRPr sz="1000" b="1">
                <a:solidFill>
                  <a:srgbClr val="17613F"/>
                </a:solidFill>
                <a:latin typeface="Nimbus Sans"/>
              </a:defRPr>
            </a:pPr>
            <a:r>
              <a:t>02 / TECHNICAL SEO</a:t>
            </a:r>
          </a:p>
        </p:txBody>
      </p:sp>
      <p:sp>
        <p:nvSpPr>
          <p:cNvPr id="8" name="TextBox 7"/>
          <p:cNvSpPr txBox="1"/>
          <p:nvPr/>
        </p:nvSpPr>
        <p:spPr>
          <a:xfrm>
            <a:off x="594360" y="960120"/>
            <a:ext cx="10972800" cy="822960"/>
          </a:xfrm>
          <a:prstGeom prst="rect">
            <a:avLst/>
          </a:prstGeom>
          <a:noFill/>
          <a:effectLst/>
        </p:spPr>
        <p:txBody>
          <a:bodyPr wrap="square" tIns="0" bIns="0" lIns="0" rIns="0">
            <a:spAutoFit/>
          </a:bodyPr>
          <a:lstStyle/>
          <a:p>
            <a:pPr>
              <a:spcBef>
                <a:spcPts val="0"/>
              </a:spcBef>
              <a:spcAft>
                <a:spcPts val="400"/>
              </a:spcAft>
              <a:defRPr sz="3100" b="1">
                <a:solidFill>
                  <a:srgbClr val="193E32"/>
                </a:solidFill>
                <a:latin typeface="Nimbus Sans"/>
              </a:defRPr>
            </a:pPr>
            <a:r>
              <a:rPr sz="3100"/>
              <a:t>Bagaimana Google menemukan halaman?</a:t>
            </a:r>
          </a:p>
        </p:txBody>
      </p:sp>
      <p:sp>
        <p:nvSpPr>
          <p:cNvPr id="9" name="TextBox 8"/>
          <p:cNvSpPr txBox="1"/>
          <p:nvPr/>
        </p:nvSpPr>
        <p:spPr>
          <a:xfrm>
            <a:off x="594360" y="1792224"/>
            <a:ext cx="10972800" cy="594360"/>
          </a:xfrm>
          <a:prstGeom prst="rect">
            <a:avLst/>
          </a:prstGeom>
          <a:noFill/>
          <a:effectLst/>
        </p:spPr>
        <p:txBody>
          <a:bodyPr wrap="square" tIns="0" bIns="0" lIns="0" rIns="0">
            <a:spAutoFit/>
          </a:bodyPr>
          <a:lstStyle/>
          <a:p>
            <a:pPr>
              <a:spcBef>
                <a:spcPts val="0"/>
              </a:spcBef>
              <a:spcAft>
                <a:spcPts val="400"/>
              </a:spcAft>
              <a:defRPr sz="1700" b="0">
                <a:solidFill>
                  <a:srgbClr val="567168"/>
                </a:solidFill>
                <a:latin typeface="Nimbus Sans"/>
              </a:defRPr>
            </a:pPr>
            <a:r>
              <a:rPr sz="1700"/>
              <a:t>Google perlu menemukan dan membaca halaman, lalu menilai apakah halaman layak disimpan dan ditampilkan.</a:t>
            </a:r>
          </a:p>
        </p:txBody>
      </p:sp>
      <p:sp>
        <p:nvSpPr>
          <p:cNvPr id="10" name="TextBox 9"/>
          <p:cNvSpPr txBox="1"/>
          <p:nvPr/>
        </p:nvSpPr>
        <p:spPr>
          <a:xfrm>
            <a:off x="594360" y="6437376"/>
            <a:ext cx="10287000" cy="219456"/>
          </a:xfrm>
          <a:prstGeom prst="rect">
            <a:avLst/>
          </a:prstGeom>
          <a:noFill/>
          <a:effectLst/>
        </p:spPr>
        <p:txBody>
          <a:bodyPr wrap="square" tIns="0" bIns="0" lIns="0" rIns="0">
            <a:spAutoFit/>
          </a:bodyPr>
          <a:lstStyle/>
          <a:p>
            <a:pPr>
              <a:spcBef>
                <a:spcPts val="0"/>
              </a:spcBef>
              <a:spcAft>
                <a:spcPts val="400"/>
              </a:spcAft>
              <a:defRPr sz="900" b="0">
                <a:solidFill>
                  <a:srgbClr val="567168"/>
                </a:solidFill>
                <a:latin typeface="Nimbus Sans"/>
              </a:defRPr>
            </a:pPr>
            <a:r>
              <a:rPr sz="900"/>
              <a:t>Contoh untuk penjelasan, bukan hasil audit Mecosin.</a:t>
            </a:r>
          </a:p>
        </p:txBody>
      </p:sp>
      <p:sp>
        <p:nvSpPr>
          <p:cNvPr id="11" name="TextBox 10"/>
          <p:cNvSpPr txBox="1"/>
          <p:nvPr/>
        </p:nvSpPr>
        <p:spPr>
          <a:xfrm>
            <a:off x="11091672" y="6391656"/>
            <a:ext cx="457200" cy="256032"/>
          </a:xfrm>
          <a:prstGeom prst="rect">
            <a:avLst/>
          </a:prstGeom>
          <a:noFill/>
          <a:effectLst/>
        </p:spPr>
        <p:txBody>
          <a:bodyPr wrap="square" tIns="0" bIns="0" lIns="0" rIns="0">
            <a:spAutoFit/>
          </a:bodyPr>
          <a:lstStyle/>
          <a:p>
            <a:pPr>
              <a:spcBef>
                <a:spcPts val="0"/>
              </a:spcBef>
              <a:spcAft>
                <a:spcPts val="600"/>
              </a:spcAft>
              <a:defRPr sz="1200" b="1">
                <a:solidFill>
                  <a:srgbClr val="17613F"/>
                </a:solidFill>
                <a:latin typeface="Nimbus Sans"/>
              </a:defRPr>
            </a:pPr>
            <a:r>
              <a:t>05</a:t>
            </a:r>
          </a:p>
        </p:txBody>
      </p:sp>
      <p:sp>
        <p:nvSpPr>
          <p:cNvPr id="12" name="Rectangle 11"/>
          <p:cNvSpPr/>
          <p:nvPr/>
        </p:nvSpPr>
        <p:spPr>
          <a:xfrm>
            <a:off x="566928"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2432304" y="6739128"/>
            <a:ext cx="1755648" cy="32004"/>
          </a:xfrm>
          <a:prstGeom prst="rect">
            <a:avLst/>
          </a:prstGeom>
          <a:solidFill>
            <a:srgbClr val="D2AB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297680"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163056"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8028431"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893807"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594360" y="5833872"/>
            <a:ext cx="10972800" cy="484632"/>
          </a:xfrm>
          <a:prstGeom prst="roundRect">
            <a:avLst>
              <a:gd name="adj" fmla="val 3500"/>
            </a:avLst>
          </a:prstGeom>
          <a:solidFill>
            <a:srgbClr val="E4EE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777240" y="5943600"/>
            <a:ext cx="10607040" cy="283464"/>
          </a:xfrm>
          <a:prstGeom prst="rect">
            <a:avLst/>
          </a:prstGeom>
          <a:noFill/>
          <a:effectLst/>
        </p:spPr>
        <p:txBody>
          <a:bodyPr wrap="square" tIns="0" bIns="0" lIns="0" rIns="0">
            <a:spAutoFit/>
          </a:bodyPr>
          <a:lstStyle/>
          <a:p>
            <a:pPr>
              <a:spcBef>
                <a:spcPts val="0"/>
              </a:spcBef>
              <a:spcAft>
                <a:spcPts val="400"/>
              </a:spcAft>
              <a:defRPr sz="1200" b="0">
                <a:solidFill>
                  <a:srgbClr val="17613F"/>
                </a:solidFill>
                <a:latin typeface="Nimbus Sans"/>
              </a:defRPr>
            </a:pPr>
            <a:r>
              <a:rPr sz="1200"/>
              <a:t>Contoh: Google menemukan halaman Laserin lewat link atau sitemap. Masuk indeks belum berarti peringkatnya tinggi.</a:t>
            </a:r>
          </a:p>
        </p:txBody>
      </p:sp>
      <p:sp>
        <p:nvSpPr>
          <p:cNvPr id="44" name="Oval 43"/>
          <p:cNvSpPr/>
          <p:nvPr/>
        </p:nvSpPr>
        <p:spPr>
          <a:xfrm>
            <a:off x="777240" y="2615184"/>
            <a:ext cx="356616" cy="356616"/>
          </a:xfrm>
          <a:prstGeom prst="ellips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7240" y="2674620"/>
            <a:ext cx="356616" cy="210312"/>
          </a:xfrm>
          <a:prstGeom prst="rect">
            <a:avLst/>
          </a:prstGeom>
          <a:noFill/>
        </p:spPr>
        <p:txBody>
          <a:bodyPr wrap="square" lIns="0" rIns="0" tIns="0" bIns="0">
            <a:spAutoFit/>
          </a:bodyPr>
          <a:lstStyle/>
          <a:p>
            <a:pPr algn="ctr">
              <a:spcAft>
                <a:spcPts val="0"/>
              </a:spcAft>
            </a:pPr>
            <a:r>
              <a:rPr sz="1200" b="1">
                <a:solidFill>
                  <a:srgbClr val="FFFFFF"/>
                </a:solidFill>
                <a:latin typeface="Nimbus Sans"/>
              </a:rPr>
              <a:t>01</a:t>
            </a:r>
          </a:p>
        </p:txBody>
      </p:sp>
      <p:sp>
        <p:nvSpPr>
          <p:cNvPr id="46" name="TextBox 45"/>
          <p:cNvSpPr txBox="1"/>
          <p:nvPr/>
        </p:nvSpPr>
        <p:spPr>
          <a:xfrm>
            <a:off x="1261872" y="2633472"/>
            <a:ext cx="2788920" cy="365760"/>
          </a:xfrm>
          <a:prstGeom prst="rect">
            <a:avLst/>
          </a:prstGeom>
          <a:noFill/>
        </p:spPr>
        <p:txBody>
          <a:bodyPr wrap="square" lIns="0" rIns="0" tIns="0" bIns="0">
            <a:spAutoFit/>
          </a:bodyPr>
          <a:lstStyle/>
          <a:p>
            <a:pPr algn="l">
              <a:spcAft>
                <a:spcPts val="0"/>
              </a:spcAft>
            </a:pPr>
            <a:r>
              <a:rPr sz="2300" b="1">
                <a:solidFill>
                  <a:srgbClr val="17613F"/>
                </a:solidFill>
                <a:latin typeface="Nimbus Sans"/>
              </a:rPr>
              <a:t>Crawling</a:t>
            </a:r>
          </a:p>
        </p:txBody>
      </p:sp>
      <p:sp>
        <p:nvSpPr>
          <p:cNvPr id="47" name="Oval 46"/>
          <p:cNvSpPr/>
          <p:nvPr/>
        </p:nvSpPr>
        <p:spPr>
          <a:xfrm>
            <a:off x="4709160" y="2615184"/>
            <a:ext cx="356616" cy="356616"/>
          </a:xfrm>
          <a:prstGeom prst="ellips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709160" y="2674620"/>
            <a:ext cx="356616" cy="210312"/>
          </a:xfrm>
          <a:prstGeom prst="rect">
            <a:avLst/>
          </a:prstGeom>
          <a:noFill/>
        </p:spPr>
        <p:txBody>
          <a:bodyPr wrap="square" lIns="0" rIns="0" tIns="0" bIns="0">
            <a:spAutoFit/>
          </a:bodyPr>
          <a:lstStyle/>
          <a:p>
            <a:pPr algn="ctr">
              <a:spcAft>
                <a:spcPts val="0"/>
              </a:spcAft>
            </a:pPr>
            <a:r>
              <a:rPr sz="1200" b="1">
                <a:solidFill>
                  <a:srgbClr val="FFFFFF"/>
                </a:solidFill>
                <a:latin typeface="Nimbus Sans"/>
              </a:rPr>
              <a:t>02</a:t>
            </a:r>
          </a:p>
        </p:txBody>
      </p:sp>
      <p:sp>
        <p:nvSpPr>
          <p:cNvPr id="49" name="TextBox 48"/>
          <p:cNvSpPr txBox="1"/>
          <p:nvPr/>
        </p:nvSpPr>
        <p:spPr>
          <a:xfrm>
            <a:off x="5193792" y="2633472"/>
            <a:ext cx="2788920" cy="365760"/>
          </a:xfrm>
          <a:prstGeom prst="rect">
            <a:avLst/>
          </a:prstGeom>
          <a:noFill/>
        </p:spPr>
        <p:txBody>
          <a:bodyPr wrap="square" lIns="0" rIns="0" tIns="0" bIns="0">
            <a:spAutoFit/>
          </a:bodyPr>
          <a:lstStyle/>
          <a:p>
            <a:pPr algn="l">
              <a:spcAft>
                <a:spcPts val="0"/>
              </a:spcAft>
            </a:pPr>
            <a:r>
              <a:rPr sz="2300" b="1">
                <a:solidFill>
                  <a:srgbClr val="17613F"/>
                </a:solidFill>
                <a:latin typeface="Nimbus Sans"/>
              </a:rPr>
              <a:t>Indexing</a:t>
            </a:r>
          </a:p>
        </p:txBody>
      </p:sp>
      <p:sp>
        <p:nvSpPr>
          <p:cNvPr id="50" name="Oval 49"/>
          <p:cNvSpPr/>
          <p:nvPr/>
        </p:nvSpPr>
        <p:spPr>
          <a:xfrm>
            <a:off x="8549640" y="2615184"/>
            <a:ext cx="356616" cy="356616"/>
          </a:xfrm>
          <a:prstGeom prst="ellips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549640" y="2674620"/>
            <a:ext cx="356616" cy="210312"/>
          </a:xfrm>
          <a:prstGeom prst="rect">
            <a:avLst/>
          </a:prstGeom>
          <a:noFill/>
        </p:spPr>
        <p:txBody>
          <a:bodyPr wrap="square" lIns="0" rIns="0" tIns="0" bIns="0">
            <a:spAutoFit/>
          </a:bodyPr>
          <a:lstStyle/>
          <a:p>
            <a:pPr algn="ctr">
              <a:spcAft>
                <a:spcPts val="0"/>
              </a:spcAft>
            </a:pPr>
            <a:r>
              <a:rPr sz="1200" b="1">
                <a:solidFill>
                  <a:srgbClr val="FFFFFF"/>
                </a:solidFill>
                <a:latin typeface="Nimbus Sans"/>
              </a:rPr>
              <a:t>03</a:t>
            </a:r>
          </a:p>
        </p:txBody>
      </p:sp>
      <p:sp>
        <p:nvSpPr>
          <p:cNvPr id="52" name="TextBox 51"/>
          <p:cNvSpPr txBox="1"/>
          <p:nvPr/>
        </p:nvSpPr>
        <p:spPr>
          <a:xfrm>
            <a:off x="9034272" y="2633472"/>
            <a:ext cx="2788920" cy="365760"/>
          </a:xfrm>
          <a:prstGeom prst="rect">
            <a:avLst/>
          </a:prstGeom>
          <a:noFill/>
        </p:spPr>
        <p:txBody>
          <a:bodyPr wrap="square" lIns="0" rIns="0" tIns="0" bIns="0">
            <a:spAutoFit/>
          </a:bodyPr>
          <a:lstStyle/>
          <a:p>
            <a:pPr algn="l">
              <a:spcAft>
                <a:spcPts val="0"/>
              </a:spcAft>
            </a:pPr>
            <a:r>
              <a:rPr sz="2300" b="1">
                <a:solidFill>
                  <a:srgbClr val="17613F"/>
                </a:solidFill>
                <a:latin typeface="Nimbus Sans"/>
              </a:rPr>
              <a:t>Hasil pencarian</a:t>
            </a:r>
          </a:p>
        </p:txBody>
      </p:sp>
      <p:cxnSp>
        <p:nvCxnSpPr>
          <p:cNvPr id="53" name="Connector 52"/>
          <p:cNvCxnSpPr/>
          <p:nvPr/>
        </p:nvCxnSpPr>
        <p:spPr>
          <a:xfrm flipV="1">
            <a:off x="1161288" y="3575304"/>
            <a:ext cx="1234440" cy="292608"/>
          </a:xfrm>
          <a:prstGeom prst="line">
            <a:avLst/>
          </a:prstGeom>
          <a:ln w="21590">
            <a:solidFill>
              <a:srgbClr val="A7BBA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161288" y="3867912"/>
            <a:ext cx="1234440" cy="566928"/>
          </a:xfrm>
          <a:prstGeom prst="line">
            <a:avLst/>
          </a:prstGeom>
          <a:ln w="21590">
            <a:solidFill>
              <a:srgbClr val="A7BBA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2734056" y="3886200"/>
            <a:ext cx="0" cy="274320"/>
          </a:xfrm>
          <a:prstGeom prst="line">
            <a:avLst/>
          </a:prstGeom>
          <a:ln w="21590">
            <a:solidFill>
              <a:srgbClr val="A7BBA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795528" y="3447288"/>
            <a:ext cx="731520" cy="960120"/>
          </a:xfrm>
          <a:prstGeom prst="rect">
            <a:avLst/>
          </a:prstGeom>
          <a:solidFill>
            <a:srgbClr val="FFFFFF"/>
          </a:solidFill>
          <a:ln w="2032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795528" y="3447288"/>
            <a:ext cx="731520" cy="137160"/>
          </a:xfrm>
          <a:prstGeom prst="rect">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Connector 57"/>
          <p:cNvCxnSpPr/>
          <p:nvPr/>
        </p:nvCxnSpPr>
        <p:spPr>
          <a:xfrm>
            <a:off x="923544" y="3767328"/>
            <a:ext cx="362102"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923544" y="3941064"/>
            <a:ext cx="362102"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923544" y="4114800"/>
            <a:ext cx="201168"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2395728" y="3163824"/>
            <a:ext cx="694944" cy="822960"/>
          </a:xfrm>
          <a:prstGeom prst="rect">
            <a:avLst/>
          </a:prstGeom>
          <a:solidFill>
            <a:srgbClr val="FFFFFF"/>
          </a:solidFill>
          <a:ln w="2032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2395728" y="3163824"/>
            <a:ext cx="694944" cy="137160"/>
          </a:xfrm>
          <a:prstGeom prst="rect">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 name="Connector 62"/>
          <p:cNvCxnSpPr/>
          <p:nvPr/>
        </p:nvCxnSpPr>
        <p:spPr>
          <a:xfrm>
            <a:off x="2523744" y="3483864"/>
            <a:ext cx="337596"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2523744" y="3657600"/>
            <a:ext cx="337596"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2523744" y="3831335"/>
            <a:ext cx="184708"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sp>
        <p:nvSpPr>
          <p:cNvPr id="66" name="Rectangle 65"/>
          <p:cNvSpPr/>
          <p:nvPr/>
        </p:nvSpPr>
        <p:spPr>
          <a:xfrm>
            <a:off x="2395728" y="4160520"/>
            <a:ext cx="694944" cy="822960"/>
          </a:xfrm>
          <a:prstGeom prst="rect">
            <a:avLst/>
          </a:prstGeom>
          <a:solidFill>
            <a:srgbClr val="FFFFFF"/>
          </a:solidFill>
          <a:ln w="2032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2395728" y="4160520"/>
            <a:ext cx="694944" cy="137160"/>
          </a:xfrm>
          <a:prstGeom prst="rect">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8" name="Connector 67"/>
          <p:cNvCxnSpPr/>
          <p:nvPr/>
        </p:nvCxnSpPr>
        <p:spPr>
          <a:xfrm>
            <a:off x="2523744" y="4480559"/>
            <a:ext cx="337596"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2523744" y="4654296"/>
            <a:ext cx="337596"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2523744" y="4828031"/>
            <a:ext cx="184708"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sp>
        <p:nvSpPr>
          <p:cNvPr id="71" name="Oval 70"/>
          <p:cNvSpPr/>
          <p:nvPr/>
        </p:nvSpPr>
        <p:spPr>
          <a:xfrm>
            <a:off x="1325880" y="3703320"/>
            <a:ext cx="603504" cy="603504"/>
          </a:xfrm>
          <a:prstGeom prst="ellipse">
            <a:avLst/>
          </a:prstGeom>
          <a:noFill/>
          <a:ln w="3048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2" name="Connector 71"/>
          <p:cNvCxnSpPr/>
          <p:nvPr/>
        </p:nvCxnSpPr>
        <p:spPr>
          <a:xfrm>
            <a:off x="1826788" y="4204228"/>
            <a:ext cx="283647" cy="283647"/>
          </a:xfrm>
          <a:prstGeom prst="line">
            <a:avLst/>
          </a:prstGeom>
          <a:ln w="38100">
            <a:solidFill>
              <a:srgbClr val="17613F"/>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749808" y="5148072"/>
            <a:ext cx="2560320" cy="274320"/>
          </a:xfrm>
          <a:prstGeom prst="rect">
            <a:avLst/>
          </a:prstGeom>
          <a:noFill/>
        </p:spPr>
        <p:txBody>
          <a:bodyPr wrap="square" lIns="0" rIns="0" tIns="0" bIns="0">
            <a:spAutoFit/>
          </a:bodyPr>
          <a:lstStyle/>
          <a:p>
            <a:pPr algn="ctr">
              <a:spcAft>
                <a:spcPts val="0"/>
              </a:spcAft>
            </a:pPr>
            <a:r>
              <a:rPr sz="1600" b="0">
                <a:solidFill>
                  <a:srgbClr val="567168"/>
                </a:solidFill>
                <a:latin typeface="Nimbus Sans"/>
              </a:rPr>
              <a:t>Link &amp; sitemap</a:t>
            </a:r>
          </a:p>
        </p:txBody>
      </p:sp>
      <p:cxnSp>
        <p:nvCxnSpPr>
          <p:cNvPr id="74" name="Connector 73"/>
          <p:cNvCxnSpPr/>
          <p:nvPr/>
        </p:nvCxnSpPr>
        <p:spPr>
          <a:xfrm>
            <a:off x="3310128" y="3977639"/>
            <a:ext cx="1097280" cy="0"/>
          </a:xfrm>
          <a:prstGeom prst="line">
            <a:avLst/>
          </a:prstGeom>
          <a:ln w="38100">
            <a:solidFill>
              <a:srgbClr val="D2AB62"/>
            </a:solidFill>
            <a:tailEnd type="triangle"/>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3310128" y="3538728"/>
            <a:ext cx="1097280" cy="256032"/>
          </a:xfrm>
          <a:prstGeom prst="rect">
            <a:avLst/>
          </a:prstGeom>
          <a:noFill/>
        </p:spPr>
        <p:txBody>
          <a:bodyPr wrap="square" lIns="0" rIns="0" tIns="0" bIns="0">
            <a:spAutoFit/>
          </a:bodyPr>
          <a:lstStyle/>
          <a:p>
            <a:pPr algn="ctr">
              <a:spcAft>
                <a:spcPts val="0"/>
              </a:spcAft>
            </a:pPr>
            <a:r>
              <a:rPr sz="1400" b="0">
                <a:solidFill>
                  <a:srgbClr val="567168"/>
                </a:solidFill>
                <a:latin typeface="Nimbus Sans"/>
              </a:rPr>
              <a:t>Dinilai</a:t>
            </a:r>
          </a:p>
        </p:txBody>
      </p:sp>
      <p:sp>
        <p:nvSpPr>
          <p:cNvPr id="76" name="Can 75"/>
          <p:cNvSpPr/>
          <p:nvPr/>
        </p:nvSpPr>
        <p:spPr>
          <a:xfrm>
            <a:off x="5010912" y="3227832"/>
            <a:ext cx="1801368" cy="1627632"/>
          </a:xfrm>
          <a:prstGeom prst="can">
            <a:avLst/>
          </a:prstGeom>
          <a:solidFill>
            <a:srgbClr val="E4EEDC"/>
          </a:solidFill>
          <a:ln w="2540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7" name="Connector 76"/>
          <p:cNvCxnSpPr/>
          <p:nvPr/>
        </p:nvCxnSpPr>
        <p:spPr>
          <a:xfrm>
            <a:off x="5266944" y="3803904"/>
            <a:ext cx="1225296" cy="0"/>
          </a:xfrm>
          <a:prstGeom prst="line">
            <a:avLst/>
          </a:prstGeom>
          <a:ln w="17780">
            <a:solidFill>
              <a:srgbClr val="17613F"/>
            </a:solidFill>
          </a:ln>
        </p:spPr>
        <p:style>
          <a:lnRef idx="2">
            <a:schemeClr val="accent1"/>
          </a:lnRef>
          <a:fillRef idx="0">
            <a:schemeClr val="accent1"/>
          </a:fillRef>
          <a:effectRef idx="1">
            <a:schemeClr val="accent1"/>
          </a:effectRef>
          <a:fontRef idx="minor">
            <a:schemeClr val="tx1"/>
          </a:fontRef>
        </p:style>
      </p:cxnSp>
      <p:sp>
        <p:nvSpPr>
          <p:cNvPr id="78" name="Oval 77"/>
          <p:cNvSpPr/>
          <p:nvPr/>
        </p:nvSpPr>
        <p:spPr>
          <a:xfrm>
            <a:off x="5212080" y="3767328"/>
            <a:ext cx="73152" cy="73152"/>
          </a:xfrm>
          <a:prstGeom prst="ellips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9" name="Connector 78"/>
          <p:cNvCxnSpPr/>
          <p:nvPr/>
        </p:nvCxnSpPr>
        <p:spPr>
          <a:xfrm>
            <a:off x="5266944" y="4133087"/>
            <a:ext cx="1225296" cy="0"/>
          </a:xfrm>
          <a:prstGeom prst="line">
            <a:avLst/>
          </a:prstGeom>
          <a:ln w="17780">
            <a:solidFill>
              <a:srgbClr val="17613F"/>
            </a:solidFill>
          </a:ln>
        </p:spPr>
        <p:style>
          <a:lnRef idx="2">
            <a:schemeClr val="accent1"/>
          </a:lnRef>
          <a:fillRef idx="0">
            <a:schemeClr val="accent1"/>
          </a:fillRef>
          <a:effectRef idx="1">
            <a:schemeClr val="accent1"/>
          </a:effectRef>
          <a:fontRef idx="minor">
            <a:schemeClr val="tx1"/>
          </a:fontRef>
        </p:style>
      </p:cxnSp>
      <p:sp>
        <p:nvSpPr>
          <p:cNvPr id="80" name="Oval 79"/>
          <p:cNvSpPr/>
          <p:nvPr/>
        </p:nvSpPr>
        <p:spPr>
          <a:xfrm>
            <a:off x="5212080" y="4096511"/>
            <a:ext cx="73152" cy="73152"/>
          </a:xfrm>
          <a:prstGeom prst="ellips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1" name="Connector 80"/>
          <p:cNvCxnSpPr/>
          <p:nvPr/>
        </p:nvCxnSpPr>
        <p:spPr>
          <a:xfrm>
            <a:off x="5266944" y="4462272"/>
            <a:ext cx="1225296" cy="0"/>
          </a:xfrm>
          <a:prstGeom prst="line">
            <a:avLst/>
          </a:prstGeom>
          <a:ln w="17780">
            <a:solidFill>
              <a:srgbClr val="17613F"/>
            </a:solidFill>
          </a:ln>
        </p:spPr>
        <p:style>
          <a:lnRef idx="2">
            <a:schemeClr val="accent1"/>
          </a:lnRef>
          <a:fillRef idx="0">
            <a:schemeClr val="accent1"/>
          </a:fillRef>
          <a:effectRef idx="1">
            <a:schemeClr val="accent1"/>
          </a:effectRef>
          <a:fontRef idx="minor">
            <a:schemeClr val="tx1"/>
          </a:fontRef>
        </p:style>
      </p:cxnSp>
      <p:sp>
        <p:nvSpPr>
          <p:cNvPr id="82" name="Oval 81"/>
          <p:cNvSpPr/>
          <p:nvPr/>
        </p:nvSpPr>
        <p:spPr>
          <a:xfrm>
            <a:off x="5212080" y="4425696"/>
            <a:ext cx="73152" cy="73152"/>
          </a:xfrm>
          <a:prstGeom prst="ellips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599432" y="5148072"/>
            <a:ext cx="2606040" cy="274320"/>
          </a:xfrm>
          <a:prstGeom prst="rect">
            <a:avLst/>
          </a:prstGeom>
          <a:noFill/>
        </p:spPr>
        <p:txBody>
          <a:bodyPr wrap="square" lIns="0" rIns="0" tIns="0" bIns="0">
            <a:spAutoFit/>
          </a:bodyPr>
          <a:lstStyle/>
          <a:p>
            <a:pPr algn="ctr">
              <a:spcAft>
                <a:spcPts val="0"/>
              </a:spcAft>
            </a:pPr>
            <a:r>
              <a:rPr sz="1600" b="0">
                <a:solidFill>
                  <a:srgbClr val="567168"/>
                </a:solidFill>
                <a:latin typeface="Nimbus Sans"/>
              </a:rPr>
              <a:t>Halaman layak diindeks</a:t>
            </a:r>
          </a:p>
        </p:txBody>
      </p:sp>
      <p:cxnSp>
        <p:nvCxnSpPr>
          <p:cNvPr id="84" name="Connector 83"/>
          <p:cNvCxnSpPr/>
          <p:nvPr/>
        </p:nvCxnSpPr>
        <p:spPr>
          <a:xfrm>
            <a:off x="7059168" y="3977639"/>
            <a:ext cx="1024128" cy="0"/>
          </a:xfrm>
          <a:prstGeom prst="line">
            <a:avLst/>
          </a:prstGeom>
          <a:ln w="38100">
            <a:solidFill>
              <a:srgbClr val="D2AB62"/>
            </a:solidFill>
            <a:tailEnd type="triangle"/>
          </a:ln>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7059168" y="3538728"/>
            <a:ext cx="1024128" cy="256032"/>
          </a:xfrm>
          <a:prstGeom prst="rect">
            <a:avLst/>
          </a:prstGeom>
          <a:noFill/>
        </p:spPr>
        <p:txBody>
          <a:bodyPr wrap="square" lIns="0" rIns="0" tIns="0" bIns="0">
            <a:spAutoFit/>
          </a:bodyPr>
          <a:lstStyle/>
          <a:p>
            <a:pPr algn="ctr">
              <a:spcAft>
                <a:spcPts val="0"/>
              </a:spcAft>
            </a:pPr>
            <a:r>
              <a:rPr sz="1400" b="0">
                <a:solidFill>
                  <a:srgbClr val="567168"/>
                </a:solidFill>
                <a:latin typeface="Nimbus Sans"/>
              </a:rPr>
              <a:t>Dipilih</a:t>
            </a:r>
          </a:p>
        </p:txBody>
      </p:sp>
      <p:sp>
        <p:nvSpPr>
          <p:cNvPr id="86" name="Rounded Rectangle 85"/>
          <p:cNvSpPr/>
          <p:nvPr/>
        </p:nvSpPr>
        <p:spPr>
          <a:xfrm>
            <a:off x="8321040" y="3200400"/>
            <a:ext cx="2926080" cy="438912"/>
          </a:xfrm>
          <a:prstGeom prst="roundRect">
            <a:avLst/>
          </a:prstGeom>
          <a:solidFill>
            <a:srgbClr val="FFFFFF"/>
          </a:solidFill>
          <a:ln w="20320">
            <a:solidFill>
              <a:srgbClr val="A7BB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8485632" y="3310128"/>
            <a:ext cx="155448" cy="155448"/>
          </a:xfrm>
          <a:prstGeom prst="ellipse">
            <a:avLst/>
          </a:prstGeom>
          <a:noFill/>
          <a:ln w="3048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8" name="Connector 87"/>
          <p:cNvCxnSpPr/>
          <p:nvPr/>
        </p:nvCxnSpPr>
        <p:spPr>
          <a:xfrm>
            <a:off x="8614653" y="3439149"/>
            <a:ext cx="73061" cy="73061"/>
          </a:xfrm>
          <a:prstGeom prst="line">
            <a:avLst/>
          </a:prstGeom>
          <a:ln w="38100">
            <a:solidFill>
              <a:srgbClr val="17613F"/>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8851392" y="3300984"/>
            <a:ext cx="2212848" cy="237744"/>
          </a:xfrm>
          <a:prstGeom prst="rect">
            <a:avLst/>
          </a:prstGeom>
          <a:noFill/>
        </p:spPr>
        <p:txBody>
          <a:bodyPr wrap="square" lIns="0" rIns="0" tIns="0" bIns="0">
            <a:spAutoFit/>
          </a:bodyPr>
          <a:lstStyle/>
          <a:p>
            <a:pPr algn="l">
              <a:spcAft>
                <a:spcPts val="0"/>
              </a:spcAft>
            </a:pPr>
            <a:r>
              <a:rPr sz="1500" b="0">
                <a:solidFill>
                  <a:srgbClr val="193E32"/>
                </a:solidFill>
                <a:latin typeface="Nimbus Sans"/>
              </a:rPr>
              <a:t>Laserin sachet</a:t>
            </a:r>
          </a:p>
        </p:txBody>
      </p:sp>
      <p:sp>
        <p:nvSpPr>
          <p:cNvPr id="90" name="TextBox 89"/>
          <p:cNvSpPr txBox="1"/>
          <p:nvPr/>
        </p:nvSpPr>
        <p:spPr>
          <a:xfrm>
            <a:off x="8366760" y="3840480"/>
            <a:ext cx="2651760" cy="210312"/>
          </a:xfrm>
          <a:prstGeom prst="rect">
            <a:avLst/>
          </a:prstGeom>
          <a:noFill/>
        </p:spPr>
        <p:txBody>
          <a:bodyPr wrap="square" lIns="0" rIns="0" tIns="0" bIns="0">
            <a:spAutoFit/>
          </a:bodyPr>
          <a:lstStyle/>
          <a:p>
            <a:pPr algn="l">
              <a:spcAft>
                <a:spcPts val="0"/>
              </a:spcAft>
            </a:pPr>
            <a:r>
              <a:rPr sz="1200" b="0">
                <a:solidFill>
                  <a:srgbClr val="567168"/>
                </a:solidFill>
                <a:latin typeface="Nimbus Sans"/>
              </a:rPr>
              <a:t>mecosin.id</a:t>
            </a:r>
          </a:p>
        </p:txBody>
      </p:sp>
      <p:sp>
        <p:nvSpPr>
          <p:cNvPr id="91" name="TextBox 90"/>
          <p:cNvSpPr txBox="1"/>
          <p:nvPr/>
        </p:nvSpPr>
        <p:spPr>
          <a:xfrm>
            <a:off x="8366760" y="4169663"/>
            <a:ext cx="2880360" cy="310896"/>
          </a:xfrm>
          <a:prstGeom prst="rect">
            <a:avLst/>
          </a:prstGeom>
          <a:noFill/>
        </p:spPr>
        <p:txBody>
          <a:bodyPr wrap="square" lIns="0" rIns="0" tIns="0" bIns="0">
            <a:spAutoFit/>
          </a:bodyPr>
          <a:lstStyle/>
          <a:p>
            <a:pPr algn="l">
              <a:spcAft>
                <a:spcPts val="0"/>
              </a:spcAft>
            </a:pPr>
            <a:r>
              <a:rPr sz="1800" b="1">
                <a:solidFill>
                  <a:srgbClr val="247CA2"/>
                </a:solidFill>
                <a:latin typeface="Nimbus Sans"/>
              </a:rPr>
              <a:t>Laserin Sachet | Mecosin</a:t>
            </a:r>
          </a:p>
        </p:txBody>
      </p:sp>
      <p:cxnSp>
        <p:nvCxnSpPr>
          <p:cNvPr id="92" name="Connector 91"/>
          <p:cNvCxnSpPr/>
          <p:nvPr/>
        </p:nvCxnSpPr>
        <p:spPr>
          <a:xfrm>
            <a:off x="8375904" y="4645152"/>
            <a:ext cx="2651760" cy="0"/>
          </a:xfrm>
          <a:prstGeom prst="line">
            <a:avLst/>
          </a:prstGeom>
          <a:ln w="38100">
            <a:solidFill>
              <a:srgbClr val="B8C9B9"/>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8375904" y="4828032"/>
            <a:ext cx="1920240" cy="0"/>
          </a:xfrm>
          <a:prstGeom prst="line">
            <a:avLst/>
          </a:prstGeom>
          <a:ln w="38100">
            <a:solidFill>
              <a:srgbClr val="B8C9B9"/>
            </a:solidFill>
          </a:ln>
        </p:spPr>
        <p:style>
          <a:lnRef idx="2">
            <a:schemeClr val="accent1"/>
          </a:lnRef>
          <a:fillRef idx="0">
            <a:schemeClr val="accent1"/>
          </a:fillRef>
          <a:effectRef idx="1">
            <a:schemeClr val="accent1"/>
          </a:effectRef>
          <a:fontRef idx="minor">
            <a:schemeClr val="tx1"/>
          </a:fontRef>
        </p:style>
      </p:cxnSp>
      <p:sp>
        <p:nvSpPr>
          <p:cNvPr id="94" name="TextBox 93"/>
          <p:cNvSpPr txBox="1"/>
          <p:nvPr/>
        </p:nvSpPr>
        <p:spPr>
          <a:xfrm>
            <a:off x="8247888" y="5148072"/>
            <a:ext cx="3127248" cy="274320"/>
          </a:xfrm>
          <a:prstGeom prst="rect">
            <a:avLst/>
          </a:prstGeom>
          <a:noFill/>
        </p:spPr>
        <p:txBody>
          <a:bodyPr wrap="square" lIns="0" rIns="0" tIns="0" bIns="0">
            <a:spAutoFit/>
          </a:bodyPr>
          <a:lstStyle/>
          <a:p>
            <a:pPr algn="ctr">
              <a:spcAft>
                <a:spcPts val="0"/>
              </a:spcAft>
            </a:pPr>
            <a:r>
              <a:rPr sz="1600" b="0">
                <a:solidFill>
                  <a:srgbClr val="567168"/>
                </a:solidFill>
                <a:latin typeface="Nimbus Sans"/>
              </a:rPr>
              <a:t>Dipilih sesuai pencarian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3"/>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1761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502920" y="210312"/>
            <a:ext cx="2395728" cy="448056"/>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5" name="Picture 34" descr="image.png"/>
          <p:cNvPicPr>
            <a:picLocks noChangeAspect="1"/>
          </p:cNvPicPr>
          <p:nvPr/>
        </p:nvPicPr>
        <p:blipFill>
          <a:blip r:embed="rId6"/>
          <a:stretch>
            <a:fillRect/>
          </a:stretch>
        </p:blipFill>
        <p:spPr>
          <a:xfrm>
            <a:off x="603504" y="323088"/>
            <a:ext cx="585216" cy="195072"/>
          </a:xfrm>
          <a:prstGeom prst="rect">
            <a:avLst/>
          </a:prstGeom>
          <a:effectLst/>
        </p:spPr>
      </p:pic>
      <p:sp>
        <p:nvSpPr>
          <p:cNvPr id="5" name="TextBox 4"/>
          <p:cNvSpPr txBox="1"/>
          <p:nvPr/>
        </p:nvSpPr>
        <p:spPr>
          <a:xfrm>
            <a:off x="1271016" y="283464"/>
            <a:ext cx="164592" cy="228600"/>
          </a:xfrm>
          <a:prstGeom prst="rect">
            <a:avLst/>
          </a:prstGeom>
          <a:noFill/>
          <a:effectLst/>
        </p:spPr>
        <p:txBody>
          <a:bodyPr wrap="square" tIns="0" bIns="0" lIns="0" rIns="0">
            <a:spAutoFit/>
          </a:bodyPr>
          <a:lstStyle/>
          <a:p>
            <a:pPr>
              <a:spcBef>
                <a:spcPts val="0"/>
              </a:spcBef>
              <a:spcAft>
                <a:spcPts val="600"/>
              </a:spcAft>
              <a:defRPr sz="1200" b="0">
                <a:solidFill>
                  <a:srgbClr val="567168"/>
                </a:solidFill>
                <a:latin typeface="Nimbus Sans"/>
              </a:defRPr>
            </a:pPr>
            <a:r>
              <a:t>×</a:t>
            </a:r>
          </a:p>
        </p:txBody>
      </p:sp>
      <p:pic>
        <p:nvPicPr>
          <p:cNvPr id="36" name="Picture 35" descr="image.png"/>
          <p:cNvPicPr>
            <a:picLocks noChangeAspect="1"/>
          </p:cNvPicPr>
          <p:nvPr/>
        </p:nvPicPr>
        <p:blipFill>
          <a:blip r:embed="rId7"/>
          <a:stretch>
            <a:fillRect/>
          </a:stretch>
        </p:blipFill>
        <p:spPr>
          <a:xfrm>
            <a:off x="1536192" y="334792"/>
            <a:ext cx="1243584" cy="153375"/>
          </a:xfrm>
          <a:prstGeom prst="rect">
            <a:avLst/>
          </a:prstGeom>
          <a:effectLst/>
        </p:spPr>
      </p:pic>
      <p:sp>
        <p:nvSpPr>
          <p:cNvPr id="7" name="TextBox 6"/>
          <p:cNvSpPr txBox="1"/>
          <p:nvPr/>
        </p:nvSpPr>
        <p:spPr>
          <a:xfrm>
            <a:off x="5486400" y="356616"/>
            <a:ext cx="6062472" cy="237744"/>
          </a:xfrm>
          <a:prstGeom prst="rect">
            <a:avLst/>
          </a:prstGeom>
          <a:noFill/>
          <a:effectLst/>
        </p:spPr>
        <p:txBody>
          <a:bodyPr wrap="square" tIns="0" bIns="0" lIns="0" rIns="0">
            <a:spAutoFit/>
          </a:bodyPr>
          <a:lstStyle/>
          <a:p>
            <a:pPr algn="r">
              <a:spcBef>
                <a:spcPts val="0"/>
              </a:spcBef>
              <a:spcAft>
                <a:spcPts val="600"/>
              </a:spcAft>
              <a:defRPr sz="1000" b="1">
                <a:solidFill>
                  <a:srgbClr val="17613F"/>
                </a:solidFill>
                <a:latin typeface="Nimbus Sans"/>
              </a:defRPr>
            </a:pPr>
            <a:r>
              <a:t>02 / TECHNICAL SEO</a:t>
            </a:r>
          </a:p>
        </p:txBody>
      </p:sp>
      <p:sp>
        <p:nvSpPr>
          <p:cNvPr id="8" name="TextBox 7"/>
          <p:cNvSpPr txBox="1"/>
          <p:nvPr/>
        </p:nvSpPr>
        <p:spPr>
          <a:xfrm>
            <a:off x="594360" y="960120"/>
            <a:ext cx="10972800" cy="822960"/>
          </a:xfrm>
          <a:prstGeom prst="rect">
            <a:avLst/>
          </a:prstGeom>
          <a:noFill/>
          <a:effectLst/>
        </p:spPr>
        <p:txBody>
          <a:bodyPr wrap="square" tIns="0" bIns="0" lIns="0" rIns="0">
            <a:spAutoFit/>
          </a:bodyPr>
          <a:lstStyle/>
          <a:p>
            <a:pPr>
              <a:spcBef>
                <a:spcPts val="0"/>
              </a:spcBef>
              <a:spcAft>
                <a:spcPts val="400"/>
              </a:spcAft>
              <a:defRPr sz="3100" b="1">
                <a:solidFill>
                  <a:srgbClr val="193E32"/>
                </a:solidFill>
                <a:latin typeface="Nimbus Sans"/>
              </a:defRPr>
            </a:pPr>
            <a:r>
              <a:rPr sz="3100"/>
              <a:t>Bisa dibuka pengunjung, belum tentu masuk Google</a:t>
            </a:r>
          </a:p>
        </p:txBody>
      </p:sp>
      <p:sp>
        <p:nvSpPr>
          <p:cNvPr id="9" name="TextBox 8"/>
          <p:cNvSpPr txBox="1"/>
          <p:nvPr/>
        </p:nvSpPr>
        <p:spPr>
          <a:xfrm>
            <a:off x="594360" y="1792224"/>
            <a:ext cx="10972800" cy="594360"/>
          </a:xfrm>
          <a:prstGeom prst="rect">
            <a:avLst/>
          </a:prstGeom>
          <a:noFill/>
          <a:effectLst/>
        </p:spPr>
        <p:txBody>
          <a:bodyPr wrap="square" tIns="0" bIns="0" lIns="0" rIns="0">
            <a:spAutoFit/>
          </a:bodyPr>
          <a:lstStyle/>
          <a:p>
            <a:pPr>
              <a:spcBef>
                <a:spcPts val="0"/>
              </a:spcBef>
              <a:spcAft>
                <a:spcPts val="400"/>
              </a:spcAft>
              <a:defRPr sz="1700" b="0">
                <a:solidFill>
                  <a:srgbClr val="567168"/>
                </a:solidFill>
                <a:latin typeface="Nimbus Sans"/>
              </a:defRPr>
            </a:pPr>
            <a:r>
              <a:rPr sz="1700"/>
              <a:t>Periksa apakah Google bisa membaca halaman dan apakah ada aturan yang menghalangi pengindeksan.</a:t>
            </a:r>
          </a:p>
        </p:txBody>
      </p:sp>
      <p:sp>
        <p:nvSpPr>
          <p:cNvPr id="10" name="TextBox 9"/>
          <p:cNvSpPr txBox="1"/>
          <p:nvPr/>
        </p:nvSpPr>
        <p:spPr>
          <a:xfrm>
            <a:off x="594360" y="6437376"/>
            <a:ext cx="10287000" cy="219456"/>
          </a:xfrm>
          <a:prstGeom prst="rect">
            <a:avLst/>
          </a:prstGeom>
          <a:noFill/>
          <a:effectLst/>
        </p:spPr>
        <p:txBody>
          <a:bodyPr wrap="square" tIns="0" bIns="0" lIns="0" rIns="0">
            <a:spAutoFit/>
          </a:bodyPr>
          <a:lstStyle/>
          <a:p>
            <a:pPr>
              <a:spcBef>
                <a:spcPts val="0"/>
              </a:spcBef>
              <a:spcAft>
                <a:spcPts val="400"/>
              </a:spcAft>
              <a:defRPr sz="900" b="0">
                <a:solidFill>
                  <a:srgbClr val="567168"/>
                </a:solidFill>
                <a:latin typeface="Nimbus Sans"/>
              </a:defRPr>
            </a:pPr>
            <a:r>
              <a:rPr sz="900"/>
              <a:t>Contoh untuk penjelasan, bukan hasil audit Mecosin.</a:t>
            </a:r>
          </a:p>
        </p:txBody>
      </p:sp>
      <p:sp>
        <p:nvSpPr>
          <p:cNvPr id="11" name="TextBox 10"/>
          <p:cNvSpPr txBox="1"/>
          <p:nvPr/>
        </p:nvSpPr>
        <p:spPr>
          <a:xfrm>
            <a:off x="11091672" y="6391656"/>
            <a:ext cx="457200" cy="256032"/>
          </a:xfrm>
          <a:prstGeom prst="rect">
            <a:avLst/>
          </a:prstGeom>
          <a:noFill/>
          <a:effectLst/>
        </p:spPr>
        <p:txBody>
          <a:bodyPr wrap="square" tIns="0" bIns="0" lIns="0" rIns="0">
            <a:spAutoFit/>
          </a:bodyPr>
          <a:lstStyle/>
          <a:p>
            <a:pPr>
              <a:spcBef>
                <a:spcPts val="0"/>
              </a:spcBef>
              <a:spcAft>
                <a:spcPts val="600"/>
              </a:spcAft>
              <a:defRPr sz="1200" b="1">
                <a:solidFill>
                  <a:srgbClr val="17613F"/>
                </a:solidFill>
                <a:latin typeface="Nimbus Sans"/>
              </a:defRPr>
            </a:pPr>
            <a:r>
              <a:t>06</a:t>
            </a:r>
          </a:p>
        </p:txBody>
      </p:sp>
      <p:sp>
        <p:nvSpPr>
          <p:cNvPr id="12" name="Rectangle 11"/>
          <p:cNvSpPr/>
          <p:nvPr/>
        </p:nvSpPr>
        <p:spPr>
          <a:xfrm>
            <a:off x="566928"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2432304" y="6739128"/>
            <a:ext cx="1755648" cy="32004"/>
          </a:xfrm>
          <a:prstGeom prst="rect">
            <a:avLst/>
          </a:prstGeom>
          <a:solidFill>
            <a:srgbClr val="D2AB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297680"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163056"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8028431"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893807"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ounded Rectangle 25"/>
          <p:cNvSpPr/>
          <p:nvPr/>
        </p:nvSpPr>
        <p:spPr>
          <a:xfrm>
            <a:off x="594360" y="5833872"/>
            <a:ext cx="10972800" cy="484632"/>
          </a:xfrm>
          <a:prstGeom prst="roundRect">
            <a:avLst>
              <a:gd name="adj" fmla="val 3500"/>
            </a:avLst>
          </a:prstGeom>
          <a:solidFill>
            <a:srgbClr val="E4EE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777240" y="5943600"/>
            <a:ext cx="10607040" cy="283464"/>
          </a:xfrm>
          <a:prstGeom prst="rect">
            <a:avLst/>
          </a:prstGeom>
          <a:noFill/>
          <a:effectLst/>
        </p:spPr>
        <p:txBody>
          <a:bodyPr wrap="square" tIns="0" bIns="0" lIns="0" rIns="0">
            <a:spAutoFit/>
          </a:bodyPr>
          <a:lstStyle/>
          <a:p>
            <a:pPr>
              <a:spcBef>
                <a:spcPts val="0"/>
              </a:spcBef>
              <a:spcAft>
                <a:spcPts val="400"/>
              </a:spcAft>
              <a:defRPr sz="1200" b="0">
                <a:solidFill>
                  <a:srgbClr val="17613F"/>
                </a:solidFill>
                <a:latin typeface="Nimbus Sans"/>
              </a:defRPr>
            </a:pPr>
            <a:r>
              <a:rPr sz="1200"/>
              <a:t>robots.txt mengatur crawling; noindex mengatur pengindeksan. Meminta pengindeksan tidak menjamin halaman masuk indeks.</a:t>
            </a:r>
          </a:p>
        </p:txBody>
      </p:sp>
      <p:sp>
        <p:nvSpPr>
          <p:cNvPr id="37" name="Rectangle 36"/>
          <p:cNvSpPr/>
          <p:nvPr/>
        </p:nvSpPr>
        <p:spPr>
          <a:xfrm>
            <a:off x="841248" y="3383280"/>
            <a:ext cx="2148840" cy="1463040"/>
          </a:xfrm>
          <a:prstGeom prst="rect">
            <a:avLst/>
          </a:prstGeom>
          <a:solidFill>
            <a:srgbClr val="FFFFFF"/>
          </a:solidFill>
          <a:ln w="2032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841248" y="3593592"/>
            <a:ext cx="2148840" cy="0"/>
          </a:xfrm>
          <a:prstGeom prst="line">
            <a:avLst/>
          </a:prstGeom>
          <a:ln w="12700">
            <a:solidFill>
              <a:srgbClr val="17613F"/>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950976" y="3456432"/>
            <a:ext cx="41148" cy="41148"/>
          </a:xfrm>
          <a:prstGeom prst="ellips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69848" y="3456432"/>
            <a:ext cx="41148" cy="41148"/>
          </a:xfrm>
          <a:prstGeom prst="ellips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188720" y="3456432"/>
            <a:ext cx="41148" cy="41148"/>
          </a:xfrm>
          <a:prstGeom prst="ellips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7240" y="5120640"/>
            <a:ext cx="2377440" cy="292608"/>
          </a:xfrm>
          <a:prstGeom prst="rect">
            <a:avLst/>
          </a:prstGeom>
          <a:noFill/>
        </p:spPr>
        <p:txBody>
          <a:bodyPr wrap="square" lIns="0" rIns="0" tIns="0" bIns="0">
            <a:spAutoFit/>
          </a:bodyPr>
          <a:lstStyle/>
          <a:p>
            <a:pPr algn="ctr">
              <a:spcAft>
                <a:spcPts val="0"/>
              </a:spcAft>
            </a:pPr>
            <a:r>
              <a:rPr sz="1700" b="1">
                <a:solidFill>
                  <a:srgbClr val="17613F"/>
                </a:solidFill>
                <a:latin typeface="Nimbus Sans"/>
              </a:rPr>
              <a:t>Halaman website</a:t>
            </a:r>
          </a:p>
        </p:txBody>
      </p:sp>
      <p:cxnSp>
        <p:nvCxnSpPr>
          <p:cNvPr id="43" name="Connector 42"/>
          <p:cNvCxnSpPr/>
          <p:nvPr/>
        </p:nvCxnSpPr>
        <p:spPr>
          <a:xfrm>
            <a:off x="2990088" y="4069080"/>
            <a:ext cx="713232" cy="0"/>
          </a:xfrm>
          <a:prstGeom prst="line">
            <a:avLst/>
          </a:prstGeom>
          <a:ln w="2540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3703320" y="3246120"/>
            <a:ext cx="0" cy="1581912"/>
          </a:xfrm>
          <a:prstGeom prst="line">
            <a:avLst/>
          </a:prstGeom>
          <a:ln w="2540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3703320" y="3246120"/>
            <a:ext cx="978408" cy="0"/>
          </a:xfrm>
          <a:prstGeom prst="line">
            <a:avLst/>
          </a:prstGeom>
          <a:ln w="25400">
            <a:solidFill>
              <a:srgbClr val="17613F"/>
            </a:solidFill>
            <a:tailEnd type="triangle"/>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3703320" y="4828032"/>
            <a:ext cx="978408" cy="0"/>
          </a:xfrm>
          <a:prstGeom prst="line">
            <a:avLst/>
          </a:prstGeom>
          <a:ln w="25400">
            <a:solidFill>
              <a:srgbClr val="17613F"/>
            </a:solidFill>
            <a:tailEnd type="triangle"/>
          </a:ln>
        </p:spPr>
        <p:style>
          <a:lnRef idx="2">
            <a:schemeClr val="accent1"/>
          </a:lnRef>
          <a:fillRef idx="0">
            <a:schemeClr val="accent1"/>
          </a:fillRef>
          <a:effectRef idx="1">
            <a:schemeClr val="accent1"/>
          </a:effectRef>
          <a:fontRef idx="minor">
            <a:schemeClr val="tx1"/>
          </a:fontRef>
        </p:style>
      </p:cxnSp>
      <p:sp>
        <p:nvSpPr>
          <p:cNvPr id="47" name="Oval 46"/>
          <p:cNvSpPr/>
          <p:nvPr/>
        </p:nvSpPr>
        <p:spPr>
          <a:xfrm>
            <a:off x="5102352" y="2743200"/>
            <a:ext cx="320040" cy="320040"/>
          </a:xfrm>
          <a:prstGeom prst="ellipse">
            <a:avLst/>
          </a:prstGeom>
          <a:noFill/>
          <a:ln w="2540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4892040" y="3136392"/>
            <a:ext cx="749808" cy="585216"/>
          </a:xfrm>
          <a:prstGeom prst="roundRect">
            <a:avLst/>
          </a:prstGeom>
          <a:noFill/>
          <a:ln w="2540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9" name="Connector 48"/>
          <p:cNvCxnSpPr/>
          <p:nvPr/>
        </p:nvCxnSpPr>
        <p:spPr>
          <a:xfrm>
            <a:off x="5806440" y="3227832"/>
            <a:ext cx="137160" cy="137160"/>
          </a:xfrm>
          <a:prstGeom prst="line">
            <a:avLst/>
          </a:prstGeom>
          <a:ln w="3810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5943600" y="3063240"/>
            <a:ext cx="301752" cy="301752"/>
          </a:xfrm>
          <a:prstGeom prst="line">
            <a:avLst/>
          </a:prstGeom>
          <a:ln w="38100">
            <a:solidFill>
              <a:srgbClr val="17613F"/>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6629400" y="2743200"/>
            <a:ext cx="4572000" cy="594360"/>
          </a:xfrm>
          <a:prstGeom prst="rect">
            <a:avLst/>
          </a:prstGeom>
          <a:noFill/>
        </p:spPr>
        <p:txBody>
          <a:bodyPr wrap="square" lIns="0" rIns="0" tIns="0" bIns="0">
            <a:spAutoFit/>
          </a:bodyPr>
          <a:lstStyle/>
          <a:p>
            <a:pPr algn="l">
              <a:spcAft>
                <a:spcPts val="0"/>
              </a:spcAft>
            </a:pPr>
            <a:r>
              <a:rPr sz="2200" b="1">
                <a:solidFill>
                  <a:srgbClr val="17613F"/>
                </a:solidFill>
                <a:latin typeface="Nimbus Sans"/>
              </a:rPr>
              <a:t>Pengunjung bisa membuka</a:t>
            </a:r>
          </a:p>
        </p:txBody>
      </p:sp>
      <p:sp>
        <p:nvSpPr>
          <p:cNvPr id="52" name="TextBox 51"/>
          <p:cNvSpPr txBox="1"/>
          <p:nvPr/>
        </p:nvSpPr>
        <p:spPr>
          <a:xfrm>
            <a:off x="6629400" y="3410712"/>
            <a:ext cx="4572000" cy="493776"/>
          </a:xfrm>
          <a:prstGeom prst="rect">
            <a:avLst/>
          </a:prstGeom>
          <a:noFill/>
        </p:spPr>
        <p:txBody>
          <a:bodyPr wrap="square" lIns="0" rIns="0" tIns="0" bIns="0">
            <a:spAutoFit/>
          </a:bodyPr>
          <a:lstStyle/>
          <a:p>
            <a:pPr algn="l">
              <a:spcAft>
                <a:spcPts val="0"/>
              </a:spcAft>
            </a:pPr>
            <a:r>
              <a:rPr sz="1600" b="0">
                <a:solidFill>
                  <a:srgbClr val="567168"/>
                </a:solidFill>
                <a:latin typeface="Nimbus Sans"/>
              </a:rPr>
              <a:t>Akses halaman tetap tersedia.</a:t>
            </a:r>
          </a:p>
        </p:txBody>
      </p:sp>
      <p:sp>
        <p:nvSpPr>
          <p:cNvPr id="53" name="Can 52"/>
          <p:cNvSpPr/>
          <p:nvPr/>
        </p:nvSpPr>
        <p:spPr>
          <a:xfrm>
            <a:off x="4901184" y="4416552"/>
            <a:ext cx="868680" cy="749808"/>
          </a:xfrm>
          <a:prstGeom prst="can">
            <a:avLst/>
          </a:prstGeom>
          <a:solidFill>
            <a:srgbClr val="E4EEDC"/>
          </a:solidFill>
          <a:ln w="2032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flipV="1">
            <a:off x="4800600" y="4343400"/>
            <a:ext cx="1115568" cy="795528"/>
          </a:xfrm>
          <a:prstGeom prst="line">
            <a:avLst/>
          </a:prstGeom>
          <a:ln w="38100">
            <a:solidFill>
              <a:srgbClr val="A34D3C"/>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6629400" y="4251960"/>
            <a:ext cx="4572000" cy="594360"/>
          </a:xfrm>
          <a:prstGeom prst="rect">
            <a:avLst/>
          </a:prstGeom>
          <a:noFill/>
        </p:spPr>
        <p:txBody>
          <a:bodyPr wrap="square" lIns="0" rIns="0" tIns="0" bIns="0">
            <a:spAutoFit/>
          </a:bodyPr>
          <a:lstStyle/>
          <a:p>
            <a:pPr algn="l">
              <a:spcAft>
                <a:spcPts val="0"/>
              </a:spcAft>
            </a:pPr>
            <a:r>
              <a:rPr sz="2200" b="1">
                <a:solidFill>
                  <a:srgbClr val="17613F"/>
                </a:solidFill>
                <a:latin typeface="Nimbus Sans"/>
              </a:rPr>
              <a:t>noindex: minta tidak diindeks</a:t>
            </a:r>
          </a:p>
        </p:txBody>
      </p:sp>
      <p:sp>
        <p:nvSpPr>
          <p:cNvPr id="56" name="TextBox 55"/>
          <p:cNvSpPr txBox="1"/>
          <p:nvPr/>
        </p:nvSpPr>
        <p:spPr>
          <a:xfrm>
            <a:off x="6629400" y="4919472"/>
            <a:ext cx="4572000" cy="493776"/>
          </a:xfrm>
          <a:prstGeom prst="rect">
            <a:avLst/>
          </a:prstGeom>
          <a:noFill/>
        </p:spPr>
        <p:txBody>
          <a:bodyPr wrap="square" lIns="0" rIns="0" tIns="0" bIns="0">
            <a:spAutoFit/>
          </a:bodyPr>
          <a:lstStyle/>
          <a:p>
            <a:pPr algn="l">
              <a:spcAft>
                <a:spcPts val="0"/>
              </a:spcAft>
            </a:pPr>
            <a:r>
              <a:rPr sz="1600" b="0">
                <a:solidFill>
                  <a:srgbClr val="567168"/>
                </a:solidFill>
                <a:latin typeface="Nimbus Sans"/>
              </a:rPr>
              <a:t>Berlaku setelah Google membaca aturan. Periksa lewat Search Console.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3"/>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1761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502920" y="210312"/>
            <a:ext cx="2395728" cy="448056"/>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5"/>
          <a:stretch>
            <a:fillRect/>
          </a:stretch>
        </p:blipFill>
        <p:spPr>
          <a:xfrm>
            <a:off x="603504" y="323088"/>
            <a:ext cx="585216" cy="195072"/>
          </a:xfrm>
          <a:prstGeom prst="rect">
            <a:avLst/>
          </a:prstGeom>
          <a:effectLst/>
        </p:spPr>
      </p:pic>
      <p:sp>
        <p:nvSpPr>
          <p:cNvPr id="5" name="TextBox 4"/>
          <p:cNvSpPr txBox="1"/>
          <p:nvPr/>
        </p:nvSpPr>
        <p:spPr>
          <a:xfrm>
            <a:off x="1271016" y="283464"/>
            <a:ext cx="164592" cy="228600"/>
          </a:xfrm>
          <a:prstGeom prst="rect">
            <a:avLst/>
          </a:prstGeom>
          <a:noFill/>
          <a:effectLst/>
        </p:spPr>
        <p:txBody>
          <a:bodyPr wrap="square" tIns="0" bIns="0" lIns="0" rIns="0">
            <a:spAutoFit/>
          </a:bodyPr>
          <a:lstStyle/>
          <a:p>
            <a:pPr>
              <a:spcBef>
                <a:spcPts val="0"/>
              </a:spcBef>
              <a:spcAft>
                <a:spcPts val="600"/>
              </a:spcAft>
              <a:defRPr sz="1200" b="0">
                <a:solidFill>
                  <a:srgbClr val="567168"/>
                </a:solidFill>
                <a:latin typeface="Nimbus Sans"/>
              </a:defRPr>
            </a:pPr>
            <a:r>
              <a:t>×</a:t>
            </a:r>
          </a:p>
        </p:txBody>
      </p:sp>
      <p:pic>
        <p:nvPicPr>
          <p:cNvPr id="31" name="Picture 30" descr="image.png"/>
          <p:cNvPicPr>
            <a:picLocks noChangeAspect="1"/>
          </p:cNvPicPr>
          <p:nvPr/>
        </p:nvPicPr>
        <p:blipFill>
          <a:blip r:embed="rId6"/>
          <a:stretch>
            <a:fillRect/>
          </a:stretch>
        </p:blipFill>
        <p:spPr>
          <a:xfrm>
            <a:off x="1536192" y="334792"/>
            <a:ext cx="1243584" cy="153375"/>
          </a:xfrm>
          <a:prstGeom prst="rect">
            <a:avLst/>
          </a:prstGeom>
          <a:effectLst/>
        </p:spPr>
      </p:pic>
      <p:sp>
        <p:nvSpPr>
          <p:cNvPr id="7" name="TextBox 6"/>
          <p:cNvSpPr txBox="1"/>
          <p:nvPr/>
        </p:nvSpPr>
        <p:spPr>
          <a:xfrm>
            <a:off x="5486400" y="356616"/>
            <a:ext cx="6062472" cy="237744"/>
          </a:xfrm>
          <a:prstGeom prst="rect">
            <a:avLst/>
          </a:prstGeom>
          <a:noFill/>
          <a:effectLst/>
        </p:spPr>
        <p:txBody>
          <a:bodyPr wrap="square" tIns="0" bIns="0" lIns="0" rIns="0">
            <a:spAutoFit/>
          </a:bodyPr>
          <a:lstStyle/>
          <a:p>
            <a:pPr algn="r">
              <a:spcBef>
                <a:spcPts val="0"/>
              </a:spcBef>
              <a:spcAft>
                <a:spcPts val="600"/>
              </a:spcAft>
              <a:defRPr sz="1000" b="1">
                <a:solidFill>
                  <a:srgbClr val="17613F"/>
                </a:solidFill>
                <a:latin typeface="Nimbus Sans"/>
              </a:defRPr>
            </a:pPr>
            <a:r>
              <a:t>02 / TECHNICAL SEO</a:t>
            </a:r>
          </a:p>
        </p:txBody>
      </p:sp>
      <p:sp>
        <p:nvSpPr>
          <p:cNvPr id="8" name="TextBox 7"/>
          <p:cNvSpPr txBox="1"/>
          <p:nvPr/>
        </p:nvSpPr>
        <p:spPr>
          <a:xfrm>
            <a:off x="594360" y="960120"/>
            <a:ext cx="10972800" cy="822960"/>
          </a:xfrm>
          <a:prstGeom prst="rect">
            <a:avLst/>
          </a:prstGeom>
          <a:noFill/>
          <a:effectLst/>
        </p:spPr>
        <p:txBody>
          <a:bodyPr wrap="square" tIns="0" bIns="0" lIns="0" rIns="0">
            <a:spAutoFit/>
          </a:bodyPr>
          <a:lstStyle/>
          <a:p>
            <a:pPr>
              <a:spcBef>
                <a:spcPts val="0"/>
              </a:spcBef>
              <a:spcAft>
                <a:spcPts val="400"/>
              </a:spcAft>
              <a:defRPr sz="3100" b="1">
                <a:solidFill>
                  <a:srgbClr val="193E32"/>
                </a:solidFill>
                <a:latin typeface="Nimbus Sans"/>
              </a:defRPr>
            </a:pPr>
            <a:r>
              <a:rPr sz="3100"/>
              <a:t>URL berubah? Jangan biarkan pengunjung tersesat</a:t>
            </a:r>
          </a:p>
        </p:txBody>
      </p:sp>
      <p:sp>
        <p:nvSpPr>
          <p:cNvPr id="9" name="TextBox 8"/>
          <p:cNvSpPr txBox="1"/>
          <p:nvPr/>
        </p:nvSpPr>
        <p:spPr>
          <a:xfrm>
            <a:off x="594360" y="1792224"/>
            <a:ext cx="10972800" cy="594360"/>
          </a:xfrm>
          <a:prstGeom prst="rect">
            <a:avLst/>
          </a:prstGeom>
          <a:noFill/>
          <a:effectLst/>
        </p:spPr>
        <p:txBody>
          <a:bodyPr wrap="square" tIns="0" bIns="0" lIns="0" rIns="0">
            <a:spAutoFit/>
          </a:bodyPr>
          <a:lstStyle/>
          <a:p>
            <a:pPr>
              <a:spcBef>
                <a:spcPts val="0"/>
              </a:spcBef>
              <a:spcAft>
                <a:spcPts val="400"/>
              </a:spcAft>
              <a:defRPr sz="1700" b="0">
                <a:solidFill>
                  <a:srgbClr val="567168"/>
                </a:solidFill>
                <a:latin typeface="Nimbus Sans"/>
              </a:defRPr>
            </a:pPr>
            <a:r>
              <a:rPr sz="1700"/>
              <a:t>Arahkan alamat lama ke halaman pengganti yang sesuai. Perbarui juga internal link dan sitemap.</a:t>
            </a:r>
          </a:p>
        </p:txBody>
      </p:sp>
      <p:sp>
        <p:nvSpPr>
          <p:cNvPr id="10" name="TextBox 9"/>
          <p:cNvSpPr txBox="1"/>
          <p:nvPr/>
        </p:nvSpPr>
        <p:spPr>
          <a:xfrm>
            <a:off x="594360" y="6437376"/>
            <a:ext cx="10287000" cy="219456"/>
          </a:xfrm>
          <a:prstGeom prst="rect">
            <a:avLst/>
          </a:prstGeom>
          <a:noFill/>
          <a:effectLst/>
        </p:spPr>
        <p:txBody>
          <a:bodyPr wrap="square" tIns="0" bIns="0" lIns="0" rIns="0">
            <a:spAutoFit/>
          </a:bodyPr>
          <a:lstStyle/>
          <a:p>
            <a:pPr>
              <a:spcBef>
                <a:spcPts val="0"/>
              </a:spcBef>
              <a:spcAft>
                <a:spcPts val="400"/>
              </a:spcAft>
              <a:defRPr sz="900" b="0">
                <a:solidFill>
                  <a:srgbClr val="567168"/>
                </a:solidFill>
                <a:latin typeface="Nimbus Sans"/>
              </a:defRPr>
            </a:pPr>
            <a:r>
              <a:rPr sz="900"/>
              <a:t>Contoh untuk penjelasan, bukan hasil audit Mecosin.</a:t>
            </a:r>
          </a:p>
        </p:txBody>
      </p:sp>
      <p:sp>
        <p:nvSpPr>
          <p:cNvPr id="11" name="TextBox 10"/>
          <p:cNvSpPr txBox="1"/>
          <p:nvPr/>
        </p:nvSpPr>
        <p:spPr>
          <a:xfrm>
            <a:off x="11091672" y="6391656"/>
            <a:ext cx="457200" cy="256032"/>
          </a:xfrm>
          <a:prstGeom prst="rect">
            <a:avLst/>
          </a:prstGeom>
          <a:noFill/>
          <a:effectLst/>
        </p:spPr>
        <p:txBody>
          <a:bodyPr wrap="square" tIns="0" bIns="0" lIns="0" rIns="0">
            <a:spAutoFit/>
          </a:bodyPr>
          <a:lstStyle/>
          <a:p>
            <a:pPr>
              <a:spcBef>
                <a:spcPts val="0"/>
              </a:spcBef>
              <a:spcAft>
                <a:spcPts val="600"/>
              </a:spcAft>
              <a:defRPr sz="1200" b="1">
                <a:solidFill>
                  <a:srgbClr val="17613F"/>
                </a:solidFill>
                <a:latin typeface="Nimbus Sans"/>
              </a:defRPr>
            </a:pPr>
            <a:r>
              <a:t>07</a:t>
            </a:r>
          </a:p>
        </p:txBody>
      </p:sp>
      <p:sp>
        <p:nvSpPr>
          <p:cNvPr id="12" name="Rectangle 11"/>
          <p:cNvSpPr/>
          <p:nvPr/>
        </p:nvSpPr>
        <p:spPr>
          <a:xfrm>
            <a:off x="566928"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2432304" y="6739128"/>
            <a:ext cx="1755648" cy="32004"/>
          </a:xfrm>
          <a:prstGeom prst="rect">
            <a:avLst/>
          </a:prstGeom>
          <a:solidFill>
            <a:srgbClr val="D2AB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297680"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163056"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8028431"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893807"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ounded Rectangle 17"/>
          <p:cNvSpPr/>
          <p:nvPr/>
        </p:nvSpPr>
        <p:spPr>
          <a:xfrm>
            <a:off x="594360" y="2615184"/>
            <a:ext cx="10972800" cy="1234440"/>
          </a:xfrm>
          <a:prstGeom prst="roundRect">
            <a:avLst>
              <a:gd name="adj" fmla="val 3500"/>
            </a:avLst>
          </a:prstGeom>
          <a:solidFill>
            <a:srgbClr val="FAECE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22960" y="2807208"/>
            <a:ext cx="2743200" cy="237744"/>
          </a:xfrm>
          <a:prstGeom prst="rect">
            <a:avLst/>
          </a:prstGeom>
          <a:noFill/>
          <a:effectLst/>
        </p:spPr>
        <p:txBody>
          <a:bodyPr wrap="square" tIns="0" bIns="0" lIns="0" rIns="0">
            <a:spAutoFit/>
          </a:bodyPr>
          <a:lstStyle/>
          <a:p>
            <a:pPr>
              <a:spcBef>
                <a:spcPts val="0"/>
              </a:spcBef>
              <a:spcAft>
                <a:spcPts val="600"/>
              </a:spcAft>
              <a:defRPr sz="1000" b="1">
                <a:solidFill>
                  <a:srgbClr val="17613F"/>
                </a:solidFill>
                <a:latin typeface="Nimbus Sans"/>
              </a:defRPr>
            </a:pPr>
            <a:r>
              <a:t>TANPA PENGALIHAN</a:t>
            </a:r>
          </a:p>
        </p:txBody>
      </p:sp>
      <p:sp>
        <p:nvSpPr>
          <p:cNvPr id="20" name="TextBox 19"/>
          <p:cNvSpPr txBox="1"/>
          <p:nvPr/>
        </p:nvSpPr>
        <p:spPr>
          <a:xfrm>
            <a:off x="3657600" y="3035808"/>
            <a:ext cx="2834640" cy="457200"/>
          </a:xfrm>
          <a:prstGeom prst="rect">
            <a:avLst/>
          </a:prstGeom>
          <a:noFill/>
          <a:effectLst/>
        </p:spPr>
        <p:txBody>
          <a:bodyPr wrap="square" tIns="0" bIns="0" lIns="0" rIns="0">
            <a:spAutoFit/>
          </a:bodyPr>
          <a:lstStyle/>
          <a:p>
            <a:pPr>
              <a:spcBef>
                <a:spcPts val="0"/>
              </a:spcBef>
              <a:spcAft>
                <a:spcPts val="600"/>
              </a:spcAft>
              <a:defRPr sz="2200" b="1">
                <a:solidFill>
                  <a:srgbClr val="193E32"/>
                </a:solidFill>
                <a:latin typeface="Nimbus Sans"/>
              </a:defRPr>
            </a:pPr>
            <a:r>
              <a:t>URL lama</a:t>
            </a:r>
          </a:p>
        </p:txBody>
      </p:sp>
      <p:sp>
        <p:nvSpPr>
          <p:cNvPr id="21" name="TextBox 20"/>
          <p:cNvSpPr txBox="1"/>
          <p:nvPr/>
        </p:nvSpPr>
        <p:spPr>
          <a:xfrm>
            <a:off x="6629400" y="2935224"/>
            <a:ext cx="365760" cy="502920"/>
          </a:xfrm>
          <a:prstGeom prst="rect">
            <a:avLst/>
          </a:prstGeom>
          <a:noFill/>
          <a:effectLst/>
        </p:spPr>
        <p:txBody>
          <a:bodyPr wrap="square" tIns="0" bIns="0" lIns="0" rIns="0">
            <a:spAutoFit/>
          </a:bodyPr>
          <a:lstStyle/>
          <a:p>
            <a:pPr>
              <a:spcBef>
                <a:spcPts val="0"/>
              </a:spcBef>
              <a:spcAft>
                <a:spcPts val="600"/>
              </a:spcAft>
              <a:defRPr sz="3000" b="1">
                <a:solidFill>
                  <a:srgbClr val="17613F"/>
                </a:solidFill>
                <a:latin typeface="Nimbus Sans"/>
              </a:defRPr>
            </a:pPr>
            <a:r>
              <a:t>›</a:t>
            </a:r>
          </a:p>
        </p:txBody>
      </p:sp>
      <p:sp>
        <p:nvSpPr>
          <p:cNvPr id="22" name="TextBox 21"/>
          <p:cNvSpPr txBox="1"/>
          <p:nvPr/>
        </p:nvSpPr>
        <p:spPr>
          <a:xfrm>
            <a:off x="7360920" y="3017520"/>
            <a:ext cx="3794760" cy="594360"/>
          </a:xfrm>
          <a:prstGeom prst="rect">
            <a:avLst/>
          </a:prstGeom>
          <a:noFill/>
          <a:effectLst/>
        </p:spPr>
        <p:txBody>
          <a:bodyPr wrap="square" tIns="0" bIns="0" lIns="0" rIns="0">
            <a:spAutoFit/>
          </a:bodyPr>
          <a:lstStyle/>
          <a:p>
            <a:pPr>
              <a:spcBef>
                <a:spcPts val="0"/>
              </a:spcBef>
              <a:spcAft>
                <a:spcPts val="600"/>
              </a:spcAft>
              <a:defRPr sz="2100" b="1">
                <a:solidFill>
                  <a:srgbClr val="193E32"/>
                </a:solidFill>
                <a:latin typeface="Nimbus Sans"/>
              </a:defRPr>
            </a:pPr>
            <a:r>
              <a:t>404: halaman tidak ditemukan</a:t>
            </a:r>
          </a:p>
        </p:txBody>
      </p:sp>
      <p:sp>
        <p:nvSpPr>
          <p:cNvPr id="23" name="Rounded Rectangle 22"/>
          <p:cNvSpPr/>
          <p:nvPr/>
        </p:nvSpPr>
        <p:spPr>
          <a:xfrm>
            <a:off x="594360" y="4059936"/>
            <a:ext cx="10972800" cy="1234440"/>
          </a:xfrm>
          <a:prstGeom prst="roundRect">
            <a:avLst>
              <a:gd name="adj" fmla="val 3500"/>
            </a:avLst>
          </a:prstGeom>
          <a:solidFill>
            <a:srgbClr val="E4EE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22960" y="4251960"/>
            <a:ext cx="2743200" cy="237744"/>
          </a:xfrm>
          <a:prstGeom prst="rect">
            <a:avLst/>
          </a:prstGeom>
          <a:noFill/>
          <a:effectLst/>
        </p:spPr>
        <p:txBody>
          <a:bodyPr wrap="square" tIns="0" bIns="0" lIns="0" rIns="0">
            <a:spAutoFit/>
          </a:bodyPr>
          <a:lstStyle/>
          <a:p>
            <a:pPr>
              <a:spcBef>
                <a:spcPts val="0"/>
              </a:spcBef>
              <a:spcAft>
                <a:spcPts val="600"/>
              </a:spcAft>
              <a:defRPr sz="1000" b="1">
                <a:solidFill>
                  <a:srgbClr val="17613F"/>
                </a:solidFill>
                <a:latin typeface="Nimbus Sans"/>
              </a:defRPr>
            </a:pPr>
            <a:r>
              <a:t>DENGAN PENGALIHAN</a:t>
            </a:r>
          </a:p>
        </p:txBody>
      </p:sp>
      <p:sp>
        <p:nvSpPr>
          <p:cNvPr id="25" name="TextBox 24"/>
          <p:cNvSpPr txBox="1"/>
          <p:nvPr/>
        </p:nvSpPr>
        <p:spPr>
          <a:xfrm>
            <a:off x="3657600" y="4480560"/>
            <a:ext cx="2834640" cy="457200"/>
          </a:xfrm>
          <a:prstGeom prst="rect">
            <a:avLst/>
          </a:prstGeom>
          <a:noFill/>
          <a:effectLst/>
        </p:spPr>
        <p:txBody>
          <a:bodyPr wrap="square" tIns="0" bIns="0" lIns="0" rIns="0">
            <a:spAutoFit/>
          </a:bodyPr>
          <a:lstStyle/>
          <a:p>
            <a:pPr>
              <a:spcBef>
                <a:spcPts val="0"/>
              </a:spcBef>
              <a:spcAft>
                <a:spcPts val="600"/>
              </a:spcAft>
              <a:defRPr sz="2200" b="1">
                <a:solidFill>
                  <a:srgbClr val="193E32"/>
                </a:solidFill>
                <a:latin typeface="Nimbus Sans"/>
              </a:defRPr>
            </a:pPr>
            <a:r>
              <a:t>URL lama + redirect</a:t>
            </a:r>
          </a:p>
        </p:txBody>
      </p:sp>
      <p:sp>
        <p:nvSpPr>
          <p:cNvPr id="26" name="TextBox 25"/>
          <p:cNvSpPr txBox="1"/>
          <p:nvPr/>
        </p:nvSpPr>
        <p:spPr>
          <a:xfrm>
            <a:off x="6629400" y="4379976"/>
            <a:ext cx="365760" cy="502920"/>
          </a:xfrm>
          <a:prstGeom prst="rect">
            <a:avLst/>
          </a:prstGeom>
          <a:noFill/>
          <a:effectLst/>
        </p:spPr>
        <p:txBody>
          <a:bodyPr wrap="square" tIns="0" bIns="0" lIns="0" rIns="0">
            <a:spAutoFit/>
          </a:bodyPr>
          <a:lstStyle/>
          <a:p>
            <a:pPr>
              <a:spcBef>
                <a:spcPts val="0"/>
              </a:spcBef>
              <a:spcAft>
                <a:spcPts val="600"/>
              </a:spcAft>
              <a:defRPr sz="3000" b="1">
                <a:solidFill>
                  <a:srgbClr val="17613F"/>
                </a:solidFill>
                <a:latin typeface="Nimbus Sans"/>
              </a:defRPr>
            </a:pPr>
            <a:r>
              <a:t>›</a:t>
            </a:r>
          </a:p>
        </p:txBody>
      </p:sp>
      <p:sp>
        <p:nvSpPr>
          <p:cNvPr id="27" name="TextBox 26"/>
          <p:cNvSpPr txBox="1"/>
          <p:nvPr/>
        </p:nvSpPr>
        <p:spPr>
          <a:xfrm>
            <a:off x="7360920" y="4462272"/>
            <a:ext cx="3794760" cy="594360"/>
          </a:xfrm>
          <a:prstGeom prst="rect">
            <a:avLst/>
          </a:prstGeom>
          <a:noFill/>
          <a:effectLst/>
        </p:spPr>
        <p:txBody>
          <a:bodyPr wrap="square" tIns="0" bIns="0" lIns="0" rIns="0">
            <a:spAutoFit/>
          </a:bodyPr>
          <a:lstStyle/>
          <a:p>
            <a:pPr>
              <a:spcBef>
                <a:spcPts val="0"/>
              </a:spcBef>
              <a:spcAft>
                <a:spcPts val="600"/>
              </a:spcAft>
              <a:defRPr sz="2100" b="1">
                <a:solidFill>
                  <a:srgbClr val="193E32"/>
                </a:solidFill>
                <a:latin typeface="Nimbus Sans"/>
              </a:defRPr>
            </a:pPr>
            <a:r>
              <a:t>Halaman pengganti yang sesuai</a:t>
            </a:r>
          </a:p>
        </p:txBody>
      </p:sp>
      <p:sp>
        <p:nvSpPr>
          <p:cNvPr id="28" name="Rounded Rectangle 27"/>
          <p:cNvSpPr/>
          <p:nvPr/>
        </p:nvSpPr>
        <p:spPr>
          <a:xfrm>
            <a:off x="594360" y="5833872"/>
            <a:ext cx="10972800" cy="484632"/>
          </a:xfrm>
          <a:prstGeom prst="roundRect">
            <a:avLst>
              <a:gd name="adj" fmla="val 3500"/>
            </a:avLst>
          </a:prstGeom>
          <a:solidFill>
            <a:srgbClr val="E4EE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77240" y="5943600"/>
            <a:ext cx="10607040" cy="283464"/>
          </a:xfrm>
          <a:prstGeom prst="rect">
            <a:avLst/>
          </a:prstGeom>
          <a:noFill/>
          <a:effectLst/>
        </p:spPr>
        <p:txBody>
          <a:bodyPr wrap="square" tIns="0" bIns="0" lIns="0" rIns="0">
            <a:spAutoFit/>
          </a:bodyPr>
          <a:lstStyle/>
          <a:p>
            <a:pPr>
              <a:spcBef>
                <a:spcPts val="0"/>
              </a:spcBef>
              <a:spcAft>
                <a:spcPts val="400"/>
              </a:spcAft>
              <a:defRPr sz="1200" b="0">
                <a:solidFill>
                  <a:srgbClr val="17613F"/>
                </a:solidFill>
                <a:latin typeface="Nimbus Sans"/>
              </a:defRPr>
            </a:pPr>
            <a:r>
              <a:rPr sz="1200"/>
              <a:t>Jangan alihkan semua URL ke beranda. Jika tidak ada halaman pengganti yang sesuai, status 404/410 bisa digunakan.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8F3"/>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1761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502920" y="210312"/>
            <a:ext cx="2395728" cy="448056"/>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1" name="Picture 40" descr="image.png"/>
          <p:cNvPicPr>
            <a:picLocks noChangeAspect="1"/>
          </p:cNvPicPr>
          <p:nvPr/>
        </p:nvPicPr>
        <p:blipFill>
          <a:blip r:embed="rId6"/>
          <a:stretch>
            <a:fillRect/>
          </a:stretch>
        </p:blipFill>
        <p:spPr>
          <a:xfrm>
            <a:off x="603504" y="323088"/>
            <a:ext cx="585216" cy="195072"/>
          </a:xfrm>
          <a:prstGeom prst="rect">
            <a:avLst/>
          </a:prstGeom>
          <a:effectLst/>
        </p:spPr>
      </p:pic>
      <p:sp>
        <p:nvSpPr>
          <p:cNvPr id="5" name="TextBox 4"/>
          <p:cNvSpPr txBox="1"/>
          <p:nvPr/>
        </p:nvSpPr>
        <p:spPr>
          <a:xfrm>
            <a:off x="1271016" y="283464"/>
            <a:ext cx="164592" cy="228600"/>
          </a:xfrm>
          <a:prstGeom prst="rect">
            <a:avLst/>
          </a:prstGeom>
          <a:noFill/>
          <a:effectLst/>
        </p:spPr>
        <p:txBody>
          <a:bodyPr wrap="square" tIns="0" bIns="0" lIns="0" rIns="0">
            <a:spAutoFit/>
          </a:bodyPr>
          <a:lstStyle/>
          <a:p>
            <a:pPr>
              <a:spcBef>
                <a:spcPts val="0"/>
              </a:spcBef>
              <a:spcAft>
                <a:spcPts val="600"/>
              </a:spcAft>
              <a:defRPr sz="1200" b="0">
                <a:solidFill>
                  <a:srgbClr val="567168"/>
                </a:solidFill>
                <a:latin typeface="Nimbus Sans"/>
              </a:defRPr>
            </a:pPr>
            <a:r>
              <a:t>×</a:t>
            </a:r>
          </a:p>
        </p:txBody>
      </p:sp>
      <p:pic>
        <p:nvPicPr>
          <p:cNvPr id="42" name="Picture 41" descr="image.png"/>
          <p:cNvPicPr>
            <a:picLocks noChangeAspect="1"/>
          </p:cNvPicPr>
          <p:nvPr/>
        </p:nvPicPr>
        <p:blipFill>
          <a:blip r:embed="rId7"/>
          <a:stretch>
            <a:fillRect/>
          </a:stretch>
        </p:blipFill>
        <p:spPr>
          <a:xfrm>
            <a:off x="1536192" y="334792"/>
            <a:ext cx="1243584" cy="153375"/>
          </a:xfrm>
          <a:prstGeom prst="rect">
            <a:avLst/>
          </a:prstGeom>
          <a:effectLst/>
        </p:spPr>
      </p:pic>
      <p:sp>
        <p:nvSpPr>
          <p:cNvPr id="7" name="TextBox 6"/>
          <p:cNvSpPr txBox="1"/>
          <p:nvPr/>
        </p:nvSpPr>
        <p:spPr>
          <a:xfrm>
            <a:off x="5486400" y="356616"/>
            <a:ext cx="6062472" cy="237744"/>
          </a:xfrm>
          <a:prstGeom prst="rect">
            <a:avLst/>
          </a:prstGeom>
          <a:noFill/>
          <a:effectLst/>
        </p:spPr>
        <p:txBody>
          <a:bodyPr wrap="square" tIns="0" bIns="0" lIns="0" rIns="0">
            <a:spAutoFit/>
          </a:bodyPr>
          <a:lstStyle/>
          <a:p>
            <a:pPr algn="r">
              <a:spcBef>
                <a:spcPts val="0"/>
              </a:spcBef>
              <a:spcAft>
                <a:spcPts val="600"/>
              </a:spcAft>
              <a:defRPr sz="1000" b="1">
                <a:solidFill>
                  <a:srgbClr val="17613F"/>
                </a:solidFill>
                <a:latin typeface="Nimbus Sans"/>
              </a:defRPr>
            </a:pPr>
            <a:r>
              <a:t>02 / TECHNICAL SEO</a:t>
            </a:r>
          </a:p>
        </p:txBody>
      </p:sp>
      <p:sp>
        <p:nvSpPr>
          <p:cNvPr id="8" name="TextBox 7"/>
          <p:cNvSpPr txBox="1"/>
          <p:nvPr/>
        </p:nvSpPr>
        <p:spPr>
          <a:xfrm>
            <a:off x="594360" y="960120"/>
            <a:ext cx="10972800" cy="822960"/>
          </a:xfrm>
          <a:prstGeom prst="rect">
            <a:avLst/>
          </a:prstGeom>
          <a:noFill/>
          <a:effectLst/>
        </p:spPr>
        <p:txBody>
          <a:bodyPr wrap="square" tIns="0" bIns="0" lIns="0" rIns="0">
            <a:spAutoFit/>
          </a:bodyPr>
          <a:lstStyle/>
          <a:p>
            <a:pPr>
              <a:spcBef>
                <a:spcPts val="0"/>
              </a:spcBef>
              <a:spcAft>
                <a:spcPts val="400"/>
              </a:spcAft>
              <a:defRPr sz="3100" b="1">
                <a:solidFill>
                  <a:srgbClr val="193E32"/>
                </a:solidFill>
                <a:latin typeface="Nimbus Sans"/>
              </a:defRPr>
            </a:pPr>
            <a:r>
              <a:rPr sz="3100"/>
              <a:t>Website cepat dan nyaman dibuka di ponsel</a:t>
            </a:r>
          </a:p>
        </p:txBody>
      </p:sp>
      <p:sp>
        <p:nvSpPr>
          <p:cNvPr id="9" name="TextBox 8"/>
          <p:cNvSpPr txBox="1"/>
          <p:nvPr/>
        </p:nvSpPr>
        <p:spPr>
          <a:xfrm>
            <a:off x="594360" y="1792224"/>
            <a:ext cx="10972800" cy="594360"/>
          </a:xfrm>
          <a:prstGeom prst="rect">
            <a:avLst/>
          </a:prstGeom>
          <a:noFill/>
          <a:effectLst/>
        </p:spPr>
        <p:txBody>
          <a:bodyPr wrap="square" tIns="0" bIns="0" lIns="0" rIns="0">
            <a:spAutoFit/>
          </a:bodyPr>
          <a:lstStyle/>
          <a:p>
            <a:pPr>
              <a:spcBef>
                <a:spcPts val="0"/>
              </a:spcBef>
              <a:spcAft>
                <a:spcPts val="400"/>
              </a:spcAft>
              <a:defRPr sz="1700" b="0">
                <a:solidFill>
                  <a:srgbClr val="567168"/>
                </a:solidFill>
                <a:latin typeface="Nimbus Sans"/>
              </a:defRPr>
            </a:pPr>
            <a:r>
              <a:rPr sz="1700"/>
              <a:t>Pastikan halaman cepat dibuka, tampilannya tidak bergeser, dan mudah digunakan.</a:t>
            </a:r>
          </a:p>
        </p:txBody>
      </p:sp>
      <p:sp>
        <p:nvSpPr>
          <p:cNvPr id="10" name="TextBox 9"/>
          <p:cNvSpPr txBox="1"/>
          <p:nvPr/>
        </p:nvSpPr>
        <p:spPr>
          <a:xfrm>
            <a:off x="594360" y="6437376"/>
            <a:ext cx="10287000" cy="219456"/>
          </a:xfrm>
          <a:prstGeom prst="rect">
            <a:avLst/>
          </a:prstGeom>
          <a:noFill/>
          <a:effectLst/>
        </p:spPr>
        <p:txBody>
          <a:bodyPr wrap="square" tIns="0" bIns="0" lIns="0" rIns="0">
            <a:spAutoFit/>
          </a:bodyPr>
          <a:lstStyle/>
          <a:p>
            <a:pPr>
              <a:spcBef>
                <a:spcPts val="0"/>
              </a:spcBef>
              <a:spcAft>
                <a:spcPts val="400"/>
              </a:spcAft>
              <a:defRPr sz="900" b="0">
                <a:solidFill>
                  <a:srgbClr val="567168"/>
                </a:solidFill>
                <a:latin typeface="Nimbus Sans"/>
              </a:defRPr>
            </a:pPr>
            <a:r>
              <a:rPr sz="900"/>
              <a:t>Contoh untuk penjelasan, bukan hasil audit Mecosin.</a:t>
            </a:r>
          </a:p>
        </p:txBody>
      </p:sp>
      <p:sp>
        <p:nvSpPr>
          <p:cNvPr id="11" name="TextBox 10"/>
          <p:cNvSpPr txBox="1"/>
          <p:nvPr/>
        </p:nvSpPr>
        <p:spPr>
          <a:xfrm>
            <a:off x="11091672" y="6391656"/>
            <a:ext cx="457200" cy="256032"/>
          </a:xfrm>
          <a:prstGeom prst="rect">
            <a:avLst/>
          </a:prstGeom>
          <a:noFill/>
          <a:effectLst/>
        </p:spPr>
        <p:txBody>
          <a:bodyPr wrap="square" tIns="0" bIns="0" lIns="0" rIns="0">
            <a:spAutoFit/>
          </a:bodyPr>
          <a:lstStyle/>
          <a:p>
            <a:pPr>
              <a:spcBef>
                <a:spcPts val="0"/>
              </a:spcBef>
              <a:spcAft>
                <a:spcPts val="600"/>
              </a:spcAft>
              <a:defRPr sz="1200" b="1">
                <a:solidFill>
                  <a:srgbClr val="17613F"/>
                </a:solidFill>
                <a:latin typeface="Nimbus Sans"/>
              </a:defRPr>
            </a:pPr>
            <a:r>
              <a:t>08</a:t>
            </a:r>
          </a:p>
        </p:txBody>
      </p:sp>
      <p:sp>
        <p:nvSpPr>
          <p:cNvPr id="12" name="Rectangle 11"/>
          <p:cNvSpPr/>
          <p:nvPr/>
        </p:nvSpPr>
        <p:spPr>
          <a:xfrm>
            <a:off x="566928"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2432304" y="6739128"/>
            <a:ext cx="1755648" cy="32004"/>
          </a:xfrm>
          <a:prstGeom prst="rect">
            <a:avLst/>
          </a:prstGeom>
          <a:solidFill>
            <a:srgbClr val="D2AB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297680"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163056"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8028431"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893807"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ounded Rectangle 35"/>
          <p:cNvSpPr/>
          <p:nvPr/>
        </p:nvSpPr>
        <p:spPr>
          <a:xfrm>
            <a:off x="594360" y="5833872"/>
            <a:ext cx="10972800" cy="484632"/>
          </a:xfrm>
          <a:prstGeom prst="roundRect">
            <a:avLst>
              <a:gd name="adj" fmla="val 3500"/>
            </a:avLst>
          </a:prstGeom>
          <a:solidFill>
            <a:srgbClr val="E4EE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77240" y="5943600"/>
            <a:ext cx="10607040" cy="283464"/>
          </a:xfrm>
          <a:prstGeom prst="rect">
            <a:avLst/>
          </a:prstGeom>
          <a:noFill/>
          <a:effectLst/>
        </p:spPr>
        <p:txBody>
          <a:bodyPr wrap="square" tIns="0" bIns="0" lIns="0" rIns="0">
            <a:spAutoFit/>
          </a:bodyPr>
          <a:lstStyle/>
          <a:p>
            <a:pPr>
              <a:spcBef>
                <a:spcPts val="0"/>
              </a:spcBef>
              <a:spcAft>
                <a:spcPts val="400"/>
              </a:spcAft>
              <a:defRPr sz="1200" b="0">
                <a:solidFill>
                  <a:srgbClr val="17613F"/>
                </a:solidFill>
                <a:latin typeface="Nimbus Sans"/>
              </a:defRPr>
            </a:pPr>
            <a:r>
              <a:rPr sz="1200"/>
              <a:t>Ilustrasi perbaikan tampilan, bukan pengukuran kecepatan atau hasil Core Web Vitals Mecosin.</a:t>
            </a:r>
          </a:p>
        </p:txBody>
      </p:sp>
      <p:sp>
        <p:nvSpPr>
          <p:cNvPr id="43" name="Rounded Rectangle 42"/>
          <p:cNvSpPr/>
          <p:nvPr/>
        </p:nvSpPr>
        <p:spPr>
          <a:xfrm>
            <a:off x="868680" y="2788920"/>
            <a:ext cx="1600200" cy="2560320"/>
          </a:xfrm>
          <a:prstGeom prst="roundRect">
            <a:avLst/>
          </a:prstGeom>
          <a:solidFill>
            <a:srgbClr val="193E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96696" y="2971800"/>
            <a:ext cx="1344168" cy="2103120"/>
          </a:xfrm>
          <a:prstGeom prst="rect">
            <a:avLst/>
          </a:prstGeom>
          <a:solidFill>
            <a:srgbClr val="FFFFFF"/>
          </a:solidFill>
          <a:ln w="2032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996696" y="3182112"/>
            <a:ext cx="1344168" cy="0"/>
          </a:xfrm>
          <a:prstGeom prst="line">
            <a:avLst/>
          </a:prstGeom>
          <a:ln w="12700">
            <a:solidFill>
              <a:srgbClr val="17613F"/>
            </a:solidFill>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1106424" y="3044952"/>
            <a:ext cx="41148" cy="41148"/>
          </a:xfrm>
          <a:prstGeom prst="ellips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225296" y="3044952"/>
            <a:ext cx="41148" cy="41148"/>
          </a:xfrm>
          <a:prstGeom prst="ellips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344168" y="3044952"/>
            <a:ext cx="41148" cy="41148"/>
          </a:xfrm>
          <a:prstGeom prst="ellips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70432" y="3447288"/>
            <a:ext cx="987552" cy="667512"/>
          </a:xfrm>
          <a:prstGeom prst="rect">
            <a:avLst/>
          </a:prstGeom>
          <a:solidFill>
            <a:srgbClr val="E4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31520" y="5431536"/>
            <a:ext cx="1920240" cy="219456"/>
          </a:xfrm>
          <a:prstGeom prst="rect">
            <a:avLst/>
          </a:prstGeom>
          <a:noFill/>
        </p:spPr>
        <p:txBody>
          <a:bodyPr wrap="square" lIns="0" rIns="0" tIns="0" bIns="0">
            <a:spAutoFit/>
          </a:bodyPr>
          <a:lstStyle/>
          <a:p>
            <a:pPr algn="ctr">
              <a:spcAft>
                <a:spcPts val="0"/>
              </a:spcAft>
            </a:pPr>
            <a:r>
              <a:rPr sz="1200" b="0">
                <a:solidFill>
                  <a:srgbClr val="567168"/>
                </a:solidFill>
                <a:latin typeface="Nimbus Sans"/>
              </a:rPr>
              <a:t>Uji di ponsel</a:t>
            </a:r>
          </a:p>
        </p:txBody>
      </p:sp>
      <p:sp>
        <p:nvSpPr>
          <p:cNvPr id="51" name="Rectangle 50"/>
          <p:cNvSpPr/>
          <p:nvPr/>
        </p:nvSpPr>
        <p:spPr>
          <a:xfrm>
            <a:off x="3200400" y="3127248"/>
            <a:ext cx="1856231" cy="1298448"/>
          </a:xfrm>
          <a:prstGeom prst="rect">
            <a:avLst/>
          </a:prstGeom>
          <a:solidFill>
            <a:srgbClr val="E4EEDC"/>
          </a:solidFill>
          <a:ln w="2032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Isosceles Triangle 51"/>
          <p:cNvSpPr/>
          <p:nvPr/>
        </p:nvSpPr>
        <p:spPr>
          <a:xfrm>
            <a:off x="3429000" y="3538728"/>
            <a:ext cx="777240" cy="612648"/>
          </a:xfrm>
          <a:prstGeom prst="triangl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4370832" y="3364992"/>
            <a:ext cx="246888" cy="246888"/>
          </a:xfrm>
          <a:prstGeom prst="ellipse">
            <a:avLst/>
          </a:prstGeom>
          <a:solidFill>
            <a:srgbClr val="D2A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a:off x="5303520" y="3794760"/>
            <a:ext cx="914400" cy="0"/>
          </a:xfrm>
          <a:prstGeom prst="line">
            <a:avLst/>
          </a:prstGeom>
          <a:ln w="38100">
            <a:solidFill>
              <a:srgbClr val="D2AB62"/>
            </a:solidFill>
            <a:tailEnd type="triangle"/>
          </a:ln>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6473952" y="3337560"/>
            <a:ext cx="1280160" cy="896112"/>
          </a:xfrm>
          <a:prstGeom prst="rect">
            <a:avLst/>
          </a:prstGeom>
          <a:solidFill>
            <a:srgbClr val="E4EEDC"/>
          </a:solidFill>
          <a:ln w="2032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Isosceles Triangle 55"/>
          <p:cNvSpPr/>
          <p:nvPr/>
        </p:nvSpPr>
        <p:spPr>
          <a:xfrm>
            <a:off x="6629400" y="3602736"/>
            <a:ext cx="548640" cy="438912"/>
          </a:xfrm>
          <a:prstGeom prst="triangl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7278624" y="3493008"/>
            <a:ext cx="164592" cy="164592"/>
          </a:xfrm>
          <a:prstGeom prst="ellipse">
            <a:avLst/>
          </a:prstGeom>
          <a:solidFill>
            <a:srgbClr val="D2A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Connector 57"/>
          <p:cNvCxnSpPr/>
          <p:nvPr/>
        </p:nvCxnSpPr>
        <p:spPr>
          <a:xfrm>
            <a:off x="7973568" y="3794760"/>
            <a:ext cx="749808" cy="0"/>
          </a:xfrm>
          <a:prstGeom prst="line">
            <a:avLst/>
          </a:prstGeom>
          <a:ln w="38100">
            <a:solidFill>
              <a:srgbClr val="D2AB62"/>
            </a:solidFill>
            <a:tailEnd type="triangle"/>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9418320" y="3593592"/>
            <a:ext cx="137160" cy="137160"/>
          </a:xfrm>
          <a:prstGeom prst="line">
            <a:avLst/>
          </a:prstGeom>
          <a:ln w="3810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9555480" y="3429000"/>
            <a:ext cx="301752" cy="301752"/>
          </a:xfrm>
          <a:prstGeom prst="line">
            <a:avLst/>
          </a:prstGeom>
          <a:ln w="38100">
            <a:solidFill>
              <a:srgbClr val="17613F"/>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3154680" y="4434840"/>
            <a:ext cx="2514600" cy="594360"/>
          </a:xfrm>
          <a:prstGeom prst="rect">
            <a:avLst/>
          </a:prstGeom>
          <a:noFill/>
        </p:spPr>
        <p:txBody>
          <a:bodyPr wrap="square" lIns="0" rIns="0" tIns="0" bIns="0">
            <a:spAutoFit/>
          </a:bodyPr>
          <a:lstStyle/>
          <a:p>
            <a:pPr algn="l">
              <a:spcAft>
                <a:spcPts val="0"/>
              </a:spcAft>
            </a:pPr>
            <a:r>
              <a:rPr sz="2200" b="1">
                <a:solidFill>
                  <a:srgbClr val="17613F"/>
                </a:solidFill>
                <a:latin typeface="Nimbus Sans"/>
              </a:rPr>
              <a:t>Sesuaikan gambar</a:t>
            </a:r>
          </a:p>
        </p:txBody>
      </p:sp>
      <p:sp>
        <p:nvSpPr>
          <p:cNvPr id="62" name="TextBox 61"/>
          <p:cNvSpPr txBox="1"/>
          <p:nvPr/>
        </p:nvSpPr>
        <p:spPr>
          <a:xfrm>
            <a:off x="3154680" y="5102352"/>
            <a:ext cx="2514600" cy="493776"/>
          </a:xfrm>
          <a:prstGeom prst="rect">
            <a:avLst/>
          </a:prstGeom>
          <a:noFill/>
        </p:spPr>
        <p:txBody>
          <a:bodyPr wrap="square" lIns="0" rIns="0" tIns="0" bIns="0">
            <a:spAutoFit/>
          </a:bodyPr>
          <a:lstStyle/>
          <a:p>
            <a:pPr algn="l">
              <a:spcAft>
                <a:spcPts val="0"/>
              </a:spcAft>
            </a:pPr>
            <a:r>
              <a:rPr sz="1600" b="0">
                <a:solidFill>
                  <a:srgbClr val="567168"/>
                </a:solidFill>
                <a:latin typeface="Nimbus Sans"/>
              </a:rPr>
              <a:t>Ukuran &amp; format file</a:t>
            </a:r>
          </a:p>
        </p:txBody>
      </p:sp>
      <p:sp>
        <p:nvSpPr>
          <p:cNvPr id="63" name="TextBox 62"/>
          <p:cNvSpPr txBox="1"/>
          <p:nvPr/>
        </p:nvSpPr>
        <p:spPr>
          <a:xfrm>
            <a:off x="6217920" y="4434840"/>
            <a:ext cx="2514600" cy="594360"/>
          </a:xfrm>
          <a:prstGeom prst="rect">
            <a:avLst/>
          </a:prstGeom>
          <a:noFill/>
        </p:spPr>
        <p:txBody>
          <a:bodyPr wrap="square" lIns="0" rIns="0" tIns="0" bIns="0">
            <a:spAutoFit/>
          </a:bodyPr>
          <a:lstStyle/>
          <a:p>
            <a:pPr algn="l">
              <a:spcAft>
                <a:spcPts val="0"/>
              </a:spcAft>
            </a:pPr>
            <a:r>
              <a:rPr sz="2200" b="1">
                <a:solidFill>
                  <a:srgbClr val="17613F"/>
                </a:solidFill>
                <a:latin typeface="Nimbus Sans"/>
              </a:rPr>
              <a:t>Atur dimensinya</a:t>
            </a:r>
          </a:p>
        </p:txBody>
      </p:sp>
      <p:sp>
        <p:nvSpPr>
          <p:cNvPr id="64" name="TextBox 63"/>
          <p:cNvSpPr txBox="1"/>
          <p:nvPr/>
        </p:nvSpPr>
        <p:spPr>
          <a:xfrm>
            <a:off x="6217920" y="5102352"/>
            <a:ext cx="2514600" cy="493776"/>
          </a:xfrm>
          <a:prstGeom prst="rect">
            <a:avLst/>
          </a:prstGeom>
          <a:noFill/>
        </p:spPr>
        <p:txBody>
          <a:bodyPr wrap="square" lIns="0" rIns="0" tIns="0" bIns="0">
            <a:spAutoFit/>
          </a:bodyPr>
          <a:lstStyle/>
          <a:p>
            <a:pPr algn="l">
              <a:spcAft>
                <a:spcPts val="0"/>
              </a:spcAft>
            </a:pPr>
            <a:r>
              <a:rPr sz="1600" b="0">
                <a:solidFill>
                  <a:srgbClr val="567168"/>
                </a:solidFill>
                <a:latin typeface="Nimbus Sans"/>
              </a:rPr>
              <a:t>Lebar &amp; tinggi gambar</a:t>
            </a:r>
          </a:p>
        </p:txBody>
      </p:sp>
      <p:sp>
        <p:nvSpPr>
          <p:cNvPr id="65" name="TextBox 64"/>
          <p:cNvSpPr txBox="1"/>
          <p:nvPr/>
        </p:nvSpPr>
        <p:spPr>
          <a:xfrm>
            <a:off x="8823960" y="4434840"/>
            <a:ext cx="2514600" cy="594360"/>
          </a:xfrm>
          <a:prstGeom prst="rect">
            <a:avLst/>
          </a:prstGeom>
          <a:noFill/>
        </p:spPr>
        <p:txBody>
          <a:bodyPr wrap="square" lIns="0" rIns="0" tIns="0" bIns="0">
            <a:spAutoFit/>
          </a:bodyPr>
          <a:lstStyle/>
          <a:p>
            <a:pPr algn="l">
              <a:spcAft>
                <a:spcPts val="0"/>
              </a:spcAft>
            </a:pPr>
            <a:r>
              <a:rPr sz="2200" b="1">
                <a:solidFill>
                  <a:srgbClr val="17613F"/>
                </a:solidFill>
                <a:latin typeface="Nimbus Sans"/>
              </a:rPr>
              <a:t>Periksa lagi</a:t>
            </a:r>
          </a:p>
        </p:txBody>
      </p:sp>
      <p:sp>
        <p:nvSpPr>
          <p:cNvPr id="66" name="TextBox 65"/>
          <p:cNvSpPr txBox="1"/>
          <p:nvPr/>
        </p:nvSpPr>
        <p:spPr>
          <a:xfrm>
            <a:off x="8823960" y="5102352"/>
            <a:ext cx="2514600" cy="493776"/>
          </a:xfrm>
          <a:prstGeom prst="rect">
            <a:avLst/>
          </a:prstGeom>
          <a:noFill/>
        </p:spPr>
        <p:txBody>
          <a:bodyPr wrap="square" lIns="0" rIns="0" tIns="0" bIns="0">
            <a:spAutoFit/>
          </a:bodyPr>
          <a:lstStyle/>
          <a:p>
            <a:pPr algn="l">
              <a:spcAft>
                <a:spcPts val="0"/>
              </a:spcAft>
            </a:pPr>
            <a:r>
              <a:rPr sz="1600" b="0">
                <a:solidFill>
                  <a:srgbClr val="567168"/>
                </a:solidFill>
                <a:latin typeface="Nimbus Sans"/>
              </a:rPr>
              <a:t>Tampilan di ponsel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8F3"/>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1761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502920" y="210312"/>
            <a:ext cx="2395728" cy="448056"/>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5" name="Picture 34" descr="image.png"/>
          <p:cNvPicPr>
            <a:picLocks noChangeAspect="1"/>
          </p:cNvPicPr>
          <p:nvPr/>
        </p:nvPicPr>
        <p:blipFill>
          <a:blip r:embed="rId5"/>
          <a:stretch>
            <a:fillRect/>
          </a:stretch>
        </p:blipFill>
        <p:spPr>
          <a:xfrm>
            <a:off x="603504" y="323088"/>
            <a:ext cx="585216" cy="195072"/>
          </a:xfrm>
          <a:prstGeom prst="rect">
            <a:avLst/>
          </a:prstGeom>
          <a:effectLst/>
        </p:spPr>
      </p:pic>
      <p:sp>
        <p:nvSpPr>
          <p:cNvPr id="5" name="TextBox 4"/>
          <p:cNvSpPr txBox="1"/>
          <p:nvPr/>
        </p:nvSpPr>
        <p:spPr>
          <a:xfrm>
            <a:off x="1271016" y="283464"/>
            <a:ext cx="164592" cy="228600"/>
          </a:xfrm>
          <a:prstGeom prst="rect">
            <a:avLst/>
          </a:prstGeom>
          <a:noFill/>
          <a:effectLst/>
        </p:spPr>
        <p:txBody>
          <a:bodyPr wrap="square" tIns="0" bIns="0" lIns="0" rIns="0">
            <a:spAutoFit/>
          </a:bodyPr>
          <a:lstStyle/>
          <a:p>
            <a:pPr>
              <a:spcBef>
                <a:spcPts val="0"/>
              </a:spcBef>
              <a:spcAft>
                <a:spcPts val="600"/>
              </a:spcAft>
              <a:defRPr sz="1200" b="0">
                <a:solidFill>
                  <a:srgbClr val="567168"/>
                </a:solidFill>
                <a:latin typeface="Nimbus Sans"/>
              </a:defRPr>
            </a:pPr>
            <a:r>
              <a:t>×</a:t>
            </a:r>
          </a:p>
        </p:txBody>
      </p:sp>
      <p:pic>
        <p:nvPicPr>
          <p:cNvPr id="36" name="Picture 35" descr="image.png"/>
          <p:cNvPicPr>
            <a:picLocks noChangeAspect="1"/>
          </p:cNvPicPr>
          <p:nvPr/>
        </p:nvPicPr>
        <p:blipFill>
          <a:blip r:embed="rId6"/>
          <a:stretch>
            <a:fillRect/>
          </a:stretch>
        </p:blipFill>
        <p:spPr>
          <a:xfrm>
            <a:off x="1536192" y="334792"/>
            <a:ext cx="1243584" cy="153375"/>
          </a:xfrm>
          <a:prstGeom prst="rect">
            <a:avLst/>
          </a:prstGeom>
          <a:effectLst/>
        </p:spPr>
      </p:pic>
      <p:sp>
        <p:nvSpPr>
          <p:cNvPr id="7" name="TextBox 6"/>
          <p:cNvSpPr txBox="1"/>
          <p:nvPr/>
        </p:nvSpPr>
        <p:spPr>
          <a:xfrm>
            <a:off x="5486400" y="356616"/>
            <a:ext cx="6062472" cy="237744"/>
          </a:xfrm>
          <a:prstGeom prst="rect">
            <a:avLst/>
          </a:prstGeom>
          <a:noFill/>
          <a:effectLst/>
        </p:spPr>
        <p:txBody>
          <a:bodyPr wrap="square" tIns="0" bIns="0" lIns="0" rIns="0">
            <a:spAutoFit/>
          </a:bodyPr>
          <a:lstStyle/>
          <a:p>
            <a:pPr algn="r">
              <a:spcBef>
                <a:spcPts val="0"/>
              </a:spcBef>
              <a:spcAft>
                <a:spcPts val="600"/>
              </a:spcAft>
              <a:defRPr sz="1000" b="1">
                <a:solidFill>
                  <a:srgbClr val="17613F"/>
                </a:solidFill>
                <a:latin typeface="Nimbus Sans"/>
              </a:defRPr>
            </a:pPr>
            <a:r>
              <a:t>02 / TECHNICAL SEO</a:t>
            </a:r>
          </a:p>
        </p:txBody>
      </p:sp>
      <p:sp>
        <p:nvSpPr>
          <p:cNvPr id="8" name="TextBox 7"/>
          <p:cNvSpPr txBox="1"/>
          <p:nvPr/>
        </p:nvSpPr>
        <p:spPr>
          <a:xfrm>
            <a:off x="594360" y="960120"/>
            <a:ext cx="10972800" cy="822960"/>
          </a:xfrm>
          <a:prstGeom prst="rect">
            <a:avLst/>
          </a:prstGeom>
          <a:noFill/>
          <a:effectLst/>
        </p:spPr>
        <p:txBody>
          <a:bodyPr wrap="square" tIns="0" bIns="0" lIns="0" rIns="0">
            <a:spAutoFit/>
          </a:bodyPr>
          <a:lstStyle/>
          <a:p>
            <a:pPr>
              <a:spcBef>
                <a:spcPts val="0"/>
              </a:spcBef>
              <a:spcAft>
                <a:spcPts val="400"/>
              </a:spcAft>
              <a:defRPr sz="3100" b="1">
                <a:solidFill>
                  <a:srgbClr val="193E32"/>
                </a:solidFill>
                <a:latin typeface="Nimbus Sans"/>
              </a:defRPr>
            </a:pPr>
            <a:r>
              <a:rPr sz="3100"/>
              <a:t>Schema: membantu Google memahami isi halaman</a:t>
            </a:r>
          </a:p>
        </p:txBody>
      </p:sp>
      <p:sp>
        <p:nvSpPr>
          <p:cNvPr id="9" name="TextBox 8"/>
          <p:cNvSpPr txBox="1"/>
          <p:nvPr/>
        </p:nvSpPr>
        <p:spPr>
          <a:xfrm>
            <a:off x="594360" y="1792224"/>
            <a:ext cx="10972800" cy="594360"/>
          </a:xfrm>
          <a:prstGeom prst="rect">
            <a:avLst/>
          </a:prstGeom>
          <a:noFill/>
          <a:effectLst/>
        </p:spPr>
        <p:txBody>
          <a:bodyPr wrap="square" tIns="0" bIns="0" lIns="0" rIns="0">
            <a:spAutoFit/>
          </a:bodyPr>
          <a:lstStyle/>
          <a:p>
            <a:pPr>
              <a:spcBef>
                <a:spcPts val="0"/>
              </a:spcBef>
              <a:spcAft>
                <a:spcPts val="400"/>
              </a:spcAft>
              <a:defRPr sz="1700" b="0">
                <a:solidFill>
                  <a:srgbClr val="567168"/>
                </a:solidFill>
                <a:latin typeface="Nimbus Sans"/>
              </a:defRPr>
            </a:pPr>
            <a:r>
              <a:rPr sz="1700"/>
              <a:t>Schema memberi keterangan tambahan dalam kode, misalnya judul, penulis, dan tanggal terbit artikel.</a:t>
            </a:r>
          </a:p>
        </p:txBody>
      </p:sp>
      <p:sp>
        <p:nvSpPr>
          <p:cNvPr id="10" name="TextBox 9"/>
          <p:cNvSpPr txBox="1"/>
          <p:nvPr/>
        </p:nvSpPr>
        <p:spPr>
          <a:xfrm>
            <a:off x="594360" y="6437376"/>
            <a:ext cx="10287000" cy="219456"/>
          </a:xfrm>
          <a:prstGeom prst="rect">
            <a:avLst/>
          </a:prstGeom>
          <a:noFill/>
          <a:effectLst/>
        </p:spPr>
        <p:txBody>
          <a:bodyPr wrap="square" tIns="0" bIns="0" lIns="0" rIns="0">
            <a:spAutoFit/>
          </a:bodyPr>
          <a:lstStyle/>
          <a:p>
            <a:pPr>
              <a:spcBef>
                <a:spcPts val="0"/>
              </a:spcBef>
              <a:spcAft>
                <a:spcPts val="400"/>
              </a:spcAft>
              <a:defRPr sz="900" b="0">
                <a:solidFill>
                  <a:srgbClr val="567168"/>
                </a:solidFill>
                <a:latin typeface="Nimbus Sans"/>
              </a:defRPr>
            </a:pPr>
            <a:r>
              <a:rPr sz="900"/>
              <a:t>Contoh untuk penjelasan, bukan hasil audit Mecosin.</a:t>
            </a:r>
          </a:p>
        </p:txBody>
      </p:sp>
      <p:sp>
        <p:nvSpPr>
          <p:cNvPr id="11" name="TextBox 10"/>
          <p:cNvSpPr txBox="1"/>
          <p:nvPr/>
        </p:nvSpPr>
        <p:spPr>
          <a:xfrm>
            <a:off x="11091672" y="6391656"/>
            <a:ext cx="457200" cy="256032"/>
          </a:xfrm>
          <a:prstGeom prst="rect">
            <a:avLst/>
          </a:prstGeom>
          <a:noFill/>
          <a:effectLst/>
        </p:spPr>
        <p:txBody>
          <a:bodyPr wrap="square" tIns="0" bIns="0" lIns="0" rIns="0">
            <a:spAutoFit/>
          </a:bodyPr>
          <a:lstStyle/>
          <a:p>
            <a:pPr>
              <a:spcBef>
                <a:spcPts val="0"/>
              </a:spcBef>
              <a:spcAft>
                <a:spcPts val="600"/>
              </a:spcAft>
              <a:defRPr sz="1200" b="1">
                <a:solidFill>
                  <a:srgbClr val="17613F"/>
                </a:solidFill>
                <a:latin typeface="Nimbus Sans"/>
              </a:defRPr>
            </a:pPr>
            <a:r>
              <a:t>09</a:t>
            </a:r>
          </a:p>
        </p:txBody>
      </p:sp>
      <p:sp>
        <p:nvSpPr>
          <p:cNvPr id="12" name="Rectangle 11"/>
          <p:cNvSpPr/>
          <p:nvPr/>
        </p:nvSpPr>
        <p:spPr>
          <a:xfrm>
            <a:off x="566928"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2432304" y="6739128"/>
            <a:ext cx="1755648" cy="32004"/>
          </a:xfrm>
          <a:prstGeom prst="rect">
            <a:avLst/>
          </a:prstGeom>
          <a:solidFill>
            <a:srgbClr val="D2AB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297680"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163056"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8028431"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893807"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ounded Rectangle 17"/>
          <p:cNvSpPr/>
          <p:nvPr/>
        </p:nvSpPr>
        <p:spPr>
          <a:xfrm>
            <a:off x="594360" y="2596896"/>
            <a:ext cx="5212080" cy="2724912"/>
          </a:xfrm>
          <a:prstGeom prst="roundRect">
            <a:avLst>
              <a:gd name="adj" fmla="val 3500"/>
            </a:avLst>
          </a:prstGeom>
          <a:solidFill>
            <a:srgbClr val="FFFFFF"/>
          </a:solidFill>
          <a:ln w="12700">
            <a:solidFill>
              <a:srgbClr val="CCD9C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ounded Rectangle 18"/>
          <p:cNvSpPr/>
          <p:nvPr/>
        </p:nvSpPr>
        <p:spPr>
          <a:xfrm>
            <a:off x="594360" y="2596896"/>
            <a:ext cx="5212080" cy="393192"/>
          </a:xfrm>
          <a:prstGeom prst="roundRect">
            <a:avLst>
              <a:gd name="adj" fmla="val 12000"/>
            </a:avLst>
          </a:prstGeom>
          <a:solidFill>
            <a:srgbClr val="E4EE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77240" y="2706624"/>
            <a:ext cx="4846320" cy="201168"/>
          </a:xfrm>
          <a:prstGeom prst="rect">
            <a:avLst/>
          </a:prstGeom>
          <a:noFill/>
          <a:effectLst/>
        </p:spPr>
        <p:txBody>
          <a:bodyPr wrap="square" tIns="0" bIns="0" lIns="0" rIns="0">
            <a:spAutoFit/>
          </a:bodyPr>
          <a:lstStyle/>
          <a:p>
            <a:pPr>
              <a:spcBef>
                <a:spcPts val="0"/>
              </a:spcBef>
              <a:spcAft>
                <a:spcPts val="600"/>
              </a:spcAft>
              <a:defRPr sz="1100" b="0">
                <a:solidFill>
                  <a:srgbClr val="567168"/>
                </a:solidFill>
                <a:latin typeface="Nimbus Sans"/>
              </a:defRPr>
            </a:pPr>
            <a:r>
              <a:t>Yang dibaca pengunjung</a:t>
            </a:r>
          </a:p>
        </p:txBody>
      </p:sp>
      <p:sp>
        <p:nvSpPr>
          <p:cNvPr id="21" name="TextBox 20"/>
          <p:cNvSpPr txBox="1"/>
          <p:nvPr/>
        </p:nvSpPr>
        <p:spPr>
          <a:xfrm>
            <a:off x="868680" y="3310127"/>
            <a:ext cx="4617720" cy="777240"/>
          </a:xfrm>
          <a:prstGeom prst="rect">
            <a:avLst/>
          </a:prstGeom>
          <a:noFill/>
          <a:effectLst/>
        </p:spPr>
        <p:txBody>
          <a:bodyPr wrap="square" tIns="0" bIns="0" lIns="0" rIns="0">
            <a:spAutoFit/>
          </a:bodyPr>
          <a:lstStyle/>
          <a:p>
            <a:pPr>
              <a:spcBef>
                <a:spcPts val="0"/>
              </a:spcBef>
              <a:spcAft>
                <a:spcPts val="600"/>
              </a:spcAft>
              <a:defRPr sz="2500" b="1">
                <a:solidFill>
                  <a:srgbClr val="193E32"/>
                </a:solidFill>
                <a:latin typeface="Nimbus Sans"/>
              </a:defRPr>
            </a:pPr>
            <a:r>
              <a:t>Cara Membaca Label</a:t>
            </a:r>
          </a:p>
          <a:p>
            <a:pPr>
              <a:spcBef>
                <a:spcPts val="0"/>
              </a:spcBef>
              <a:spcAft>
                <a:spcPts val="600"/>
              </a:spcAft>
              <a:defRPr sz="2500" b="1">
                <a:solidFill>
                  <a:srgbClr val="193E32"/>
                </a:solidFill>
                <a:latin typeface="Nimbus Sans"/>
              </a:defRPr>
            </a:pPr>
            <a:r>
              <a:t>Produk Herbal</a:t>
            </a:r>
          </a:p>
        </p:txBody>
      </p:sp>
      <p:sp>
        <p:nvSpPr>
          <p:cNvPr id="22" name="TextBox 21"/>
          <p:cNvSpPr txBox="1"/>
          <p:nvPr/>
        </p:nvSpPr>
        <p:spPr>
          <a:xfrm>
            <a:off x="868680" y="4398264"/>
            <a:ext cx="4617720" cy="731520"/>
          </a:xfrm>
          <a:prstGeom prst="rect">
            <a:avLst/>
          </a:prstGeom>
          <a:noFill/>
          <a:effectLst/>
        </p:spPr>
        <p:txBody>
          <a:bodyPr wrap="square" tIns="0" bIns="0" lIns="0" rIns="0">
            <a:spAutoFit/>
          </a:bodyPr>
          <a:lstStyle/>
          <a:p>
            <a:pPr>
              <a:spcBef>
                <a:spcPts val="0"/>
              </a:spcBef>
              <a:spcAft>
                <a:spcPts val="600"/>
              </a:spcAft>
              <a:defRPr sz="1800" b="0">
                <a:solidFill>
                  <a:srgbClr val="567168"/>
                </a:solidFill>
                <a:latin typeface="Nimbus Sans"/>
              </a:defRPr>
            </a:pPr>
            <a:r>
              <a:t>Penulis • tanggal • gambar</a:t>
            </a:r>
          </a:p>
          <a:p>
            <a:pPr>
              <a:spcBef>
                <a:spcPts val="0"/>
              </a:spcBef>
              <a:spcAft>
                <a:spcPts val="600"/>
              </a:spcAft>
              <a:defRPr sz="1800" b="0">
                <a:solidFill>
                  <a:srgbClr val="567168"/>
                </a:solidFill>
                <a:latin typeface="Nimbus Sans"/>
              </a:defRPr>
            </a:pPr>
            <a:r>
              <a:t>Isi artikel dari sumber resmi</a:t>
            </a:r>
          </a:p>
        </p:txBody>
      </p:sp>
      <p:sp>
        <p:nvSpPr>
          <p:cNvPr id="23" name="Rounded Rectangle 22"/>
          <p:cNvSpPr/>
          <p:nvPr/>
        </p:nvSpPr>
        <p:spPr>
          <a:xfrm>
            <a:off x="6309360" y="2596896"/>
            <a:ext cx="5257800" cy="2724912"/>
          </a:xfrm>
          <a:prstGeom prst="roundRect">
            <a:avLst>
              <a:gd name="adj" fmla="val 3500"/>
            </a:avLst>
          </a:prstGeom>
          <a:solidFill>
            <a:srgbClr val="193E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556248" y="2834639"/>
            <a:ext cx="4754880" cy="237744"/>
          </a:xfrm>
          <a:prstGeom prst="rect">
            <a:avLst/>
          </a:prstGeom>
          <a:noFill/>
          <a:effectLst/>
        </p:spPr>
        <p:txBody>
          <a:bodyPr wrap="square" tIns="0" bIns="0" lIns="0" rIns="0">
            <a:spAutoFit/>
          </a:bodyPr>
          <a:lstStyle/>
          <a:p>
            <a:pPr>
              <a:spcBef>
                <a:spcPts val="0"/>
              </a:spcBef>
              <a:spcAft>
                <a:spcPts val="600"/>
              </a:spcAft>
              <a:defRPr sz="1000" b="1">
                <a:solidFill>
                  <a:srgbClr val="E4EEDC"/>
                </a:solidFill>
                <a:latin typeface="Nimbus Sans"/>
              </a:defRPr>
            </a:pPr>
            <a:r>
              <a:t>CONTOH PEMETAAN / BUKAN KODE SIAP PASANG</a:t>
            </a:r>
          </a:p>
        </p:txBody>
      </p:sp>
      <p:sp>
        <p:nvSpPr>
          <p:cNvPr id="25" name="TextBox 24"/>
          <p:cNvSpPr txBox="1"/>
          <p:nvPr/>
        </p:nvSpPr>
        <p:spPr>
          <a:xfrm>
            <a:off x="6583680" y="3438144"/>
            <a:ext cx="1874519" cy="292608"/>
          </a:xfrm>
          <a:prstGeom prst="rect">
            <a:avLst/>
          </a:prstGeom>
          <a:noFill/>
          <a:effectLst/>
        </p:spPr>
        <p:txBody>
          <a:bodyPr wrap="square" tIns="0" bIns="0" lIns="0" rIns="0">
            <a:spAutoFit/>
          </a:bodyPr>
          <a:lstStyle/>
          <a:p>
            <a:pPr>
              <a:spcBef>
                <a:spcPts val="0"/>
              </a:spcBef>
              <a:spcAft>
                <a:spcPts val="600"/>
              </a:spcAft>
              <a:defRPr sz="1700" b="1">
                <a:solidFill>
                  <a:srgbClr val="E4EEDC"/>
                </a:solidFill>
                <a:latin typeface="Nimbus Sans"/>
              </a:defRPr>
            </a:pPr>
            <a:r>
              <a:t>headline</a:t>
            </a:r>
          </a:p>
        </p:txBody>
      </p:sp>
      <p:sp>
        <p:nvSpPr>
          <p:cNvPr id="26" name="TextBox 25"/>
          <p:cNvSpPr txBox="1"/>
          <p:nvPr/>
        </p:nvSpPr>
        <p:spPr>
          <a:xfrm>
            <a:off x="8613648" y="3438144"/>
            <a:ext cx="2606040" cy="292608"/>
          </a:xfrm>
          <a:prstGeom prst="rect">
            <a:avLst/>
          </a:prstGeom>
          <a:noFill/>
          <a:effectLst/>
        </p:spPr>
        <p:txBody>
          <a:bodyPr wrap="square" tIns="0" bIns="0" lIns="0" rIns="0">
            <a:spAutoFit/>
          </a:bodyPr>
          <a:lstStyle/>
          <a:p>
            <a:pPr>
              <a:spcBef>
                <a:spcPts val="0"/>
              </a:spcBef>
              <a:spcAft>
                <a:spcPts val="600"/>
              </a:spcAft>
              <a:defRPr sz="1700" b="0">
                <a:solidFill>
                  <a:srgbClr val="FFFFFF"/>
                </a:solidFill>
                <a:latin typeface="Nimbus Sans"/>
              </a:defRPr>
            </a:pPr>
            <a:r>
              <a:t>Judul artikel</a:t>
            </a:r>
          </a:p>
        </p:txBody>
      </p:sp>
      <p:sp>
        <p:nvSpPr>
          <p:cNvPr id="27" name="TextBox 26"/>
          <p:cNvSpPr txBox="1"/>
          <p:nvPr/>
        </p:nvSpPr>
        <p:spPr>
          <a:xfrm>
            <a:off x="6583680" y="3831336"/>
            <a:ext cx="1874519" cy="292608"/>
          </a:xfrm>
          <a:prstGeom prst="rect">
            <a:avLst/>
          </a:prstGeom>
          <a:noFill/>
          <a:effectLst/>
        </p:spPr>
        <p:txBody>
          <a:bodyPr wrap="square" tIns="0" bIns="0" lIns="0" rIns="0">
            <a:spAutoFit/>
          </a:bodyPr>
          <a:lstStyle/>
          <a:p>
            <a:pPr>
              <a:spcBef>
                <a:spcPts val="0"/>
              </a:spcBef>
              <a:spcAft>
                <a:spcPts val="600"/>
              </a:spcAft>
              <a:defRPr sz="1700" b="1">
                <a:solidFill>
                  <a:srgbClr val="E4EEDC"/>
                </a:solidFill>
                <a:latin typeface="Nimbus Sans"/>
              </a:defRPr>
            </a:pPr>
            <a:r>
              <a:t>author</a:t>
            </a:r>
          </a:p>
        </p:txBody>
      </p:sp>
      <p:sp>
        <p:nvSpPr>
          <p:cNvPr id="28" name="TextBox 27"/>
          <p:cNvSpPr txBox="1"/>
          <p:nvPr/>
        </p:nvSpPr>
        <p:spPr>
          <a:xfrm>
            <a:off x="8613648" y="3831336"/>
            <a:ext cx="2606040" cy="292608"/>
          </a:xfrm>
          <a:prstGeom prst="rect">
            <a:avLst/>
          </a:prstGeom>
          <a:noFill/>
          <a:effectLst/>
        </p:spPr>
        <p:txBody>
          <a:bodyPr wrap="square" tIns="0" bIns="0" lIns="0" rIns="0">
            <a:spAutoFit/>
          </a:bodyPr>
          <a:lstStyle/>
          <a:p>
            <a:pPr>
              <a:spcBef>
                <a:spcPts val="0"/>
              </a:spcBef>
              <a:spcAft>
                <a:spcPts val="600"/>
              </a:spcAft>
              <a:defRPr sz="1700" b="0">
                <a:solidFill>
                  <a:srgbClr val="FFFFFF"/>
                </a:solidFill>
                <a:latin typeface="Nimbus Sans"/>
              </a:defRPr>
            </a:pPr>
            <a:r>
              <a:t>Nama penulis</a:t>
            </a:r>
          </a:p>
        </p:txBody>
      </p:sp>
      <p:sp>
        <p:nvSpPr>
          <p:cNvPr id="29" name="TextBox 28"/>
          <p:cNvSpPr txBox="1"/>
          <p:nvPr/>
        </p:nvSpPr>
        <p:spPr>
          <a:xfrm>
            <a:off x="6583680" y="4224528"/>
            <a:ext cx="1874519" cy="292608"/>
          </a:xfrm>
          <a:prstGeom prst="rect">
            <a:avLst/>
          </a:prstGeom>
          <a:noFill/>
          <a:effectLst/>
        </p:spPr>
        <p:txBody>
          <a:bodyPr wrap="square" tIns="0" bIns="0" lIns="0" rIns="0">
            <a:spAutoFit/>
          </a:bodyPr>
          <a:lstStyle/>
          <a:p>
            <a:pPr>
              <a:spcBef>
                <a:spcPts val="0"/>
              </a:spcBef>
              <a:spcAft>
                <a:spcPts val="600"/>
              </a:spcAft>
              <a:defRPr sz="1700" b="1">
                <a:solidFill>
                  <a:srgbClr val="E4EEDC"/>
                </a:solidFill>
                <a:latin typeface="Nimbus Sans"/>
              </a:defRPr>
            </a:pPr>
            <a:r>
              <a:t>datePublished</a:t>
            </a:r>
          </a:p>
        </p:txBody>
      </p:sp>
      <p:sp>
        <p:nvSpPr>
          <p:cNvPr id="30" name="TextBox 29"/>
          <p:cNvSpPr txBox="1"/>
          <p:nvPr/>
        </p:nvSpPr>
        <p:spPr>
          <a:xfrm>
            <a:off x="8613648" y="4224528"/>
            <a:ext cx="2606040" cy="292608"/>
          </a:xfrm>
          <a:prstGeom prst="rect">
            <a:avLst/>
          </a:prstGeom>
          <a:noFill/>
          <a:effectLst/>
        </p:spPr>
        <p:txBody>
          <a:bodyPr wrap="square" tIns="0" bIns="0" lIns="0" rIns="0">
            <a:spAutoFit/>
          </a:bodyPr>
          <a:lstStyle/>
          <a:p>
            <a:pPr>
              <a:spcBef>
                <a:spcPts val="0"/>
              </a:spcBef>
              <a:spcAft>
                <a:spcPts val="600"/>
              </a:spcAft>
              <a:defRPr sz="1700" b="0">
                <a:solidFill>
                  <a:srgbClr val="FFFFFF"/>
                </a:solidFill>
                <a:latin typeface="Nimbus Sans"/>
              </a:defRPr>
            </a:pPr>
            <a:r>
              <a:t>Tanggal tayang</a:t>
            </a:r>
          </a:p>
        </p:txBody>
      </p:sp>
      <p:sp>
        <p:nvSpPr>
          <p:cNvPr id="31" name="TextBox 30"/>
          <p:cNvSpPr txBox="1"/>
          <p:nvPr/>
        </p:nvSpPr>
        <p:spPr>
          <a:xfrm>
            <a:off x="6583680" y="4617720"/>
            <a:ext cx="1874519" cy="292608"/>
          </a:xfrm>
          <a:prstGeom prst="rect">
            <a:avLst/>
          </a:prstGeom>
          <a:noFill/>
          <a:effectLst/>
        </p:spPr>
        <p:txBody>
          <a:bodyPr wrap="square" tIns="0" bIns="0" lIns="0" rIns="0">
            <a:spAutoFit/>
          </a:bodyPr>
          <a:lstStyle/>
          <a:p>
            <a:pPr>
              <a:spcBef>
                <a:spcPts val="0"/>
              </a:spcBef>
              <a:spcAft>
                <a:spcPts val="600"/>
              </a:spcAft>
              <a:defRPr sz="1700" b="1">
                <a:solidFill>
                  <a:srgbClr val="E4EEDC"/>
                </a:solidFill>
                <a:latin typeface="Nimbus Sans"/>
              </a:defRPr>
            </a:pPr>
            <a:r>
              <a:t>image</a:t>
            </a:r>
          </a:p>
        </p:txBody>
      </p:sp>
      <p:sp>
        <p:nvSpPr>
          <p:cNvPr id="32" name="TextBox 31"/>
          <p:cNvSpPr txBox="1"/>
          <p:nvPr/>
        </p:nvSpPr>
        <p:spPr>
          <a:xfrm>
            <a:off x="8613648" y="4617720"/>
            <a:ext cx="2606040" cy="292608"/>
          </a:xfrm>
          <a:prstGeom prst="rect">
            <a:avLst/>
          </a:prstGeom>
          <a:noFill/>
          <a:effectLst/>
        </p:spPr>
        <p:txBody>
          <a:bodyPr wrap="square" tIns="0" bIns="0" lIns="0" rIns="0">
            <a:spAutoFit/>
          </a:bodyPr>
          <a:lstStyle/>
          <a:p>
            <a:pPr>
              <a:spcBef>
                <a:spcPts val="0"/>
              </a:spcBef>
              <a:spcAft>
                <a:spcPts val="600"/>
              </a:spcAft>
              <a:defRPr sz="1700" b="0">
                <a:solidFill>
                  <a:srgbClr val="FFFFFF"/>
                </a:solidFill>
                <a:latin typeface="Nimbus Sans"/>
              </a:defRPr>
            </a:pPr>
            <a:r>
              <a:t>Gambar utama</a:t>
            </a:r>
          </a:p>
        </p:txBody>
      </p:sp>
      <p:sp>
        <p:nvSpPr>
          <p:cNvPr id="33" name="Rounded Rectangle 32"/>
          <p:cNvSpPr/>
          <p:nvPr/>
        </p:nvSpPr>
        <p:spPr>
          <a:xfrm>
            <a:off x="594360" y="5833872"/>
            <a:ext cx="10972800" cy="484632"/>
          </a:xfrm>
          <a:prstGeom prst="roundRect">
            <a:avLst>
              <a:gd name="adj" fmla="val 3500"/>
            </a:avLst>
          </a:prstGeom>
          <a:solidFill>
            <a:srgbClr val="E4EE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777240" y="5943600"/>
            <a:ext cx="10607040" cy="283464"/>
          </a:xfrm>
          <a:prstGeom prst="rect">
            <a:avLst/>
          </a:prstGeom>
          <a:noFill/>
          <a:effectLst/>
        </p:spPr>
        <p:txBody>
          <a:bodyPr wrap="square" tIns="0" bIns="0" lIns="0" rIns="0">
            <a:spAutoFit/>
          </a:bodyPr>
          <a:lstStyle/>
          <a:p>
            <a:pPr>
              <a:spcBef>
                <a:spcPts val="0"/>
              </a:spcBef>
              <a:spcAft>
                <a:spcPts val="400"/>
              </a:spcAft>
              <a:defRPr sz="1200" b="0">
                <a:solidFill>
                  <a:srgbClr val="17613F"/>
                </a:solidFill>
                <a:latin typeface="Nimbus Sans"/>
              </a:defRPr>
            </a:pPr>
            <a:r>
              <a:rPr sz="1200"/>
              <a:t>Schema harus sesuai isi halaman. Penggunaannya tidak menjamin rich results atau peringkat yang lebih tinggi.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7613F"/>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D2AB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502920" y="210312"/>
            <a:ext cx="2395728" cy="448056"/>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7" name="Picture 36" descr="image.png"/>
          <p:cNvPicPr>
            <a:picLocks noChangeAspect="1"/>
          </p:cNvPicPr>
          <p:nvPr/>
        </p:nvPicPr>
        <p:blipFill>
          <a:blip r:embed="rId6"/>
          <a:stretch>
            <a:fillRect/>
          </a:stretch>
        </p:blipFill>
        <p:spPr>
          <a:xfrm>
            <a:off x="603504" y="323088"/>
            <a:ext cx="585216" cy="195072"/>
          </a:xfrm>
          <a:prstGeom prst="rect">
            <a:avLst/>
          </a:prstGeom>
          <a:effectLst/>
        </p:spPr>
      </p:pic>
      <p:sp>
        <p:nvSpPr>
          <p:cNvPr id="5" name="TextBox 4"/>
          <p:cNvSpPr txBox="1"/>
          <p:nvPr/>
        </p:nvSpPr>
        <p:spPr>
          <a:xfrm>
            <a:off x="1271016" y="283464"/>
            <a:ext cx="164592" cy="228600"/>
          </a:xfrm>
          <a:prstGeom prst="rect">
            <a:avLst/>
          </a:prstGeom>
          <a:noFill/>
          <a:effectLst/>
        </p:spPr>
        <p:txBody>
          <a:bodyPr wrap="square" tIns="0" bIns="0" lIns="0" rIns="0">
            <a:spAutoFit/>
          </a:bodyPr>
          <a:lstStyle/>
          <a:p>
            <a:pPr>
              <a:spcBef>
                <a:spcPts val="0"/>
              </a:spcBef>
              <a:spcAft>
                <a:spcPts val="600"/>
              </a:spcAft>
              <a:defRPr sz="1200" b="0">
                <a:solidFill>
                  <a:srgbClr val="567168"/>
                </a:solidFill>
                <a:latin typeface="Nimbus Sans"/>
              </a:defRPr>
            </a:pPr>
            <a:r>
              <a:t>×</a:t>
            </a:r>
          </a:p>
        </p:txBody>
      </p:sp>
      <p:pic>
        <p:nvPicPr>
          <p:cNvPr id="38" name="Picture 37" descr="image.png"/>
          <p:cNvPicPr>
            <a:picLocks noChangeAspect="1"/>
          </p:cNvPicPr>
          <p:nvPr/>
        </p:nvPicPr>
        <p:blipFill>
          <a:blip r:embed="rId7"/>
          <a:stretch>
            <a:fillRect/>
          </a:stretch>
        </p:blipFill>
        <p:spPr>
          <a:xfrm>
            <a:off x="1536192" y="334792"/>
            <a:ext cx="1243584" cy="153375"/>
          </a:xfrm>
          <a:prstGeom prst="rect">
            <a:avLst/>
          </a:prstGeom>
          <a:effectLst/>
        </p:spPr>
      </p:pic>
      <p:sp>
        <p:nvSpPr>
          <p:cNvPr id="7" name="TextBox 6"/>
          <p:cNvSpPr txBox="1"/>
          <p:nvPr/>
        </p:nvSpPr>
        <p:spPr>
          <a:xfrm>
            <a:off x="5486400" y="356616"/>
            <a:ext cx="6062472" cy="237744"/>
          </a:xfrm>
          <a:prstGeom prst="rect">
            <a:avLst/>
          </a:prstGeom>
          <a:noFill/>
          <a:effectLst/>
        </p:spPr>
        <p:txBody>
          <a:bodyPr wrap="square" tIns="0" bIns="0" lIns="0" rIns="0">
            <a:spAutoFit/>
          </a:bodyPr>
          <a:lstStyle/>
          <a:p>
            <a:pPr algn="r">
              <a:spcBef>
                <a:spcPts val="0"/>
              </a:spcBef>
              <a:spcAft>
                <a:spcPts val="600"/>
              </a:spcAft>
              <a:defRPr sz="1000" b="1">
                <a:solidFill>
                  <a:srgbClr val="E4EEDC"/>
                </a:solidFill>
                <a:latin typeface="Nimbus Sans"/>
              </a:defRPr>
            </a:pPr>
            <a:r>
              <a:t>03 / ON-PAGE: RISET &amp; STRATEGI</a:t>
            </a:r>
          </a:p>
        </p:txBody>
      </p:sp>
      <p:sp>
        <p:nvSpPr>
          <p:cNvPr id="8" name="TextBox 7"/>
          <p:cNvSpPr txBox="1"/>
          <p:nvPr/>
        </p:nvSpPr>
        <p:spPr>
          <a:xfrm>
            <a:off x="594360" y="960120"/>
            <a:ext cx="10972800" cy="822960"/>
          </a:xfrm>
          <a:prstGeom prst="rect">
            <a:avLst/>
          </a:prstGeom>
          <a:noFill/>
          <a:effectLst/>
        </p:spPr>
        <p:txBody>
          <a:bodyPr wrap="square" tIns="0" bIns="0" lIns="0" rIns="0">
            <a:spAutoFit/>
          </a:bodyPr>
          <a:lstStyle/>
          <a:p>
            <a:pPr>
              <a:spcBef>
                <a:spcPts val="0"/>
              </a:spcBef>
              <a:spcAft>
                <a:spcPts val="400"/>
              </a:spcAft>
              <a:defRPr sz="3100" b="1">
                <a:solidFill>
                  <a:srgbClr val="FFFFFF"/>
                </a:solidFill>
                <a:latin typeface="Nimbus Sans"/>
              </a:defRPr>
            </a:pPr>
            <a:r>
              <a:rPr sz="3100"/>
              <a:t>Siapa yang ingin dijangkau Mecosin?</a:t>
            </a:r>
          </a:p>
        </p:txBody>
      </p:sp>
      <p:sp>
        <p:nvSpPr>
          <p:cNvPr id="9" name="TextBox 8"/>
          <p:cNvSpPr txBox="1"/>
          <p:nvPr/>
        </p:nvSpPr>
        <p:spPr>
          <a:xfrm>
            <a:off x="594360" y="1792224"/>
            <a:ext cx="10972800" cy="594360"/>
          </a:xfrm>
          <a:prstGeom prst="rect">
            <a:avLst/>
          </a:prstGeom>
          <a:noFill/>
          <a:effectLst/>
        </p:spPr>
        <p:txBody>
          <a:bodyPr wrap="square" tIns="0" bIns="0" lIns="0" rIns="0">
            <a:spAutoFit/>
          </a:bodyPr>
          <a:lstStyle/>
          <a:p>
            <a:pPr>
              <a:spcBef>
                <a:spcPts val="0"/>
              </a:spcBef>
              <a:spcAft>
                <a:spcPts val="400"/>
              </a:spcAft>
              <a:defRPr sz="1700" b="0">
                <a:solidFill>
                  <a:srgbClr val="E4EEDC"/>
                </a:solidFill>
                <a:latin typeface="Nimbus Sans"/>
              </a:defRPr>
            </a:pPr>
            <a:r>
              <a:rPr sz="1700"/>
              <a:t>Mulai dari produk, layanan, dan calon pelanggan Mecosin. Jangan hanya mengejar kata kunci yang banyak dicari.</a:t>
            </a:r>
          </a:p>
        </p:txBody>
      </p:sp>
      <p:sp>
        <p:nvSpPr>
          <p:cNvPr id="10" name="TextBox 9"/>
          <p:cNvSpPr txBox="1"/>
          <p:nvPr/>
        </p:nvSpPr>
        <p:spPr>
          <a:xfrm>
            <a:off x="594360" y="6437376"/>
            <a:ext cx="10287000" cy="219456"/>
          </a:xfrm>
          <a:prstGeom prst="rect">
            <a:avLst/>
          </a:prstGeom>
          <a:noFill/>
          <a:effectLst/>
        </p:spPr>
        <p:txBody>
          <a:bodyPr wrap="square" tIns="0" bIns="0" lIns="0" rIns="0">
            <a:spAutoFit/>
          </a:bodyPr>
          <a:lstStyle/>
          <a:p>
            <a:pPr>
              <a:spcBef>
                <a:spcPts val="0"/>
              </a:spcBef>
              <a:spcAft>
                <a:spcPts val="400"/>
              </a:spcAft>
              <a:defRPr sz="900" b="0">
                <a:solidFill>
                  <a:srgbClr val="E4EEDC"/>
                </a:solidFill>
                <a:latin typeface="Nimbus Sans"/>
              </a:defRPr>
            </a:pPr>
            <a:r>
              <a:rPr sz="900"/>
              <a:t>Contoh untuk penjelasan, bukan hasil audit Mecosin.</a:t>
            </a:r>
          </a:p>
        </p:txBody>
      </p:sp>
      <p:sp>
        <p:nvSpPr>
          <p:cNvPr id="11" name="TextBox 10"/>
          <p:cNvSpPr txBox="1"/>
          <p:nvPr/>
        </p:nvSpPr>
        <p:spPr>
          <a:xfrm>
            <a:off x="11091672" y="6391656"/>
            <a:ext cx="457200" cy="256032"/>
          </a:xfrm>
          <a:prstGeom prst="rect">
            <a:avLst/>
          </a:prstGeom>
          <a:noFill/>
          <a:effectLst/>
        </p:spPr>
        <p:txBody>
          <a:bodyPr wrap="square" tIns="0" bIns="0" lIns="0" rIns="0">
            <a:spAutoFit/>
          </a:bodyPr>
          <a:lstStyle/>
          <a:p>
            <a:pPr>
              <a:spcBef>
                <a:spcPts val="0"/>
              </a:spcBef>
              <a:spcAft>
                <a:spcPts val="600"/>
              </a:spcAft>
              <a:defRPr sz="1200" b="1">
                <a:solidFill>
                  <a:srgbClr val="FFFFFF"/>
                </a:solidFill>
                <a:latin typeface="Nimbus Sans"/>
              </a:defRPr>
            </a:pPr>
            <a:r>
              <a:t>10</a:t>
            </a:r>
          </a:p>
        </p:txBody>
      </p:sp>
      <p:sp>
        <p:nvSpPr>
          <p:cNvPr id="12" name="Rectangle 11"/>
          <p:cNvSpPr/>
          <p:nvPr/>
        </p:nvSpPr>
        <p:spPr>
          <a:xfrm>
            <a:off x="566928" y="6739128"/>
            <a:ext cx="1755648" cy="32004"/>
          </a:xfrm>
          <a:prstGeom prst="rect">
            <a:avLst/>
          </a:prstGeom>
          <a:solidFill>
            <a:srgbClr val="56716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2432304" y="6739128"/>
            <a:ext cx="1755648" cy="32004"/>
          </a:xfrm>
          <a:prstGeom prst="rect">
            <a:avLst/>
          </a:prstGeom>
          <a:solidFill>
            <a:srgbClr val="56716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297680" y="6739128"/>
            <a:ext cx="1755648" cy="32004"/>
          </a:xfrm>
          <a:prstGeom prst="rect">
            <a:avLst/>
          </a:prstGeom>
          <a:solidFill>
            <a:srgbClr val="D2AB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163056" y="6739128"/>
            <a:ext cx="1755648" cy="32004"/>
          </a:xfrm>
          <a:prstGeom prst="rect">
            <a:avLst/>
          </a:prstGeom>
          <a:solidFill>
            <a:srgbClr val="56716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8028431" y="6739128"/>
            <a:ext cx="1755648" cy="32004"/>
          </a:xfrm>
          <a:prstGeom prst="rect">
            <a:avLst/>
          </a:prstGeom>
          <a:solidFill>
            <a:srgbClr val="56716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893807" y="6739128"/>
            <a:ext cx="1755648" cy="32004"/>
          </a:xfrm>
          <a:prstGeom prst="rect">
            <a:avLst/>
          </a:prstGeom>
          <a:solidFill>
            <a:srgbClr val="56716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ounded Rectangle 25"/>
          <p:cNvSpPr/>
          <p:nvPr/>
        </p:nvSpPr>
        <p:spPr>
          <a:xfrm>
            <a:off x="594360" y="5833872"/>
            <a:ext cx="10972800" cy="484632"/>
          </a:xfrm>
          <a:prstGeom prst="roundRect">
            <a:avLst>
              <a:gd name="adj" fmla="val 3500"/>
            </a:avLst>
          </a:prstGeom>
          <a:solidFill>
            <a:srgbClr val="193E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777240" y="5943600"/>
            <a:ext cx="10607040" cy="283464"/>
          </a:xfrm>
          <a:prstGeom prst="rect">
            <a:avLst/>
          </a:prstGeom>
          <a:noFill/>
          <a:effectLst/>
        </p:spPr>
        <p:txBody>
          <a:bodyPr wrap="square" tIns="0" bIns="0" lIns="0" rIns="0">
            <a:spAutoFit/>
          </a:bodyPr>
          <a:lstStyle/>
          <a:p>
            <a:pPr>
              <a:spcBef>
                <a:spcPts val="0"/>
              </a:spcBef>
              <a:spcAft>
                <a:spcPts val="400"/>
              </a:spcAft>
              <a:defRPr sz="1200" b="0">
                <a:solidFill>
                  <a:srgbClr val="FFFFFF"/>
                </a:solidFill>
                <a:latin typeface="Nimbus Sans"/>
              </a:defRPr>
            </a:pPr>
            <a:r>
              <a:rPr sz="1200"/>
              <a:t>Tujuan bisnis membantu menentukan kata kunci, halaman yang dibutuhkan, dan langkah berikutnya bagi pengunjung.</a:t>
            </a:r>
          </a:p>
        </p:txBody>
      </p:sp>
      <p:sp>
        <p:nvSpPr>
          <p:cNvPr id="39" name="Oval 38"/>
          <p:cNvSpPr/>
          <p:nvPr/>
        </p:nvSpPr>
        <p:spPr>
          <a:xfrm>
            <a:off x="1261872" y="3017520"/>
            <a:ext cx="320040" cy="320040"/>
          </a:xfrm>
          <a:prstGeom prst="ellipse">
            <a:avLst/>
          </a:prstGeom>
          <a:no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1051560" y="3410712"/>
            <a:ext cx="749808" cy="585216"/>
          </a:xfrm>
          <a:prstGeom prst="roundRect">
            <a:avLst/>
          </a:prstGeom>
          <a:no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a:off x="2103120" y="3520440"/>
            <a:ext cx="777240" cy="0"/>
          </a:xfrm>
          <a:prstGeom prst="line">
            <a:avLst/>
          </a:prstGeom>
          <a:ln w="25400">
            <a:solidFill>
              <a:srgbClr val="D2AB62"/>
            </a:solidFill>
            <a:tailEnd type="triangle"/>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3090672" y="2926080"/>
            <a:ext cx="914400" cy="1097280"/>
          </a:xfrm>
          <a:prstGeom prst="rect">
            <a:avLst/>
          </a:prstGeom>
          <a:solidFill>
            <a:srgbClr val="FFFFFF"/>
          </a:solidFill>
          <a:ln w="2032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090672" y="2926080"/>
            <a:ext cx="914400" cy="137160"/>
          </a:xfrm>
          <a:prstGeom prst="rect">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3218688" y="3246120"/>
            <a:ext cx="484632"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3218688" y="3419856"/>
            <a:ext cx="484632"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3218688" y="3593592"/>
            <a:ext cx="283464"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051560" y="4416552"/>
            <a:ext cx="4480560" cy="393192"/>
          </a:xfrm>
          <a:prstGeom prst="rect">
            <a:avLst/>
          </a:prstGeom>
          <a:noFill/>
        </p:spPr>
        <p:txBody>
          <a:bodyPr wrap="square" lIns="0" rIns="0" tIns="0" bIns="0">
            <a:spAutoFit/>
          </a:bodyPr>
          <a:lstStyle/>
          <a:p>
            <a:pPr algn="ctr">
              <a:spcAft>
                <a:spcPts val="0"/>
              </a:spcAft>
            </a:pPr>
            <a:r>
              <a:rPr sz="2600" b="1">
                <a:solidFill>
                  <a:srgbClr val="FFFFFF"/>
                </a:solidFill>
                <a:latin typeface="Nimbus Sans"/>
              </a:rPr>
              <a:t>Konsumen</a:t>
            </a:r>
          </a:p>
        </p:txBody>
      </p:sp>
      <p:sp>
        <p:nvSpPr>
          <p:cNvPr id="48" name="TextBox 47"/>
          <p:cNvSpPr txBox="1"/>
          <p:nvPr/>
        </p:nvSpPr>
        <p:spPr>
          <a:xfrm>
            <a:off x="1051560" y="4928616"/>
            <a:ext cx="4480560" cy="566928"/>
          </a:xfrm>
          <a:prstGeom prst="rect">
            <a:avLst/>
          </a:prstGeom>
          <a:noFill/>
        </p:spPr>
        <p:txBody>
          <a:bodyPr wrap="square" lIns="0" rIns="0" tIns="0" bIns="0">
            <a:spAutoFit/>
          </a:bodyPr>
          <a:lstStyle/>
          <a:p>
            <a:pPr algn="ctr">
              <a:spcAft>
                <a:spcPts val="0"/>
              </a:spcAft>
            </a:pPr>
            <a:r>
              <a:rPr sz="1800" b="0">
                <a:solidFill>
                  <a:srgbClr val="E4EEDC"/>
                </a:solidFill>
                <a:latin typeface="Nimbus Sans"/>
              </a:rPr>
              <a:t>Informasi produk</a:t>
            </a:r>
          </a:p>
          <a:p>
            <a:pPr algn="ctr">
              <a:spcAft>
                <a:spcPts val="0"/>
              </a:spcAft>
            </a:pPr>
            <a:r>
              <a:rPr sz="1800" b="0">
                <a:solidFill>
                  <a:srgbClr val="E4EEDC"/>
                </a:solidFill>
                <a:latin typeface="Nimbus Sans"/>
              </a:rPr>
              <a:t>Contoh: Laserin sachet.</a:t>
            </a:r>
          </a:p>
        </p:txBody>
      </p:sp>
      <p:sp>
        <p:nvSpPr>
          <p:cNvPr id="49" name="Oval 48"/>
          <p:cNvSpPr/>
          <p:nvPr/>
        </p:nvSpPr>
        <p:spPr>
          <a:xfrm>
            <a:off x="7205472" y="3017520"/>
            <a:ext cx="320040" cy="320040"/>
          </a:xfrm>
          <a:prstGeom prst="ellipse">
            <a:avLst/>
          </a:prstGeom>
          <a:no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6995160" y="3410712"/>
            <a:ext cx="749808" cy="585216"/>
          </a:xfrm>
          <a:prstGeom prst="roundRect">
            <a:avLst/>
          </a:prstGeom>
          <a:no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a:off x="8046720" y="3520440"/>
            <a:ext cx="777240" cy="0"/>
          </a:xfrm>
          <a:prstGeom prst="line">
            <a:avLst/>
          </a:prstGeom>
          <a:ln w="25400">
            <a:solidFill>
              <a:srgbClr val="D2AB62"/>
            </a:solidFill>
            <a:tailEnd type="triangle"/>
          </a:ln>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9034272" y="2926080"/>
            <a:ext cx="914400" cy="1097280"/>
          </a:xfrm>
          <a:prstGeom prst="rect">
            <a:avLst/>
          </a:prstGeom>
          <a:solidFill>
            <a:srgbClr val="FFFFFF"/>
          </a:solidFill>
          <a:ln w="2032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9034272" y="2926080"/>
            <a:ext cx="914400" cy="137160"/>
          </a:xfrm>
          <a:prstGeom prst="rect">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a:off x="9162288" y="3246120"/>
            <a:ext cx="484632"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9162288" y="3419856"/>
            <a:ext cx="484632"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162288" y="3593592"/>
            <a:ext cx="283464"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6995160" y="4416552"/>
            <a:ext cx="4480560" cy="393192"/>
          </a:xfrm>
          <a:prstGeom prst="rect">
            <a:avLst/>
          </a:prstGeom>
          <a:noFill/>
        </p:spPr>
        <p:txBody>
          <a:bodyPr wrap="square" lIns="0" rIns="0" tIns="0" bIns="0">
            <a:spAutoFit/>
          </a:bodyPr>
          <a:lstStyle/>
          <a:p>
            <a:pPr algn="ctr">
              <a:spcAft>
                <a:spcPts val="0"/>
              </a:spcAft>
            </a:pPr>
            <a:r>
              <a:rPr sz="2600" b="1">
                <a:solidFill>
                  <a:srgbClr val="FFFFFF"/>
                </a:solidFill>
                <a:latin typeface="Nimbus Sans"/>
              </a:rPr>
              <a:t>Calon mitra</a:t>
            </a:r>
          </a:p>
        </p:txBody>
      </p:sp>
      <p:sp>
        <p:nvSpPr>
          <p:cNvPr id="58" name="TextBox 57"/>
          <p:cNvSpPr txBox="1"/>
          <p:nvPr/>
        </p:nvSpPr>
        <p:spPr>
          <a:xfrm>
            <a:off x="6995160" y="4928616"/>
            <a:ext cx="4480560" cy="566928"/>
          </a:xfrm>
          <a:prstGeom prst="rect">
            <a:avLst/>
          </a:prstGeom>
          <a:noFill/>
        </p:spPr>
        <p:txBody>
          <a:bodyPr wrap="square" lIns="0" rIns="0" tIns="0" bIns="0">
            <a:spAutoFit/>
          </a:bodyPr>
          <a:lstStyle/>
          <a:p>
            <a:pPr algn="ctr">
              <a:spcAft>
                <a:spcPts val="0"/>
              </a:spcAft>
            </a:pPr>
            <a:r>
              <a:rPr sz="1800" b="0">
                <a:solidFill>
                  <a:srgbClr val="E4EEDC"/>
                </a:solidFill>
                <a:latin typeface="Nimbus Sans"/>
              </a:rPr>
              <a:t>Informasi layanan</a:t>
            </a:r>
          </a:p>
          <a:p>
            <a:pPr algn="ctr">
              <a:spcAft>
                <a:spcPts val="0"/>
              </a:spcAft>
            </a:pPr>
            <a:r>
              <a:rPr sz="1800" b="0">
                <a:solidFill>
                  <a:srgbClr val="E4EEDC"/>
                </a:solidFill>
                <a:latin typeface="Nimbus Sans"/>
              </a:rPr>
              <a:t>Contoh: maklon herbal.</a:t>
            </a:r>
          </a:p>
        </p:txBody>
      </p:sp>
      <p:sp>
        <p:nvSpPr>
          <p:cNvPr id="59" name="TextBox 58"/>
          <p:cNvSpPr txBox="1"/>
          <p:nvPr/>
        </p:nvSpPr>
        <p:spPr>
          <a:xfrm>
            <a:off x="914400" y="2514600"/>
            <a:ext cx="10332720" cy="320040"/>
          </a:xfrm>
          <a:prstGeom prst="rect">
            <a:avLst/>
          </a:prstGeom>
          <a:noFill/>
        </p:spPr>
        <p:txBody>
          <a:bodyPr wrap="square" lIns="0" rIns="0" tIns="0" bIns="0">
            <a:spAutoFit/>
          </a:bodyPr>
          <a:lstStyle/>
          <a:p>
            <a:pPr algn="ctr">
              <a:spcAft>
                <a:spcPts val="0"/>
              </a:spcAft>
            </a:pPr>
            <a:r>
              <a:rPr sz="1800" b="0">
                <a:solidFill>
                  <a:srgbClr val="FFFFFF"/>
                </a:solidFill>
                <a:latin typeface="Nimbus Sans"/>
              </a:rPr>
              <a:t>Tujuan bisnis menentukan audiens dan halaman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8F3"/>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1761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502920" y="210312"/>
            <a:ext cx="2395728" cy="448056"/>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8" name="Picture 37" descr="image.png"/>
          <p:cNvPicPr>
            <a:picLocks noChangeAspect="1"/>
          </p:cNvPicPr>
          <p:nvPr/>
        </p:nvPicPr>
        <p:blipFill>
          <a:blip r:embed="rId6"/>
          <a:stretch>
            <a:fillRect/>
          </a:stretch>
        </p:blipFill>
        <p:spPr>
          <a:xfrm>
            <a:off x="603504" y="323088"/>
            <a:ext cx="585216" cy="195072"/>
          </a:xfrm>
          <a:prstGeom prst="rect">
            <a:avLst/>
          </a:prstGeom>
          <a:effectLst/>
        </p:spPr>
      </p:pic>
      <p:sp>
        <p:nvSpPr>
          <p:cNvPr id="5" name="TextBox 4"/>
          <p:cNvSpPr txBox="1"/>
          <p:nvPr/>
        </p:nvSpPr>
        <p:spPr>
          <a:xfrm>
            <a:off x="1271016" y="283464"/>
            <a:ext cx="164592" cy="228600"/>
          </a:xfrm>
          <a:prstGeom prst="rect">
            <a:avLst/>
          </a:prstGeom>
          <a:noFill/>
          <a:effectLst/>
        </p:spPr>
        <p:txBody>
          <a:bodyPr wrap="square" tIns="0" bIns="0" lIns="0" rIns="0">
            <a:spAutoFit/>
          </a:bodyPr>
          <a:lstStyle/>
          <a:p>
            <a:pPr>
              <a:spcBef>
                <a:spcPts val="0"/>
              </a:spcBef>
              <a:spcAft>
                <a:spcPts val="600"/>
              </a:spcAft>
              <a:defRPr sz="1200" b="0">
                <a:solidFill>
                  <a:srgbClr val="567168"/>
                </a:solidFill>
                <a:latin typeface="Nimbus Sans"/>
              </a:defRPr>
            </a:pPr>
            <a:r>
              <a:t>×</a:t>
            </a:r>
          </a:p>
        </p:txBody>
      </p:sp>
      <p:pic>
        <p:nvPicPr>
          <p:cNvPr id="39" name="Picture 38" descr="image.png"/>
          <p:cNvPicPr>
            <a:picLocks noChangeAspect="1"/>
          </p:cNvPicPr>
          <p:nvPr/>
        </p:nvPicPr>
        <p:blipFill>
          <a:blip r:embed="rId7"/>
          <a:stretch>
            <a:fillRect/>
          </a:stretch>
        </p:blipFill>
        <p:spPr>
          <a:xfrm>
            <a:off x="1536192" y="334792"/>
            <a:ext cx="1243584" cy="153375"/>
          </a:xfrm>
          <a:prstGeom prst="rect">
            <a:avLst/>
          </a:prstGeom>
          <a:effectLst/>
        </p:spPr>
      </p:pic>
      <p:sp>
        <p:nvSpPr>
          <p:cNvPr id="7" name="TextBox 6"/>
          <p:cNvSpPr txBox="1"/>
          <p:nvPr/>
        </p:nvSpPr>
        <p:spPr>
          <a:xfrm>
            <a:off x="5486400" y="356616"/>
            <a:ext cx="6062472" cy="237744"/>
          </a:xfrm>
          <a:prstGeom prst="rect">
            <a:avLst/>
          </a:prstGeom>
          <a:noFill/>
          <a:effectLst/>
        </p:spPr>
        <p:txBody>
          <a:bodyPr wrap="square" tIns="0" bIns="0" lIns="0" rIns="0">
            <a:spAutoFit/>
          </a:bodyPr>
          <a:lstStyle/>
          <a:p>
            <a:pPr algn="r">
              <a:spcBef>
                <a:spcPts val="0"/>
              </a:spcBef>
              <a:spcAft>
                <a:spcPts val="600"/>
              </a:spcAft>
              <a:defRPr sz="1000" b="1">
                <a:solidFill>
                  <a:srgbClr val="17613F"/>
                </a:solidFill>
                <a:latin typeface="Nimbus Sans"/>
              </a:defRPr>
            </a:pPr>
            <a:r>
              <a:t>03 / ON-PAGE: RISET &amp; STRATEGI</a:t>
            </a:r>
          </a:p>
        </p:txBody>
      </p:sp>
      <p:sp>
        <p:nvSpPr>
          <p:cNvPr id="8" name="TextBox 7"/>
          <p:cNvSpPr txBox="1"/>
          <p:nvPr/>
        </p:nvSpPr>
        <p:spPr>
          <a:xfrm>
            <a:off x="594360" y="960120"/>
            <a:ext cx="10972800" cy="822960"/>
          </a:xfrm>
          <a:prstGeom prst="rect">
            <a:avLst/>
          </a:prstGeom>
          <a:noFill/>
          <a:effectLst/>
        </p:spPr>
        <p:txBody>
          <a:bodyPr wrap="square" tIns="0" bIns="0" lIns="0" rIns="0">
            <a:spAutoFit/>
          </a:bodyPr>
          <a:lstStyle/>
          <a:p>
            <a:pPr>
              <a:spcBef>
                <a:spcPts val="0"/>
              </a:spcBef>
              <a:spcAft>
                <a:spcPts val="400"/>
              </a:spcAft>
              <a:defRPr sz="3100" b="1">
                <a:solidFill>
                  <a:srgbClr val="193E32"/>
                </a:solidFill>
                <a:latin typeface="Nimbus Sans"/>
              </a:defRPr>
            </a:pPr>
            <a:r>
              <a:rPr sz="3100"/>
              <a:t>Riset kata kunci: apa yang dicari calon pelanggan?</a:t>
            </a:r>
          </a:p>
        </p:txBody>
      </p:sp>
      <p:sp>
        <p:nvSpPr>
          <p:cNvPr id="9" name="TextBox 8"/>
          <p:cNvSpPr txBox="1"/>
          <p:nvPr/>
        </p:nvSpPr>
        <p:spPr>
          <a:xfrm>
            <a:off x="594360" y="1792224"/>
            <a:ext cx="10972800" cy="594360"/>
          </a:xfrm>
          <a:prstGeom prst="rect">
            <a:avLst/>
          </a:prstGeom>
          <a:noFill/>
          <a:effectLst/>
        </p:spPr>
        <p:txBody>
          <a:bodyPr wrap="square" tIns="0" bIns="0" lIns="0" rIns="0">
            <a:spAutoFit/>
          </a:bodyPr>
          <a:lstStyle/>
          <a:p>
            <a:pPr>
              <a:spcBef>
                <a:spcPts val="0"/>
              </a:spcBef>
              <a:spcAft>
                <a:spcPts val="400"/>
              </a:spcAft>
              <a:defRPr sz="1700" b="0">
                <a:solidFill>
                  <a:srgbClr val="567168"/>
                </a:solidFill>
                <a:latin typeface="Nimbus Sans"/>
              </a:defRPr>
            </a:pPr>
            <a:r>
              <a:rPr sz="1700"/>
              <a:t>Cari kata kunci yang sesuai. Lihat perkiraan jumlah pencarian bulanan dan trennya untuk menentukan prioritas.</a:t>
            </a:r>
          </a:p>
        </p:txBody>
      </p:sp>
      <p:sp>
        <p:nvSpPr>
          <p:cNvPr id="10" name="TextBox 9"/>
          <p:cNvSpPr txBox="1"/>
          <p:nvPr/>
        </p:nvSpPr>
        <p:spPr>
          <a:xfrm>
            <a:off x="594360" y="6437376"/>
            <a:ext cx="10287000" cy="219456"/>
          </a:xfrm>
          <a:prstGeom prst="rect">
            <a:avLst/>
          </a:prstGeom>
          <a:noFill/>
          <a:effectLst/>
        </p:spPr>
        <p:txBody>
          <a:bodyPr wrap="square" tIns="0" bIns="0" lIns="0" rIns="0">
            <a:spAutoFit/>
          </a:bodyPr>
          <a:lstStyle/>
          <a:p>
            <a:pPr>
              <a:spcBef>
                <a:spcPts val="0"/>
              </a:spcBef>
              <a:spcAft>
                <a:spcPts val="400"/>
              </a:spcAft>
              <a:defRPr sz="900" b="0">
                <a:solidFill>
                  <a:srgbClr val="567168"/>
                </a:solidFill>
                <a:latin typeface="Nimbus Sans"/>
              </a:defRPr>
            </a:pPr>
            <a:r>
              <a:rPr sz="900"/>
              <a:t>Contoh untuk penjelasan, bukan hasil audit Mecosin.</a:t>
            </a:r>
          </a:p>
        </p:txBody>
      </p:sp>
      <p:sp>
        <p:nvSpPr>
          <p:cNvPr id="11" name="TextBox 10"/>
          <p:cNvSpPr txBox="1"/>
          <p:nvPr/>
        </p:nvSpPr>
        <p:spPr>
          <a:xfrm>
            <a:off x="11091672" y="6391656"/>
            <a:ext cx="457200" cy="256032"/>
          </a:xfrm>
          <a:prstGeom prst="rect">
            <a:avLst/>
          </a:prstGeom>
          <a:noFill/>
          <a:effectLst/>
        </p:spPr>
        <p:txBody>
          <a:bodyPr wrap="square" tIns="0" bIns="0" lIns="0" rIns="0">
            <a:spAutoFit/>
          </a:bodyPr>
          <a:lstStyle/>
          <a:p>
            <a:pPr>
              <a:spcBef>
                <a:spcPts val="0"/>
              </a:spcBef>
              <a:spcAft>
                <a:spcPts val="600"/>
              </a:spcAft>
              <a:defRPr sz="1200" b="1">
                <a:solidFill>
                  <a:srgbClr val="17613F"/>
                </a:solidFill>
                <a:latin typeface="Nimbus Sans"/>
              </a:defRPr>
            </a:pPr>
            <a:r>
              <a:t>11</a:t>
            </a:r>
          </a:p>
        </p:txBody>
      </p:sp>
      <p:sp>
        <p:nvSpPr>
          <p:cNvPr id="12" name="Rectangle 11"/>
          <p:cNvSpPr/>
          <p:nvPr/>
        </p:nvSpPr>
        <p:spPr>
          <a:xfrm>
            <a:off x="566928"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2432304"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297680" y="6739128"/>
            <a:ext cx="1755648" cy="32004"/>
          </a:xfrm>
          <a:prstGeom prst="rect">
            <a:avLst/>
          </a:prstGeom>
          <a:solidFill>
            <a:srgbClr val="D2AB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163056"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8028431"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893807"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594360" y="5833872"/>
            <a:ext cx="10972800" cy="484632"/>
          </a:xfrm>
          <a:prstGeom prst="roundRect">
            <a:avLst>
              <a:gd name="adj" fmla="val 3500"/>
            </a:avLst>
          </a:prstGeom>
          <a:solidFill>
            <a:srgbClr val="E4EE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777240" y="5943600"/>
            <a:ext cx="10607040" cy="283464"/>
          </a:xfrm>
          <a:prstGeom prst="rect">
            <a:avLst/>
          </a:prstGeom>
          <a:noFill/>
          <a:effectLst/>
        </p:spPr>
        <p:txBody>
          <a:bodyPr wrap="square" tIns="0" bIns="0" lIns="0" rIns="0">
            <a:spAutoFit/>
          </a:bodyPr>
          <a:lstStyle/>
          <a:p>
            <a:pPr>
              <a:spcBef>
                <a:spcPts val="0"/>
              </a:spcBef>
              <a:spcAft>
                <a:spcPts val="400"/>
              </a:spcAft>
              <a:defRPr sz="1200" b="0">
                <a:solidFill>
                  <a:srgbClr val="17613F"/>
                </a:solidFill>
                <a:latin typeface="Nimbus Sans"/>
              </a:defRPr>
            </a:pPr>
            <a:r>
              <a:rPr sz="1200"/>
              <a:t>Volume adalah perkiraan jumlah pencarian, bukan jumlah kunjungan. Bandingkan pasar dan periode yang sama.</a:t>
            </a:r>
          </a:p>
        </p:txBody>
      </p:sp>
      <p:sp>
        <p:nvSpPr>
          <p:cNvPr id="40" name="Oval 39"/>
          <p:cNvSpPr/>
          <p:nvPr/>
        </p:nvSpPr>
        <p:spPr>
          <a:xfrm>
            <a:off x="914400" y="2953512"/>
            <a:ext cx="384048" cy="384048"/>
          </a:xfrm>
          <a:prstGeom prst="ellipse">
            <a:avLst/>
          </a:prstGeom>
          <a:noFill/>
          <a:ln w="3048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a:off x="1233159" y="3272271"/>
            <a:ext cx="180503" cy="180503"/>
          </a:xfrm>
          <a:prstGeom prst="line">
            <a:avLst/>
          </a:prstGeom>
          <a:ln w="38100">
            <a:solidFill>
              <a:srgbClr val="17613F"/>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914400" y="3675887"/>
            <a:ext cx="2926080" cy="914400"/>
          </a:xfrm>
          <a:prstGeom prst="rect">
            <a:avLst/>
          </a:prstGeom>
          <a:noFill/>
        </p:spPr>
        <p:txBody>
          <a:bodyPr wrap="square" lIns="0" rIns="0" tIns="0" bIns="0">
            <a:spAutoFit/>
          </a:bodyPr>
          <a:lstStyle/>
          <a:p>
            <a:pPr algn="l">
              <a:spcAft>
                <a:spcPts val="0"/>
              </a:spcAft>
            </a:pPr>
            <a:r>
              <a:rPr sz="2600" b="1">
                <a:solidFill>
                  <a:srgbClr val="17613F"/>
                </a:solidFill>
                <a:latin typeface="Nimbus Sans"/>
              </a:rPr>
              <a:t>Laserin</a:t>
            </a:r>
          </a:p>
          <a:p>
            <a:pPr algn="l">
              <a:spcAft>
                <a:spcPts val="0"/>
              </a:spcAft>
            </a:pPr>
            <a:r>
              <a:rPr sz="2600" b="1">
                <a:solidFill>
                  <a:srgbClr val="17613F"/>
                </a:solidFill>
                <a:latin typeface="Nimbus Sans"/>
              </a:rPr>
              <a:t>Laserin sachet</a:t>
            </a:r>
          </a:p>
        </p:txBody>
      </p:sp>
      <p:sp>
        <p:nvSpPr>
          <p:cNvPr id="43" name="TextBox 42"/>
          <p:cNvSpPr txBox="1"/>
          <p:nvPr/>
        </p:nvSpPr>
        <p:spPr>
          <a:xfrm>
            <a:off x="868680" y="4937760"/>
            <a:ext cx="2926080" cy="274320"/>
          </a:xfrm>
          <a:prstGeom prst="rect">
            <a:avLst/>
          </a:prstGeom>
          <a:noFill/>
        </p:spPr>
        <p:txBody>
          <a:bodyPr wrap="square" lIns="0" rIns="0" tIns="0" bIns="0">
            <a:spAutoFit/>
          </a:bodyPr>
          <a:lstStyle/>
          <a:p>
            <a:pPr algn="l">
              <a:spcAft>
                <a:spcPts val="0"/>
              </a:spcAft>
            </a:pPr>
            <a:r>
              <a:rPr sz="1400" b="0">
                <a:solidFill>
                  <a:srgbClr val="567168"/>
                </a:solidFill>
                <a:latin typeface="Nimbus Sans"/>
              </a:rPr>
              <a:t>Contoh kata kunci</a:t>
            </a:r>
          </a:p>
        </p:txBody>
      </p:sp>
      <p:cxnSp>
        <p:nvCxnSpPr>
          <p:cNvPr id="44" name="Connector 43"/>
          <p:cNvCxnSpPr/>
          <p:nvPr/>
        </p:nvCxnSpPr>
        <p:spPr>
          <a:xfrm>
            <a:off x="3429000" y="4023360"/>
            <a:ext cx="822960" cy="0"/>
          </a:xfrm>
          <a:prstGeom prst="line">
            <a:avLst/>
          </a:prstGeom>
          <a:ln w="38100">
            <a:solidFill>
              <a:srgbClr val="D2AB62"/>
            </a:solidFill>
            <a:tailEnd type="triangle"/>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4572000" y="2926080"/>
            <a:ext cx="2743200" cy="2194560"/>
          </a:xfrm>
          <a:prstGeom prst="rect">
            <a:avLst/>
          </a:prstGeom>
          <a:solidFill>
            <a:srgbClr val="FFFFFF"/>
          </a:solidFill>
          <a:ln w="2032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818888" y="3136392"/>
            <a:ext cx="2249424" cy="274320"/>
          </a:xfrm>
          <a:prstGeom prst="rect">
            <a:avLst/>
          </a:prstGeom>
          <a:noFill/>
        </p:spPr>
        <p:txBody>
          <a:bodyPr wrap="square" lIns="0" rIns="0" tIns="0" bIns="0">
            <a:spAutoFit/>
          </a:bodyPr>
          <a:lstStyle/>
          <a:p>
            <a:pPr algn="l">
              <a:spcAft>
                <a:spcPts val="0"/>
              </a:spcAft>
            </a:pPr>
            <a:r>
              <a:rPr sz="1500" b="1">
                <a:solidFill>
                  <a:srgbClr val="17613F"/>
                </a:solidFill>
                <a:latin typeface="Nimbus Sans"/>
              </a:rPr>
              <a:t>RISET</a:t>
            </a:r>
          </a:p>
        </p:txBody>
      </p:sp>
      <p:cxnSp>
        <p:nvCxnSpPr>
          <p:cNvPr id="47" name="Connector 46"/>
          <p:cNvCxnSpPr/>
          <p:nvPr/>
        </p:nvCxnSpPr>
        <p:spPr>
          <a:xfrm>
            <a:off x="4846320" y="3822191"/>
            <a:ext cx="137160" cy="137161"/>
          </a:xfrm>
          <a:prstGeom prst="line">
            <a:avLst/>
          </a:prstGeom>
          <a:ln w="3810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4983480" y="3657600"/>
            <a:ext cx="301751" cy="301752"/>
          </a:xfrm>
          <a:prstGeom prst="line">
            <a:avLst/>
          </a:prstGeom>
          <a:ln w="38100">
            <a:solidFill>
              <a:srgbClr val="17613F"/>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468112" y="3639312"/>
            <a:ext cx="1737360" cy="292608"/>
          </a:xfrm>
          <a:prstGeom prst="rect">
            <a:avLst/>
          </a:prstGeom>
          <a:noFill/>
        </p:spPr>
        <p:txBody>
          <a:bodyPr wrap="square" lIns="0" rIns="0" tIns="0" bIns="0">
            <a:spAutoFit/>
          </a:bodyPr>
          <a:lstStyle/>
          <a:p>
            <a:pPr algn="l">
              <a:spcAft>
                <a:spcPts val="0"/>
              </a:spcAft>
            </a:pPr>
            <a:r>
              <a:rPr sz="1600" b="0">
                <a:solidFill>
                  <a:srgbClr val="193E32"/>
                </a:solidFill>
                <a:latin typeface="Nimbus Sans"/>
              </a:rPr>
              <a:t>Volume &amp; tren</a:t>
            </a:r>
          </a:p>
        </p:txBody>
      </p:sp>
      <p:cxnSp>
        <p:nvCxnSpPr>
          <p:cNvPr id="50" name="Connector 49"/>
          <p:cNvCxnSpPr/>
          <p:nvPr/>
        </p:nvCxnSpPr>
        <p:spPr>
          <a:xfrm>
            <a:off x="4846320" y="4251959"/>
            <a:ext cx="137160" cy="137161"/>
          </a:xfrm>
          <a:prstGeom prst="line">
            <a:avLst/>
          </a:prstGeom>
          <a:ln w="3810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983480" y="4087368"/>
            <a:ext cx="301751" cy="301752"/>
          </a:xfrm>
          <a:prstGeom prst="line">
            <a:avLst/>
          </a:prstGeom>
          <a:ln w="38100">
            <a:solidFill>
              <a:srgbClr val="17613F"/>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5468112" y="4069080"/>
            <a:ext cx="1737360" cy="292608"/>
          </a:xfrm>
          <a:prstGeom prst="rect">
            <a:avLst/>
          </a:prstGeom>
          <a:noFill/>
        </p:spPr>
        <p:txBody>
          <a:bodyPr wrap="square" lIns="0" rIns="0" tIns="0" bIns="0">
            <a:spAutoFit/>
          </a:bodyPr>
          <a:lstStyle/>
          <a:p>
            <a:pPr algn="l">
              <a:spcAft>
                <a:spcPts val="0"/>
              </a:spcAft>
            </a:pPr>
            <a:r>
              <a:rPr sz="1600" b="0">
                <a:solidFill>
                  <a:srgbClr val="193E32"/>
                </a:solidFill>
                <a:latin typeface="Nimbus Sans"/>
              </a:rPr>
              <a:t>Pasar yang sama</a:t>
            </a:r>
          </a:p>
        </p:txBody>
      </p:sp>
      <p:cxnSp>
        <p:nvCxnSpPr>
          <p:cNvPr id="53" name="Connector 52"/>
          <p:cNvCxnSpPr/>
          <p:nvPr/>
        </p:nvCxnSpPr>
        <p:spPr>
          <a:xfrm>
            <a:off x="4846320" y="4681727"/>
            <a:ext cx="137160" cy="137161"/>
          </a:xfrm>
          <a:prstGeom prst="line">
            <a:avLst/>
          </a:prstGeom>
          <a:ln w="3810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4983480" y="4517136"/>
            <a:ext cx="301751" cy="301752"/>
          </a:xfrm>
          <a:prstGeom prst="line">
            <a:avLst/>
          </a:prstGeom>
          <a:ln w="38100">
            <a:solidFill>
              <a:srgbClr val="17613F"/>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5468112" y="4498848"/>
            <a:ext cx="1737360" cy="292608"/>
          </a:xfrm>
          <a:prstGeom prst="rect">
            <a:avLst/>
          </a:prstGeom>
          <a:noFill/>
        </p:spPr>
        <p:txBody>
          <a:bodyPr wrap="square" lIns="0" rIns="0" tIns="0" bIns="0">
            <a:spAutoFit/>
          </a:bodyPr>
          <a:lstStyle/>
          <a:p>
            <a:pPr algn="l">
              <a:spcAft>
                <a:spcPts val="0"/>
              </a:spcAft>
            </a:pPr>
            <a:r>
              <a:rPr sz="1600" b="0">
                <a:solidFill>
                  <a:srgbClr val="193E32"/>
                </a:solidFill>
                <a:latin typeface="Nimbus Sans"/>
              </a:rPr>
              <a:t>Periode yang sama</a:t>
            </a:r>
          </a:p>
        </p:txBody>
      </p:sp>
      <p:cxnSp>
        <p:nvCxnSpPr>
          <p:cNvPr id="56" name="Connector 55"/>
          <p:cNvCxnSpPr/>
          <p:nvPr/>
        </p:nvCxnSpPr>
        <p:spPr>
          <a:xfrm>
            <a:off x="7562088" y="4023360"/>
            <a:ext cx="786384" cy="0"/>
          </a:xfrm>
          <a:prstGeom prst="line">
            <a:avLst/>
          </a:prstGeom>
          <a:ln w="38100">
            <a:solidFill>
              <a:srgbClr val="D2AB62"/>
            </a:solidFill>
            <a:tailEnd type="triangle"/>
          </a:ln>
        </p:spPr>
        <p:style>
          <a:lnRef idx="2">
            <a:schemeClr val="accent1"/>
          </a:lnRef>
          <a:fillRef idx="0">
            <a:schemeClr val="accent1"/>
          </a:fillRef>
          <a:effectRef idx="1">
            <a:schemeClr val="accent1"/>
          </a:effectRef>
          <a:fontRef idx="minor">
            <a:schemeClr val="tx1"/>
          </a:fontRef>
        </p:style>
      </p:cxnSp>
      <p:sp>
        <p:nvSpPr>
          <p:cNvPr id="57" name="Funnel 56"/>
          <p:cNvSpPr/>
          <p:nvPr/>
        </p:nvSpPr>
        <p:spPr>
          <a:xfrm>
            <a:off x="8641080" y="2971800"/>
            <a:ext cx="1920240" cy="1207008"/>
          </a:xfrm>
          <a:prstGeom prst="funnel">
            <a:avLst/>
          </a:prstGeom>
          <a:solidFill>
            <a:srgbClr val="E4EEDC"/>
          </a:solidFill>
          <a:ln w="2032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229600" y="4507992"/>
            <a:ext cx="3017520" cy="365760"/>
          </a:xfrm>
          <a:prstGeom prst="rect">
            <a:avLst/>
          </a:prstGeom>
          <a:noFill/>
        </p:spPr>
        <p:txBody>
          <a:bodyPr wrap="square" lIns="0" rIns="0" tIns="0" bIns="0">
            <a:spAutoFit/>
          </a:bodyPr>
          <a:lstStyle/>
          <a:p>
            <a:pPr algn="ctr">
              <a:spcAft>
                <a:spcPts val="0"/>
              </a:spcAft>
            </a:pPr>
            <a:r>
              <a:rPr sz="2300" b="1">
                <a:solidFill>
                  <a:srgbClr val="17613F"/>
                </a:solidFill>
                <a:latin typeface="Nimbus Sans"/>
              </a:rPr>
              <a:t>Pilih yang relevan</a:t>
            </a:r>
          </a:p>
        </p:txBody>
      </p:sp>
      <p:sp>
        <p:nvSpPr>
          <p:cNvPr id="59" name="TextBox 58"/>
          <p:cNvSpPr txBox="1"/>
          <p:nvPr/>
        </p:nvSpPr>
        <p:spPr>
          <a:xfrm>
            <a:off x="8229600" y="5001768"/>
            <a:ext cx="3017520" cy="484632"/>
          </a:xfrm>
          <a:prstGeom prst="rect">
            <a:avLst/>
          </a:prstGeom>
          <a:noFill/>
        </p:spPr>
        <p:txBody>
          <a:bodyPr wrap="square" lIns="0" rIns="0" tIns="0" bIns="0">
            <a:spAutoFit/>
          </a:bodyPr>
          <a:lstStyle/>
          <a:p>
            <a:pPr algn="ctr">
              <a:spcAft>
                <a:spcPts val="0"/>
              </a:spcAft>
            </a:pPr>
            <a:r>
              <a:rPr sz="1600" b="0">
                <a:solidFill>
                  <a:srgbClr val="567168"/>
                </a:solidFill>
                <a:latin typeface="Nimbus Sans"/>
              </a:rPr>
              <a:t>Volume perlu diteliti,</a:t>
            </a:r>
          </a:p>
          <a:p>
            <a:pPr algn="ctr">
              <a:spcAft>
                <a:spcPts val="0"/>
              </a:spcAft>
            </a:pPr>
            <a:r>
              <a:rPr sz="1600" b="0">
                <a:solidFill>
                  <a:srgbClr val="567168"/>
                </a:solidFill>
                <a:latin typeface="Nimbus Sans"/>
              </a:rPr>
              <a:t>bukan angka rekaan.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8F3"/>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1761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502920" y="210312"/>
            <a:ext cx="2395728" cy="448056"/>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5"/>
          <a:stretch>
            <a:fillRect/>
          </a:stretch>
        </p:blipFill>
        <p:spPr>
          <a:xfrm>
            <a:off x="603504" y="323088"/>
            <a:ext cx="585216" cy="195072"/>
          </a:xfrm>
          <a:prstGeom prst="rect">
            <a:avLst/>
          </a:prstGeom>
          <a:effectLst/>
        </p:spPr>
      </p:pic>
      <p:sp>
        <p:nvSpPr>
          <p:cNvPr id="5" name="TextBox 4"/>
          <p:cNvSpPr txBox="1"/>
          <p:nvPr/>
        </p:nvSpPr>
        <p:spPr>
          <a:xfrm>
            <a:off x="1271016" y="283464"/>
            <a:ext cx="164592" cy="228600"/>
          </a:xfrm>
          <a:prstGeom prst="rect">
            <a:avLst/>
          </a:prstGeom>
          <a:noFill/>
          <a:effectLst/>
        </p:spPr>
        <p:txBody>
          <a:bodyPr wrap="square" tIns="0" bIns="0" lIns="0" rIns="0">
            <a:spAutoFit/>
          </a:bodyPr>
          <a:lstStyle/>
          <a:p>
            <a:pPr>
              <a:spcBef>
                <a:spcPts val="0"/>
              </a:spcBef>
              <a:spcAft>
                <a:spcPts val="600"/>
              </a:spcAft>
              <a:defRPr sz="1200" b="0">
                <a:solidFill>
                  <a:srgbClr val="567168"/>
                </a:solidFill>
                <a:latin typeface="Nimbus Sans"/>
              </a:defRPr>
            </a:pPr>
            <a:r>
              <a:t>×</a:t>
            </a:r>
          </a:p>
        </p:txBody>
      </p:sp>
      <p:pic>
        <p:nvPicPr>
          <p:cNvPr id="29" name="Picture 28" descr="image.png"/>
          <p:cNvPicPr>
            <a:picLocks noChangeAspect="1"/>
          </p:cNvPicPr>
          <p:nvPr/>
        </p:nvPicPr>
        <p:blipFill>
          <a:blip r:embed="rId6"/>
          <a:stretch>
            <a:fillRect/>
          </a:stretch>
        </p:blipFill>
        <p:spPr>
          <a:xfrm>
            <a:off x="1536192" y="334792"/>
            <a:ext cx="1243584" cy="153375"/>
          </a:xfrm>
          <a:prstGeom prst="rect">
            <a:avLst/>
          </a:prstGeom>
          <a:effectLst/>
        </p:spPr>
      </p:pic>
      <p:sp>
        <p:nvSpPr>
          <p:cNvPr id="7" name="TextBox 6"/>
          <p:cNvSpPr txBox="1"/>
          <p:nvPr/>
        </p:nvSpPr>
        <p:spPr>
          <a:xfrm>
            <a:off x="5486400" y="356616"/>
            <a:ext cx="6062472" cy="237744"/>
          </a:xfrm>
          <a:prstGeom prst="rect">
            <a:avLst/>
          </a:prstGeom>
          <a:noFill/>
          <a:effectLst/>
        </p:spPr>
        <p:txBody>
          <a:bodyPr wrap="square" tIns="0" bIns="0" lIns="0" rIns="0">
            <a:spAutoFit/>
          </a:bodyPr>
          <a:lstStyle/>
          <a:p>
            <a:pPr algn="r">
              <a:spcBef>
                <a:spcPts val="0"/>
              </a:spcBef>
              <a:spcAft>
                <a:spcPts val="600"/>
              </a:spcAft>
              <a:defRPr sz="1000" b="1">
                <a:solidFill>
                  <a:srgbClr val="17613F"/>
                </a:solidFill>
                <a:latin typeface="Nimbus Sans"/>
              </a:defRPr>
            </a:pPr>
            <a:r>
              <a:t>03 / ON-PAGE: RISET &amp; STRATEGI</a:t>
            </a:r>
          </a:p>
        </p:txBody>
      </p:sp>
      <p:sp>
        <p:nvSpPr>
          <p:cNvPr id="8" name="TextBox 7"/>
          <p:cNvSpPr txBox="1"/>
          <p:nvPr/>
        </p:nvSpPr>
        <p:spPr>
          <a:xfrm>
            <a:off x="594360" y="960120"/>
            <a:ext cx="10972800" cy="822960"/>
          </a:xfrm>
          <a:prstGeom prst="rect">
            <a:avLst/>
          </a:prstGeom>
          <a:noFill/>
          <a:effectLst/>
        </p:spPr>
        <p:txBody>
          <a:bodyPr wrap="square" tIns="0" bIns="0" lIns="0" rIns="0">
            <a:spAutoFit/>
          </a:bodyPr>
          <a:lstStyle/>
          <a:p>
            <a:pPr>
              <a:spcBef>
                <a:spcPts val="0"/>
              </a:spcBef>
              <a:spcAft>
                <a:spcPts val="400"/>
              </a:spcAft>
              <a:defRPr sz="3100" b="1">
                <a:solidFill>
                  <a:srgbClr val="193E32"/>
                </a:solidFill>
                <a:latin typeface="Nimbus Sans"/>
              </a:defRPr>
            </a:pPr>
            <a:r>
              <a:rPr sz="3100"/>
              <a:t>Keyword intent: apa yang ingin ditemukan?</a:t>
            </a:r>
          </a:p>
        </p:txBody>
      </p:sp>
      <p:sp>
        <p:nvSpPr>
          <p:cNvPr id="9" name="TextBox 8"/>
          <p:cNvSpPr txBox="1"/>
          <p:nvPr/>
        </p:nvSpPr>
        <p:spPr>
          <a:xfrm>
            <a:off x="594360" y="1792224"/>
            <a:ext cx="10972800" cy="594360"/>
          </a:xfrm>
          <a:prstGeom prst="rect">
            <a:avLst/>
          </a:prstGeom>
          <a:noFill/>
          <a:effectLst/>
        </p:spPr>
        <p:txBody>
          <a:bodyPr wrap="square" tIns="0" bIns="0" lIns="0" rIns="0">
            <a:spAutoFit/>
          </a:bodyPr>
          <a:lstStyle/>
          <a:p>
            <a:pPr>
              <a:spcBef>
                <a:spcPts val="0"/>
              </a:spcBef>
              <a:spcAft>
                <a:spcPts val="400"/>
              </a:spcAft>
              <a:defRPr sz="1700" b="0">
                <a:solidFill>
                  <a:srgbClr val="567168"/>
                </a:solidFill>
                <a:latin typeface="Nimbus Sans"/>
              </a:defRPr>
            </a:pPr>
            <a:r>
              <a:rPr sz="1700"/>
              <a:t>Orang yang mencari panduan dan orang yang ingin membeli membutuhkan halaman yang berbeda.</a:t>
            </a:r>
          </a:p>
        </p:txBody>
      </p:sp>
      <p:sp>
        <p:nvSpPr>
          <p:cNvPr id="10" name="TextBox 9"/>
          <p:cNvSpPr txBox="1"/>
          <p:nvPr/>
        </p:nvSpPr>
        <p:spPr>
          <a:xfrm>
            <a:off x="594360" y="6437376"/>
            <a:ext cx="10287000" cy="219456"/>
          </a:xfrm>
          <a:prstGeom prst="rect">
            <a:avLst/>
          </a:prstGeom>
          <a:noFill/>
          <a:effectLst/>
        </p:spPr>
        <p:txBody>
          <a:bodyPr wrap="square" tIns="0" bIns="0" lIns="0" rIns="0">
            <a:spAutoFit/>
          </a:bodyPr>
          <a:lstStyle/>
          <a:p>
            <a:pPr>
              <a:spcBef>
                <a:spcPts val="0"/>
              </a:spcBef>
              <a:spcAft>
                <a:spcPts val="400"/>
              </a:spcAft>
              <a:defRPr sz="900" b="0">
                <a:solidFill>
                  <a:srgbClr val="567168"/>
                </a:solidFill>
                <a:latin typeface="Nimbus Sans"/>
              </a:defRPr>
            </a:pPr>
            <a:r>
              <a:rPr sz="900"/>
              <a:t>Contoh untuk penjelasan, bukan hasil audit Mecosin.</a:t>
            </a:r>
          </a:p>
        </p:txBody>
      </p:sp>
      <p:sp>
        <p:nvSpPr>
          <p:cNvPr id="11" name="TextBox 10"/>
          <p:cNvSpPr txBox="1"/>
          <p:nvPr/>
        </p:nvSpPr>
        <p:spPr>
          <a:xfrm>
            <a:off x="11091672" y="6391656"/>
            <a:ext cx="457200" cy="256032"/>
          </a:xfrm>
          <a:prstGeom prst="rect">
            <a:avLst/>
          </a:prstGeom>
          <a:noFill/>
          <a:effectLst/>
        </p:spPr>
        <p:txBody>
          <a:bodyPr wrap="square" tIns="0" bIns="0" lIns="0" rIns="0">
            <a:spAutoFit/>
          </a:bodyPr>
          <a:lstStyle/>
          <a:p>
            <a:pPr>
              <a:spcBef>
                <a:spcPts val="0"/>
              </a:spcBef>
              <a:spcAft>
                <a:spcPts val="600"/>
              </a:spcAft>
              <a:defRPr sz="1200" b="1">
                <a:solidFill>
                  <a:srgbClr val="17613F"/>
                </a:solidFill>
                <a:latin typeface="Nimbus Sans"/>
              </a:defRPr>
            </a:pPr>
            <a:r>
              <a:t>12</a:t>
            </a:r>
          </a:p>
        </p:txBody>
      </p:sp>
      <p:sp>
        <p:nvSpPr>
          <p:cNvPr id="12" name="Rectangle 11"/>
          <p:cNvSpPr/>
          <p:nvPr/>
        </p:nvSpPr>
        <p:spPr>
          <a:xfrm>
            <a:off x="566928"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2432304"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297680" y="6739128"/>
            <a:ext cx="1755648" cy="32004"/>
          </a:xfrm>
          <a:prstGeom prst="rect">
            <a:avLst/>
          </a:prstGeom>
          <a:solidFill>
            <a:srgbClr val="D2AB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163056"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8028431"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893807"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ounded Rectangle 17"/>
          <p:cNvSpPr/>
          <p:nvPr/>
        </p:nvSpPr>
        <p:spPr>
          <a:xfrm>
            <a:off x="594360" y="2615184"/>
            <a:ext cx="10972800" cy="1225296"/>
          </a:xfrm>
          <a:prstGeom prst="roundRect">
            <a:avLst>
              <a:gd name="adj" fmla="val 35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41248" y="2990088"/>
            <a:ext cx="5074920" cy="548640"/>
          </a:xfrm>
          <a:prstGeom prst="rect">
            <a:avLst/>
          </a:prstGeom>
          <a:noFill/>
          <a:effectLst/>
        </p:spPr>
        <p:txBody>
          <a:bodyPr wrap="square" tIns="0" bIns="0" lIns="0" rIns="0">
            <a:spAutoFit/>
          </a:bodyPr>
          <a:lstStyle/>
          <a:p>
            <a:pPr>
              <a:spcBef>
                <a:spcPts val="0"/>
              </a:spcBef>
              <a:spcAft>
                <a:spcPts val="600"/>
              </a:spcAft>
              <a:defRPr sz="2200" b="1">
                <a:solidFill>
                  <a:srgbClr val="193E32"/>
                </a:solidFill>
                <a:latin typeface="Nimbus Sans"/>
              </a:defRPr>
            </a:pPr>
            <a:r>
              <a:t>“Cara membaca label herbal”</a:t>
            </a:r>
          </a:p>
        </p:txBody>
      </p:sp>
      <p:sp>
        <p:nvSpPr>
          <p:cNvPr id="20" name="TextBox 19"/>
          <p:cNvSpPr txBox="1"/>
          <p:nvPr/>
        </p:nvSpPr>
        <p:spPr>
          <a:xfrm>
            <a:off x="6428232" y="2843784"/>
            <a:ext cx="4663440" cy="237744"/>
          </a:xfrm>
          <a:prstGeom prst="rect">
            <a:avLst/>
          </a:prstGeom>
          <a:noFill/>
          <a:effectLst/>
        </p:spPr>
        <p:txBody>
          <a:bodyPr wrap="square" tIns="0" bIns="0" lIns="0" rIns="0">
            <a:spAutoFit/>
          </a:bodyPr>
          <a:lstStyle/>
          <a:p>
            <a:pPr>
              <a:spcBef>
                <a:spcPts val="0"/>
              </a:spcBef>
              <a:spcAft>
                <a:spcPts val="600"/>
              </a:spcAft>
              <a:defRPr sz="1000" b="1">
                <a:solidFill>
                  <a:srgbClr val="17613F"/>
                </a:solidFill>
                <a:latin typeface="Nimbus Sans"/>
              </a:defRPr>
            </a:pPr>
            <a:r>
              <a:t>INFORMASIONAL</a:t>
            </a:r>
          </a:p>
        </p:txBody>
      </p:sp>
      <p:sp>
        <p:nvSpPr>
          <p:cNvPr id="21" name="TextBox 20"/>
          <p:cNvSpPr txBox="1"/>
          <p:nvPr/>
        </p:nvSpPr>
        <p:spPr>
          <a:xfrm>
            <a:off x="6428232" y="3255264"/>
            <a:ext cx="4663440" cy="402336"/>
          </a:xfrm>
          <a:prstGeom prst="rect">
            <a:avLst/>
          </a:prstGeom>
          <a:noFill/>
          <a:effectLst/>
        </p:spPr>
        <p:txBody>
          <a:bodyPr wrap="square" tIns="0" bIns="0" lIns="0" rIns="0">
            <a:spAutoFit/>
          </a:bodyPr>
          <a:lstStyle/>
          <a:p>
            <a:pPr>
              <a:spcBef>
                <a:spcPts val="0"/>
              </a:spcBef>
              <a:spcAft>
                <a:spcPts val="600"/>
              </a:spcAft>
              <a:defRPr sz="1800" b="0">
                <a:solidFill>
                  <a:srgbClr val="567168"/>
                </a:solidFill>
                <a:latin typeface="Nimbus Sans"/>
              </a:defRPr>
            </a:pPr>
            <a:r>
              <a:t>Panduan yang menjawab pertanyaan</a:t>
            </a:r>
          </a:p>
        </p:txBody>
      </p:sp>
      <p:sp>
        <p:nvSpPr>
          <p:cNvPr id="22" name="Rounded Rectangle 21"/>
          <p:cNvSpPr/>
          <p:nvPr/>
        </p:nvSpPr>
        <p:spPr>
          <a:xfrm>
            <a:off x="594360" y="4078224"/>
            <a:ext cx="10972800" cy="1225296"/>
          </a:xfrm>
          <a:prstGeom prst="roundRect">
            <a:avLst>
              <a:gd name="adj" fmla="val 35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41248" y="4453128"/>
            <a:ext cx="5074920" cy="548640"/>
          </a:xfrm>
          <a:prstGeom prst="rect">
            <a:avLst/>
          </a:prstGeom>
          <a:noFill/>
          <a:effectLst/>
        </p:spPr>
        <p:txBody>
          <a:bodyPr wrap="square" tIns="0" bIns="0" lIns="0" rIns="0">
            <a:spAutoFit/>
          </a:bodyPr>
          <a:lstStyle/>
          <a:p>
            <a:pPr>
              <a:spcBef>
                <a:spcPts val="0"/>
              </a:spcBef>
              <a:spcAft>
                <a:spcPts val="600"/>
              </a:spcAft>
              <a:defRPr sz="2200" b="1">
                <a:solidFill>
                  <a:srgbClr val="193E32"/>
                </a:solidFill>
                <a:latin typeface="Nimbus Sans"/>
              </a:defRPr>
            </a:pPr>
            <a:r>
              <a:t>“Beli Laserin”</a:t>
            </a:r>
          </a:p>
        </p:txBody>
      </p:sp>
      <p:sp>
        <p:nvSpPr>
          <p:cNvPr id="24" name="TextBox 23"/>
          <p:cNvSpPr txBox="1"/>
          <p:nvPr/>
        </p:nvSpPr>
        <p:spPr>
          <a:xfrm>
            <a:off x="6428232" y="4306824"/>
            <a:ext cx="4663440" cy="237744"/>
          </a:xfrm>
          <a:prstGeom prst="rect">
            <a:avLst/>
          </a:prstGeom>
          <a:noFill/>
          <a:effectLst/>
        </p:spPr>
        <p:txBody>
          <a:bodyPr wrap="square" tIns="0" bIns="0" lIns="0" rIns="0">
            <a:spAutoFit/>
          </a:bodyPr>
          <a:lstStyle/>
          <a:p>
            <a:pPr>
              <a:spcBef>
                <a:spcPts val="0"/>
              </a:spcBef>
              <a:spcAft>
                <a:spcPts val="600"/>
              </a:spcAft>
              <a:defRPr sz="1000" b="1">
                <a:solidFill>
                  <a:srgbClr val="17613F"/>
                </a:solidFill>
                <a:latin typeface="Nimbus Sans"/>
              </a:defRPr>
            </a:pPr>
            <a:r>
              <a:t>TRANSAKSIONAL</a:t>
            </a:r>
          </a:p>
        </p:txBody>
      </p:sp>
      <p:sp>
        <p:nvSpPr>
          <p:cNvPr id="25" name="TextBox 24"/>
          <p:cNvSpPr txBox="1"/>
          <p:nvPr/>
        </p:nvSpPr>
        <p:spPr>
          <a:xfrm>
            <a:off x="6428232" y="4718304"/>
            <a:ext cx="4663440" cy="402336"/>
          </a:xfrm>
          <a:prstGeom prst="rect">
            <a:avLst/>
          </a:prstGeom>
          <a:noFill/>
          <a:effectLst/>
        </p:spPr>
        <p:txBody>
          <a:bodyPr wrap="square" tIns="0" bIns="0" lIns="0" rIns="0">
            <a:spAutoFit/>
          </a:bodyPr>
          <a:lstStyle/>
          <a:p>
            <a:pPr>
              <a:spcBef>
                <a:spcPts val="0"/>
              </a:spcBef>
              <a:spcAft>
                <a:spcPts val="600"/>
              </a:spcAft>
              <a:defRPr sz="1800" b="0">
                <a:solidFill>
                  <a:srgbClr val="567168"/>
                </a:solidFill>
                <a:latin typeface="Nimbus Sans"/>
              </a:defRPr>
            </a:pPr>
            <a:r>
              <a:t>Halaman produk dan cara membeli</a:t>
            </a:r>
          </a:p>
        </p:txBody>
      </p:sp>
      <p:sp>
        <p:nvSpPr>
          <p:cNvPr id="26" name="Rounded Rectangle 25"/>
          <p:cNvSpPr/>
          <p:nvPr/>
        </p:nvSpPr>
        <p:spPr>
          <a:xfrm>
            <a:off x="594360" y="5833872"/>
            <a:ext cx="10972800" cy="484632"/>
          </a:xfrm>
          <a:prstGeom prst="roundRect">
            <a:avLst>
              <a:gd name="adj" fmla="val 3500"/>
            </a:avLst>
          </a:prstGeom>
          <a:solidFill>
            <a:srgbClr val="E4EE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777240" y="5943600"/>
            <a:ext cx="10607040" cy="283464"/>
          </a:xfrm>
          <a:prstGeom prst="rect">
            <a:avLst/>
          </a:prstGeom>
          <a:noFill/>
          <a:effectLst/>
        </p:spPr>
        <p:txBody>
          <a:bodyPr wrap="square" tIns="0" bIns="0" lIns="0" rIns="0">
            <a:spAutoFit/>
          </a:bodyPr>
          <a:lstStyle/>
          <a:p>
            <a:pPr>
              <a:spcBef>
                <a:spcPts val="0"/>
              </a:spcBef>
              <a:spcAft>
                <a:spcPts val="400"/>
              </a:spcAft>
              <a:defRPr sz="1200" b="0">
                <a:solidFill>
                  <a:srgbClr val="17613F"/>
                </a:solidFill>
                <a:latin typeface="Nimbus Sans"/>
              </a:defRPr>
            </a:pPr>
            <a:r>
              <a:rPr sz="1200"/>
              <a:t>Contoh: orang yang ingin membeli perlu informasi produk dan cara membelinya, bukan hanya artikel umum.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8F3"/>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1761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502920" y="210312"/>
            <a:ext cx="2395728" cy="448056"/>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8" name="Picture 37" descr="image.png"/>
          <p:cNvPicPr>
            <a:picLocks noChangeAspect="1"/>
          </p:cNvPicPr>
          <p:nvPr/>
        </p:nvPicPr>
        <p:blipFill>
          <a:blip r:embed="rId6"/>
          <a:stretch>
            <a:fillRect/>
          </a:stretch>
        </p:blipFill>
        <p:spPr>
          <a:xfrm>
            <a:off x="603504" y="323088"/>
            <a:ext cx="585216" cy="195072"/>
          </a:xfrm>
          <a:prstGeom prst="rect">
            <a:avLst/>
          </a:prstGeom>
          <a:effectLst/>
        </p:spPr>
      </p:pic>
      <p:sp>
        <p:nvSpPr>
          <p:cNvPr id="5" name="TextBox 4"/>
          <p:cNvSpPr txBox="1"/>
          <p:nvPr/>
        </p:nvSpPr>
        <p:spPr>
          <a:xfrm>
            <a:off x="1271016" y="283464"/>
            <a:ext cx="164592" cy="228600"/>
          </a:xfrm>
          <a:prstGeom prst="rect">
            <a:avLst/>
          </a:prstGeom>
          <a:noFill/>
          <a:effectLst/>
        </p:spPr>
        <p:txBody>
          <a:bodyPr wrap="square" tIns="0" bIns="0" lIns="0" rIns="0">
            <a:spAutoFit/>
          </a:bodyPr>
          <a:lstStyle/>
          <a:p>
            <a:pPr>
              <a:spcBef>
                <a:spcPts val="0"/>
              </a:spcBef>
              <a:spcAft>
                <a:spcPts val="600"/>
              </a:spcAft>
              <a:defRPr sz="1200" b="0">
                <a:solidFill>
                  <a:srgbClr val="567168"/>
                </a:solidFill>
                <a:latin typeface="Nimbus Sans"/>
              </a:defRPr>
            </a:pPr>
            <a:r>
              <a:t>×</a:t>
            </a:r>
          </a:p>
        </p:txBody>
      </p:sp>
      <p:pic>
        <p:nvPicPr>
          <p:cNvPr id="39" name="Picture 38" descr="image.png"/>
          <p:cNvPicPr>
            <a:picLocks noChangeAspect="1"/>
          </p:cNvPicPr>
          <p:nvPr/>
        </p:nvPicPr>
        <p:blipFill>
          <a:blip r:embed="rId7"/>
          <a:stretch>
            <a:fillRect/>
          </a:stretch>
        </p:blipFill>
        <p:spPr>
          <a:xfrm>
            <a:off x="1536192" y="334792"/>
            <a:ext cx="1243584" cy="153375"/>
          </a:xfrm>
          <a:prstGeom prst="rect">
            <a:avLst/>
          </a:prstGeom>
          <a:effectLst/>
        </p:spPr>
      </p:pic>
      <p:sp>
        <p:nvSpPr>
          <p:cNvPr id="7" name="TextBox 6"/>
          <p:cNvSpPr txBox="1"/>
          <p:nvPr/>
        </p:nvSpPr>
        <p:spPr>
          <a:xfrm>
            <a:off x="5486400" y="356616"/>
            <a:ext cx="6062472" cy="237744"/>
          </a:xfrm>
          <a:prstGeom prst="rect">
            <a:avLst/>
          </a:prstGeom>
          <a:noFill/>
          <a:effectLst/>
        </p:spPr>
        <p:txBody>
          <a:bodyPr wrap="square" tIns="0" bIns="0" lIns="0" rIns="0">
            <a:spAutoFit/>
          </a:bodyPr>
          <a:lstStyle/>
          <a:p>
            <a:pPr algn="r">
              <a:spcBef>
                <a:spcPts val="0"/>
              </a:spcBef>
              <a:spcAft>
                <a:spcPts val="600"/>
              </a:spcAft>
              <a:defRPr sz="1000" b="1">
                <a:solidFill>
                  <a:srgbClr val="17613F"/>
                </a:solidFill>
                <a:latin typeface="Nimbus Sans"/>
              </a:defRPr>
            </a:pPr>
            <a:r>
              <a:t>03 / ON-PAGE: RISET &amp; STRATEGI</a:t>
            </a:r>
          </a:p>
        </p:txBody>
      </p:sp>
      <p:sp>
        <p:nvSpPr>
          <p:cNvPr id="8" name="TextBox 7"/>
          <p:cNvSpPr txBox="1"/>
          <p:nvPr/>
        </p:nvSpPr>
        <p:spPr>
          <a:xfrm>
            <a:off x="594360" y="960120"/>
            <a:ext cx="10972800" cy="822960"/>
          </a:xfrm>
          <a:prstGeom prst="rect">
            <a:avLst/>
          </a:prstGeom>
          <a:noFill/>
          <a:effectLst/>
        </p:spPr>
        <p:txBody>
          <a:bodyPr wrap="square" tIns="0" bIns="0" lIns="0" rIns="0">
            <a:spAutoFit/>
          </a:bodyPr>
          <a:lstStyle/>
          <a:p>
            <a:pPr>
              <a:spcBef>
                <a:spcPts val="0"/>
              </a:spcBef>
              <a:spcAft>
                <a:spcPts val="400"/>
              </a:spcAft>
              <a:defRPr sz="3100" b="1">
                <a:solidFill>
                  <a:srgbClr val="193E32"/>
                </a:solidFill>
                <a:latin typeface="Nimbus Sans"/>
              </a:defRPr>
            </a:pPr>
            <a:r>
              <a:rPr sz="3100"/>
              <a:t>Riset kompetitor: siapa yang muncul di Google?</a:t>
            </a:r>
          </a:p>
        </p:txBody>
      </p:sp>
      <p:sp>
        <p:nvSpPr>
          <p:cNvPr id="9" name="TextBox 8"/>
          <p:cNvSpPr txBox="1"/>
          <p:nvPr/>
        </p:nvSpPr>
        <p:spPr>
          <a:xfrm>
            <a:off x="594360" y="1792224"/>
            <a:ext cx="10972800" cy="594360"/>
          </a:xfrm>
          <a:prstGeom prst="rect">
            <a:avLst/>
          </a:prstGeom>
          <a:noFill/>
          <a:effectLst/>
        </p:spPr>
        <p:txBody>
          <a:bodyPr wrap="square" tIns="0" bIns="0" lIns="0" rIns="0">
            <a:spAutoFit/>
          </a:bodyPr>
          <a:lstStyle/>
          <a:p>
            <a:pPr>
              <a:spcBef>
                <a:spcPts val="0"/>
              </a:spcBef>
              <a:spcAft>
                <a:spcPts val="400"/>
              </a:spcAft>
              <a:defRPr sz="1700" b="0">
                <a:solidFill>
                  <a:srgbClr val="567168"/>
                </a:solidFill>
                <a:latin typeface="Nimbus Sans"/>
              </a:defRPr>
            </a:pPr>
            <a:r>
              <a:rPr sz="1700"/>
              <a:t>Pelajari halaman yang muncul untuk kata kunci yang sama. Situsnya belum tentu berasal dari bisnis sejenis.</a:t>
            </a:r>
          </a:p>
        </p:txBody>
      </p:sp>
      <p:sp>
        <p:nvSpPr>
          <p:cNvPr id="10" name="TextBox 9"/>
          <p:cNvSpPr txBox="1"/>
          <p:nvPr/>
        </p:nvSpPr>
        <p:spPr>
          <a:xfrm>
            <a:off x="594360" y="6437376"/>
            <a:ext cx="10287000" cy="219456"/>
          </a:xfrm>
          <a:prstGeom prst="rect">
            <a:avLst/>
          </a:prstGeom>
          <a:noFill/>
          <a:effectLst/>
        </p:spPr>
        <p:txBody>
          <a:bodyPr wrap="square" tIns="0" bIns="0" lIns="0" rIns="0">
            <a:spAutoFit/>
          </a:bodyPr>
          <a:lstStyle/>
          <a:p>
            <a:pPr>
              <a:spcBef>
                <a:spcPts val="0"/>
              </a:spcBef>
              <a:spcAft>
                <a:spcPts val="400"/>
              </a:spcAft>
              <a:defRPr sz="900" b="0">
                <a:solidFill>
                  <a:srgbClr val="567168"/>
                </a:solidFill>
                <a:latin typeface="Nimbus Sans"/>
              </a:defRPr>
            </a:pPr>
            <a:r>
              <a:rPr sz="900"/>
              <a:t>Contoh untuk penjelasan, bukan hasil audit Mecosin.</a:t>
            </a:r>
          </a:p>
        </p:txBody>
      </p:sp>
      <p:sp>
        <p:nvSpPr>
          <p:cNvPr id="11" name="TextBox 10"/>
          <p:cNvSpPr txBox="1"/>
          <p:nvPr/>
        </p:nvSpPr>
        <p:spPr>
          <a:xfrm>
            <a:off x="11091672" y="6391656"/>
            <a:ext cx="457200" cy="256032"/>
          </a:xfrm>
          <a:prstGeom prst="rect">
            <a:avLst/>
          </a:prstGeom>
          <a:noFill/>
          <a:effectLst/>
        </p:spPr>
        <p:txBody>
          <a:bodyPr wrap="square" tIns="0" bIns="0" lIns="0" rIns="0">
            <a:spAutoFit/>
          </a:bodyPr>
          <a:lstStyle/>
          <a:p>
            <a:pPr>
              <a:spcBef>
                <a:spcPts val="0"/>
              </a:spcBef>
              <a:spcAft>
                <a:spcPts val="600"/>
              </a:spcAft>
              <a:defRPr sz="1200" b="1">
                <a:solidFill>
                  <a:srgbClr val="17613F"/>
                </a:solidFill>
                <a:latin typeface="Nimbus Sans"/>
              </a:defRPr>
            </a:pPr>
            <a:r>
              <a:t>13</a:t>
            </a:r>
          </a:p>
        </p:txBody>
      </p:sp>
      <p:sp>
        <p:nvSpPr>
          <p:cNvPr id="12" name="Rectangle 11"/>
          <p:cNvSpPr/>
          <p:nvPr/>
        </p:nvSpPr>
        <p:spPr>
          <a:xfrm>
            <a:off x="566928"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2432304"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297680" y="6739128"/>
            <a:ext cx="1755648" cy="32004"/>
          </a:xfrm>
          <a:prstGeom prst="rect">
            <a:avLst/>
          </a:prstGeom>
          <a:solidFill>
            <a:srgbClr val="D2AB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163056"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8028431"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893807"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ounded Rectangle 26"/>
          <p:cNvSpPr/>
          <p:nvPr/>
        </p:nvSpPr>
        <p:spPr>
          <a:xfrm>
            <a:off x="594360" y="5833872"/>
            <a:ext cx="10972800" cy="484632"/>
          </a:xfrm>
          <a:prstGeom prst="roundRect">
            <a:avLst>
              <a:gd name="adj" fmla="val 3500"/>
            </a:avLst>
          </a:prstGeom>
          <a:solidFill>
            <a:srgbClr val="E4EE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77240" y="5943600"/>
            <a:ext cx="10607040" cy="283464"/>
          </a:xfrm>
          <a:prstGeom prst="rect">
            <a:avLst/>
          </a:prstGeom>
          <a:noFill/>
          <a:effectLst/>
        </p:spPr>
        <p:txBody>
          <a:bodyPr wrap="square" tIns="0" bIns="0" lIns="0" rIns="0">
            <a:spAutoFit/>
          </a:bodyPr>
          <a:lstStyle/>
          <a:p>
            <a:pPr>
              <a:spcBef>
                <a:spcPts val="0"/>
              </a:spcBef>
              <a:spcAft>
                <a:spcPts val="400"/>
              </a:spcAft>
              <a:defRPr sz="1200" b="0">
                <a:solidFill>
                  <a:srgbClr val="17613F"/>
                </a:solidFill>
                <a:latin typeface="Nimbus Sans"/>
              </a:defRPr>
            </a:pPr>
            <a:r>
              <a:rPr sz="1200"/>
              <a:t>Situs dalam contoh ini hanya simulasi. Pesaing di Google belum tentu pesaing bisnis Mecosin.</a:t>
            </a:r>
          </a:p>
        </p:txBody>
      </p:sp>
      <p:sp>
        <p:nvSpPr>
          <p:cNvPr id="31" name="TextBox 30"/>
          <p:cNvSpPr txBox="1"/>
          <p:nvPr/>
        </p:nvSpPr>
        <p:spPr>
          <a:xfrm>
            <a:off x="804672" y="2624328"/>
            <a:ext cx="10515600" cy="256032"/>
          </a:xfrm>
          <a:prstGeom prst="rect">
            <a:avLst/>
          </a:prstGeom>
          <a:noFill/>
          <a:effectLst/>
        </p:spPr>
        <p:txBody>
          <a:bodyPr wrap="square" tIns="0" bIns="0" lIns="0" rIns="0">
            <a:spAutoFit/>
          </a:bodyPr>
          <a:lstStyle/>
          <a:p>
            <a:pPr algn="l">
              <a:spcBef>
                <a:spcPts val="0"/>
              </a:spcBef>
              <a:spcAft>
                <a:spcPts val="400"/>
              </a:spcAft>
              <a:defRPr sz="1100" b="0">
                <a:solidFill>
                  <a:srgbClr val="567168"/>
                </a:solidFill>
                <a:latin typeface="Nimbus Sans"/>
              </a:defRPr>
            </a:pPr>
            <a:r>
              <a:rPr sz="1200" b="0">
                <a:solidFill>
                  <a:srgbClr val="567168"/>
                </a:solidFill>
                <a:latin typeface="Nimbus Sans"/>
              </a:rPr>
              <a:t>Simulasi hasil pencarian / bukan audit</a:t>
            </a:r>
          </a:p>
        </p:txBody>
      </p:sp>
      <p:sp>
        <p:nvSpPr>
          <p:cNvPr id="40" name="Rounded Rectangle 39"/>
          <p:cNvSpPr/>
          <p:nvPr/>
        </p:nvSpPr>
        <p:spPr>
          <a:xfrm>
            <a:off x="685800" y="3163824"/>
            <a:ext cx="10789920" cy="713232"/>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932688" y="3364992"/>
            <a:ext cx="4206240" cy="320040"/>
          </a:xfrm>
          <a:prstGeom prst="rect">
            <a:avLst/>
          </a:prstGeom>
          <a:noFill/>
          <a:effectLst/>
        </p:spPr>
        <p:txBody>
          <a:bodyPr wrap="square" tIns="0" bIns="0" lIns="0" rIns="0">
            <a:spAutoFit/>
          </a:bodyPr>
          <a:lstStyle/>
          <a:p>
            <a:pPr algn="l">
              <a:spcBef>
                <a:spcPts val="0"/>
              </a:spcBef>
              <a:spcAft>
                <a:spcPts val="400"/>
              </a:spcAft>
              <a:defRPr sz="2100" b="1">
                <a:solidFill>
                  <a:srgbClr val="247CA2"/>
                </a:solidFill>
                <a:latin typeface="Nimbus Sans"/>
              </a:defRPr>
            </a:pPr>
            <a:r>
              <a:rPr sz="2100" b="1">
                <a:solidFill>
                  <a:srgbClr val="247CA2"/>
                </a:solidFill>
                <a:latin typeface="Nimbus Sans"/>
              </a:rPr>
              <a:t>Situs A · Panduan label</a:t>
            </a:r>
          </a:p>
        </p:txBody>
      </p:sp>
      <p:sp>
        <p:nvSpPr>
          <p:cNvPr id="33" name="TextBox 32"/>
          <p:cNvSpPr txBox="1"/>
          <p:nvPr/>
        </p:nvSpPr>
        <p:spPr>
          <a:xfrm>
            <a:off x="5486400" y="3346704"/>
            <a:ext cx="5715000" cy="365760"/>
          </a:xfrm>
          <a:prstGeom prst="rect">
            <a:avLst/>
          </a:prstGeom>
          <a:noFill/>
          <a:effectLst/>
        </p:spPr>
        <p:txBody>
          <a:bodyPr wrap="square" tIns="0" bIns="0" lIns="0" rIns="0">
            <a:spAutoFit/>
          </a:bodyPr>
          <a:lstStyle/>
          <a:p>
            <a:pPr algn="l">
              <a:spcBef>
                <a:spcPts val="0"/>
              </a:spcBef>
              <a:spcAft>
                <a:spcPts val="400"/>
              </a:spcAft>
              <a:defRPr sz="1500" b="0">
                <a:solidFill>
                  <a:srgbClr val="567168"/>
                </a:solidFill>
                <a:latin typeface="Nimbus Sans"/>
              </a:defRPr>
            </a:pPr>
            <a:r>
              <a:rPr sz="1700" b="0">
                <a:solidFill>
                  <a:srgbClr val="567168"/>
                </a:solidFill>
                <a:latin typeface="Nimbus Sans"/>
              </a:rPr>
              <a:t>Susunannya jelas, tetapi contoh gambarnya sedikit.</a:t>
            </a:r>
          </a:p>
        </p:txBody>
      </p:sp>
      <p:sp>
        <p:nvSpPr>
          <p:cNvPr id="41" name="Rounded Rectangle 40"/>
          <p:cNvSpPr/>
          <p:nvPr/>
        </p:nvSpPr>
        <p:spPr>
          <a:xfrm>
            <a:off x="685800" y="4041648"/>
            <a:ext cx="10789920" cy="713232"/>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932688" y="4242816"/>
            <a:ext cx="4206240" cy="320040"/>
          </a:xfrm>
          <a:prstGeom prst="rect">
            <a:avLst/>
          </a:prstGeom>
          <a:noFill/>
          <a:effectLst/>
        </p:spPr>
        <p:txBody>
          <a:bodyPr wrap="square" tIns="0" bIns="0" lIns="0" rIns="0">
            <a:spAutoFit/>
          </a:bodyPr>
          <a:lstStyle/>
          <a:p>
            <a:pPr algn="l">
              <a:spcBef>
                <a:spcPts val="0"/>
              </a:spcBef>
              <a:spcAft>
                <a:spcPts val="400"/>
              </a:spcAft>
              <a:defRPr sz="2100" b="1">
                <a:solidFill>
                  <a:srgbClr val="247CA2"/>
                </a:solidFill>
                <a:latin typeface="Nimbus Sans"/>
              </a:defRPr>
            </a:pPr>
            <a:r>
              <a:rPr sz="2100" b="1">
                <a:solidFill>
                  <a:srgbClr val="247CA2"/>
                </a:solidFill>
                <a:latin typeface="Nimbus Sans"/>
              </a:rPr>
              <a:t>Situs B · Informasi kemasan</a:t>
            </a:r>
          </a:p>
        </p:txBody>
      </p:sp>
      <p:sp>
        <p:nvSpPr>
          <p:cNvPr id="35" name="TextBox 34"/>
          <p:cNvSpPr txBox="1"/>
          <p:nvPr/>
        </p:nvSpPr>
        <p:spPr>
          <a:xfrm>
            <a:off x="5486400" y="4224528"/>
            <a:ext cx="5715000" cy="365760"/>
          </a:xfrm>
          <a:prstGeom prst="rect">
            <a:avLst/>
          </a:prstGeom>
          <a:noFill/>
          <a:effectLst/>
        </p:spPr>
        <p:txBody>
          <a:bodyPr wrap="square" tIns="0" bIns="0" lIns="0" rIns="0">
            <a:spAutoFit/>
          </a:bodyPr>
          <a:lstStyle/>
          <a:p>
            <a:pPr algn="l">
              <a:spcBef>
                <a:spcPts val="0"/>
              </a:spcBef>
              <a:spcAft>
                <a:spcPts val="400"/>
              </a:spcAft>
              <a:defRPr sz="1500" b="0">
                <a:solidFill>
                  <a:srgbClr val="567168"/>
                </a:solidFill>
                <a:latin typeface="Nimbus Sans"/>
              </a:defRPr>
            </a:pPr>
            <a:r>
              <a:rPr sz="1700" b="0">
                <a:solidFill>
                  <a:srgbClr val="567168"/>
                </a:solidFill>
                <a:latin typeface="Nimbus Sans"/>
              </a:rPr>
              <a:t>Contohnya banyak, tetapi sumbernya perlu diperiksa.</a:t>
            </a:r>
          </a:p>
        </p:txBody>
      </p:sp>
      <p:sp>
        <p:nvSpPr>
          <p:cNvPr id="42" name="TextBox 41"/>
          <p:cNvSpPr txBox="1"/>
          <p:nvPr/>
        </p:nvSpPr>
        <p:spPr>
          <a:xfrm>
            <a:off x="868680" y="5084064"/>
            <a:ext cx="10424160" cy="320040"/>
          </a:xfrm>
          <a:prstGeom prst="rect">
            <a:avLst/>
          </a:prstGeom>
          <a:noFill/>
          <a:effectLst/>
        </p:spPr>
        <p:txBody>
          <a:bodyPr wrap="square" lIns="0" rIns="0" tIns="0" bIns="0">
            <a:spAutoFit/>
          </a:bodyPr>
          <a:lstStyle/>
          <a:p>
            <a:pPr algn="l">
              <a:spcBef>
                <a:spcPts val="0"/>
              </a:spcBef>
              <a:spcAft>
                <a:spcPts val="400"/>
              </a:spcAft>
            </a:pPr>
            <a:r>
              <a:rPr sz="1800" b="1">
                <a:solidFill>
                  <a:srgbClr val="17613F"/>
                </a:solidFill>
                <a:latin typeface="Nimbus Sans"/>
              </a:rPr>
              <a:t>Bandingkan kelengkapan isi, sumber, susunan, dan tautannya.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8F3"/>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1761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502920" y="210312"/>
            <a:ext cx="2395728" cy="448056"/>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6" name="Picture 35" descr="image.png"/>
          <p:cNvPicPr>
            <a:picLocks noChangeAspect="1"/>
          </p:cNvPicPr>
          <p:nvPr/>
        </p:nvPicPr>
        <p:blipFill>
          <a:blip r:embed="rId5"/>
          <a:stretch>
            <a:fillRect/>
          </a:stretch>
        </p:blipFill>
        <p:spPr>
          <a:xfrm>
            <a:off x="603504" y="323088"/>
            <a:ext cx="585216" cy="195072"/>
          </a:xfrm>
          <a:prstGeom prst="rect">
            <a:avLst/>
          </a:prstGeom>
          <a:effectLst/>
        </p:spPr>
      </p:pic>
      <p:sp>
        <p:nvSpPr>
          <p:cNvPr id="5" name="TextBox 4"/>
          <p:cNvSpPr txBox="1"/>
          <p:nvPr/>
        </p:nvSpPr>
        <p:spPr>
          <a:xfrm>
            <a:off x="1271016" y="283464"/>
            <a:ext cx="164592" cy="228600"/>
          </a:xfrm>
          <a:prstGeom prst="rect">
            <a:avLst/>
          </a:prstGeom>
          <a:noFill/>
          <a:effectLst/>
        </p:spPr>
        <p:txBody>
          <a:bodyPr wrap="square" tIns="0" bIns="0" lIns="0" rIns="0">
            <a:spAutoFit/>
          </a:bodyPr>
          <a:lstStyle/>
          <a:p>
            <a:pPr>
              <a:spcBef>
                <a:spcPts val="0"/>
              </a:spcBef>
              <a:spcAft>
                <a:spcPts val="600"/>
              </a:spcAft>
              <a:defRPr sz="1200" b="0">
                <a:solidFill>
                  <a:srgbClr val="567168"/>
                </a:solidFill>
                <a:latin typeface="Nimbus Sans"/>
              </a:defRPr>
            </a:pPr>
            <a:r>
              <a:t>×</a:t>
            </a:r>
          </a:p>
        </p:txBody>
      </p:sp>
      <p:pic>
        <p:nvPicPr>
          <p:cNvPr id="37" name="Picture 36" descr="image.png"/>
          <p:cNvPicPr>
            <a:picLocks noChangeAspect="1"/>
          </p:cNvPicPr>
          <p:nvPr/>
        </p:nvPicPr>
        <p:blipFill>
          <a:blip r:embed="rId6"/>
          <a:stretch>
            <a:fillRect/>
          </a:stretch>
        </p:blipFill>
        <p:spPr>
          <a:xfrm>
            <a:off x="1536192" y="334792"/>
            <a:ext cx="1243584" cy="153375"/>
          </a:xfrm>
          <a:prstGeom prst="rect">
            <a:avLst/>
          </a:prstGeom>
          <a:effectLst/>
        </p:spPr>
      </p:pic>
      <p:sp>
        <p:nvSpPr>
          <p:cNvPr id="7" name="TextBox 6"/>
          <p:cNvSpPr txBox="1"/>
          <p:nvPr/>
        </p:nvSpPr>
        <p:spPr>
          <a:xfrm>
            <a:off x="5486400" y="356616"/>
            <a:ext cx="6062472" cy="237744"/>
          </a:xfrm>
          <a:prstGeom prst="rect">
            <a:avLst/>
          </a:prstGeom>
          <a:noFill/>
          <a:effectLst/>
        </p:spPr>
        <p:txBody>
          <a:bodyPr wrap="square" tIns="0" bIns="0" lIns="0" rIns="0">
            <a:spAutoFit/>
          </a:bodyPr>
          <a:lstStyle/>
          <a:p>
            <a:pPr algn="r">
              <a:spcBef>
                <a:spcPts val="0"/>
              </a:spcBef>
              <a:spcAft>
                <a:spcPts val="600"/>
              </a:spcAft>
              <a:defRPr sz="1000" b="1">
                <a:solidFill>
                  <a:srgbClr val="17613F"/>
                </a:solidFill>
                <a:latin typeface="Nimbus Sans"/>
              </a:defRPr>
            </a:pPr>
            <a:r>
              <a:t>03 / ON-PAGE: RISET &amp; STRATEGI</a:t>
            </a:r>
          </a:p>
        </p:txBody>
      </p:sp>
      <p:sp>
        <p:nvSpPr>
          <p:cNvPr id="8" name="TextBox 7"/>
          <p:cNvSpPr txBox="1"/>
          <p:nvPr/>
        </p:nvSpPr>
        <p:spPr>
          <a:xfrm>
            <a:off x="594360" y="960120"/>
            <a:ext cx="10972800" cy="822960"/>
          </a:xfrm>
          <a:prstGeom prst="rect">
            <a:avLst/>
          </a:prstGeom>
          <a:noFill/>
          <a:effectLst/>
        </p:spPr>
        <p:txBody>
          <a:bodyPr wrap="square" tIns="0" bIns="0" lIns="0" rIns="0">
            <a:spAutoFit/>
          </a:bodyPr>
          <a:lstStyle/>
          <a:p>
            <a:pPr>
              <a:spcBef>
                <a:spcPts val="0"/>
              </a:spcBef>
              <a:spcAft>
                <a:spcPts val="400"/>
              </a:spcAft>
              <a:defRPr sz="3100" b="1">
                <a:solidFill>
                  <a:srgbClr val="193E32"/>
                </a:solidFill>
                <a:latin typeface="Nimbus Sans"/>
              </a:defRPr>
            </a:pPr>
            <a:r>
              <a:rPr sz="3100"/>
              <a:t>Keyword gap: topik apa yang belum dibahas?</a:t>
            </a:r>
          </a:p>
        </p:txBody>
      </p:sp>
      <p:sp>
        <p:nvSpPr>
          <p:cNvPr id="9" name="TextBox 8"/>
          <p:cNvSpPr txBox="1"/>
          <p:nvPr/>
        </p:nvSpPr>
        <p:spPr>
          <a:xfrm>
            <a:off x="594360" y="1792224"/>
            <a:ext cx="10972800" cy="594360"/>
          </a:xfrm>
          <a:prstGeom prst="rect">
            <a:avLst/>
          </a:prstGeom>
          <a:noFill/>
          <a:effectLst/>
        </p:spPr>
        <p:txBody>
          <a:bodyPr wrap="square" tIns="0" bIns="0" lIns="0" rIns="0">
            <a:spAutoFit/>
          </a:bodyPr>
          <a:lstStyle/>
          <a:p>
            <a:pPr>
              <a:spcBef>
                <a:spcPts val="0"/>
              </a:spcBef>
              <a:spcAft>
                <a:spcPts val="400"/>
              </a:spcAft>
              <a:defRPr sz="1700" b="0">
                <a:solidFill>
                  <a:srgbClr val="567168"/>
                </a:solidFill>
                <a:latin typeface="Nimbus Sans"/>
              </a:defRPr>
            </a:pPr>
            <a:r>
              <a:rPr sz="1700"/>
              <a:t>Cari kata kunci yang dijangkau kompetitor, tetapi belum dijangkau Mecosin. Pilih sesuai kebutuhan bisnis.</a:t>
            </a:r>
          </a:p>
        </p:txBody>
      </p:sp>
      <p:sp>
        <p:nvSpPr>
          <p:cNvPr id="10" name="TextBox 9"/>
          <p:cNvSpPr txBox="1"/>
          <p:nvPr/>
        </p:nvSpPr>
        <p:spPr>
          <a:xfrm>
            <a:off x="594360" y="6437376"/>
            <a:ext cx="10287000" cy="219456"/>
          </a:xfrm>
          <a:prstGeom prst="rect">
            <a:avLst/>
          </a:prstGeom>
          <a:noFill/>
          <a:effectLst/>
        </p:spPr>
        <p:txBody>
          <a:bodyPr wrap="square" tIns="0" bIns="0" lIns="0" rIns="0">
            <a:spAutoFit/>
          </a:bodyPr>
          <a:lstStyle/>
          <a:p>
            <a:pPr>
              <a:spcBef>
                <a:spcPts val="0"/>
              </a:spcBef>
              <a:spcAft>
                <a:spcPts val="400"/>
              </a:spcAft>
              <a:defRPr sz="900" b="0">
                <a:solidFill>
                  <a:srgbClr val="567168"/>
                </a:solidFill>
                <a:latin typeface="Nimbus Sans"/>
              </a:defRPr>
            </a:pPr>
            <a:r>
              <a:rPr sz="900"/>
              <a:t>Contoh untuk penjelasan, bukan hasil audit Mecosin.</a:t>
            </a:r>
          </a:p>
        </p:txBody>
      </p:sp>
      <p:sp>
        <p:nvSpPr>
          <p:cNvPr id="11" name="TextBox 10"/>
          <p:cNvSpPr txBox="1"/>
          <p:nvPr/>
        </p:nvSpPr>
        <p:spPr>
          <a:xfrm>
            <a:off x="11091672" y="6391656"/>
            <a:ext cx="457200" cy="256032"/>
          </a:xfrm>
          <a:prstGeom prst="rect">
            <a:avLst/>
          </a:prstGeom>
          <a:noFill/>
          <a:effectLst/>
        </p:spPr>
        <p:txBody>
          <a:bodyPr wrap="square" tIns="0" bIns="0" lIns="0" rIns="0">
            <a:spAutoFit/>
          </a:bodyPr>
          <a:lstStyle/>
          <a:p>
            <a:pPr>
              <a:spcBef>
                <a:spcPts val="0"/>
              </a:spcBef>
              <a:spcAft>
                <a:spcPts val="600"/>
              </a:spcAft>
              <a:defRPr sz="1200" b="1">
                <a:solidFill>
                  <a:srgbClr val="17613F"/>
                </a:solidFill>
                <a:latin typeface="Nimbus Sans"/>
              </a:defRPr>
            </a:pPr>
            <a:r>
              <a:t>14</a:t>
            </a:r>
          </a:p>
        </p:txBody>
      </p:sp>
      <p:sp>
        <p:nvSpPr>
          <p:cNvPr id="12" name="Rectangle 11"/>
          <p:cNvSpPr/>
          <p:nvPr/>
        </p:nvSpPr>
        <p:spPr>
          <a:xfrm>
            <a:off x="566928"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2432304"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297680" y="6739128"/>
            <a:ext cx="1755648" cy="32004"/>
          </a:xfrm>
          <a:prstGeom prst="rect">
            <a:avLst/>
          </a:prstGeom>
          <a:solidFill>
            <a:srgbClr val="D2AB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163056"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8028431"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893807"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ounded Rectangle 17"/>
          <p:cNvSpPr/>
          <p:nvPr/>
        </p:nvSpPr>
        <p:spPr>
          <a:xfrm>
            <a:off x="594360" y="2596896"/>
            <a:ext cx="10972800" cy="2770632"/>
          </a:xfrm>
          <a:prstGeom prst="roundRect">
            <a:avLst>
              <a:gd name="adj" fmla="val 35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914400" y="2889503"/>
            <a:ext cx="3383280" cy="237744"/>
          </a:xfrm>
          <a:prstGeom prst="rect">
            <a:avLst/>
          </a:prstGeom>
          <a:noFill/>
          <a:effectLst/>
        </p:spPr>
        <p:txBody>
          <a:bodyPr wrap="square" tIns="0" bIns="0" lIns="0" rIns="0">
            <a:spAutoFit/>
          </a:bodyPr>
          <a:lstStyle/>
          <a:p>
            <a:pPr>
              <a:spcBef>
                <a:spcPts val="0"/>
              </a:spcBef>
              <a:spcAft>
                <a:spcPts val="600"/>
              </a:spcAft>
              <a:defRPr sz="1000" b="1">
                <a:solidFill>
                  <a:srgbClr val="17613F"/>
                </a:solidFill>
                <a:latin typeface="Nimbus Sans"/>
              </a:defRPr>
            </a:pPr>
            <a:r>
              <a:t>TOPIK / KATA KUNCI</a:t>
            </a:r>
          </a:p>
        </p:txBody>
      </p:sp>
      <p:sp>
        <p:nvSpPr>
          <p:cNvPr id="20" name="TextBox 19"/>
          <p:cNvSpPr txBox="1"/>
          <p:nvPr/>
        </p:nvSpPr>
        <p:spPr>
          <a:xfrm>
            <a:off x="5486400" y="2889503"/>
            <a:ext cx="3383280" cy="237744"/>
          </a:xfrm>
          <a:prstGeom prst="rect">
            <a:avLst/>
          </a:prstGeom>
          <a:noFill/>
          <a:effectLst/>
        </p:spPr>
        <p:txBody>
          <a:bodyPr wrap="square" tIns="0" bIns="0" lIns="0" rIns="0">
            <a:spAutoFit/>
          </a:bodyPr>
          <a:lstStyle/>
          <a:p>
            <a:pPr>
              <a:spcBef>
                <a:spcPts val="0"/>
              </a:spcBef>
              <a:spcAft>
                <a:spcPts val="600"/>
              </a:spcAft>
              <a:defRPr sz="1000" b="1">
                <a:solidFill>
                  <a:srgbClr val="17613F"/>
                </a:solidFill>
                <a:latin typeface="Nimbus Sans"/>
              </a:defRPr>
            </a:pPr>
            <a:r>
              <a:t>KOMPETITOR</a:t>
            </a:r>
          </a:p>
        </p:txBody>
      </p:sp>
      <p:sp>
        <p:nvSpPr>
          <p:cNvPr id="21" name="TextBox 20"/>
          <p:cNvSpPr txBox="1"/>
          <p:nvPr/>
        </p:nvSpPr>
        <p:spPr>
          <a:xfrm>
            <a:off x="8595360" y="2889503"/>
            <a:ext cx="3383280" cy="237744"/>
          </a:xfrm>
          <a:prstGeom prst="rect">
            <a:avLst/>
          </a:prstGeom>
          <a:noFill/>
          <a:effectLst/>
        </p:spPr>
        <p:txBody>
          <a:bodyPr wrap="square" tIns="0" bIns="0" lIns="0" rIns="0">
            <a:spAutoFit/>
          </a:bodyPr>
          <a:lstStyle/>
          <a:p>
            <a:pPr>
              <a:spcBef>
                <a:spcPts val="0"/>
              </a:spcBef>
              <a:spcAft>
                <a:spcPts val="600"/>
              </a:spcAft>
              <a:defRPr sz="1000" b="1">
                <a:solidFill>
                  <a:srgbClr val="17613F"/>
                </a:solidFill>
                <a:latin typeface="Nimbus Sans"/>
              </a:defRPr>
            </a:pPr>
            <a:r>
              <a:t>MECOSIN</a:t>
            </a:r>
          </a:p>
        </p:txBody>
      </p:sp>
      <p:sp>
        <p:nvSpPr>
          <p:cNvPr id="22" name="Rounded Rectangle 21"/>
          <p:cNvSpPr/>
          <p:nvPr/>
        </p:nvSpPr>
        <p:spPr>
          <a:xfrm>
            <a:off x="804672" y="3447287"/>
            <a:ext cx="10515600" cy="521207"/>
          </a:xfrm>
          <a:prstGeom prst="roundRect">
            <a:avLst>
              <a:gd name="adj" fmla="val 12000"/>
            </a:avLst>
          </a:prstGeom>
          <a:solidFill>
            <a:srgbClr val="F6F8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914400" y="3511295"/>
            <a:ext cx="4389120" cy="384048"/>
          </a:xfrm>
          <a:prstGeom prst="rect">
            <a:avLst/>
          </a:prstGeom>
          <a:noFill/>
          <a:effectLst/>
        </p:spPr>
        <p:txBody>
          <a:bodyPr wrap="square" tIns="0" bIns="0" lIns="0" rIns="0">
            <a:spAutoFit/>
          </a:bodyPr>
          <a:lstStyle/>
          <a:p>
            <a:pPr>
              <a:spcBef>
                <a:spcPts val="0"/>
              </a:spcBef>
              <a:spcAft>
                <a:spcPts val="600"/>
              </a:spcAft>
              <a:defRPr sz="1800" b="0">
                <a:solidFill>
                  <a:srgbClr val="193E32"/>
                </a:solidFill>
                <a:latin typeface="Nimbus Sans"/>
              </a:defRPr>
            </a:pPr>
            <a:r>
              <a:t>Informasi produk</a:t>
            </a:r>
          </a:p>
        </p:txBody>
      </p:sp>
      <p:sp>
        <p:nvSpPr>
          <p:cNvPr id="24" name="TextBox 23"/>
          <p:cNvSpPr txBox="1"/>
          <p:nvPr/>
        </p:nvSpPr>
        <p:spPr>
          <a:xfrm>
            <a:off x="5486400" y="3511295"/>
            <a:ext cx="2834640" cy="384048"/>
          </a:xfrm>
          <a:prstGeom prst="rect">
            <a:avLst/>
          </a:prstGeom>
          <a:noFill/>
          <a:effectLst/>
        </p:spPr>
        <p:txBody>
          <a:bodyPr wrap="square" tIns="0" bIns="0" lIns="0" rIns="0">
            <a:spAutoFit/>
          </a:bodyPr>
          <a:lstStyle/>
          <a:p>
            <a:pPr>
              <a:spcBef>
                <a:spcPts val="0"/>
              </a:spcBef>
              <a:spcAft>
                <a:spcPts val="600"/>
              </a:spcAft>
              <a:defRPr sz="1700" b="0">
                <a:solidFill>
                  <a:srgbClr val="567168"/>
                </a:solidFill>
                <a:latin typeface="Nimbus Sans"/>
              </a:defRPr>
            </a:pPr>
            <a:r>
              <a:t>Ada halaman</a:t>
            </a:r>
          </a:p>
        </p:txBody>
      </p:sp>
      <p:sp>
        <p:nvSpPr>
          <p:cNvPr id="25" name="TextBox 24"/>
          <p:cNvSpPr txBox="1"/>
          <p:nvPr/>
        </p:nvSpPr>
        <p:spPr>
          <a:xfrm>
            <a:off x="8595360" y="3511295"/>
            <a:ext cx="2651760" cy="384048"/>
          </a:xfrm>
          <a:prstGeom prst="rect">
            <a:avLst/>
          </a:prstGeom>
          <a:noFill/>
          <a:effectLst/>
        </p:spPr>
        <p:txBody>
          <a:bodyPr wrap="square" tIns="0" bIns="0" lIns="0" rIns="0">
            <a:spAutoFit/>
          </a:bodyPr>
          <a:lstStyle/>
          <a:p>
            <a:pPr>
              <a:spcBef>
                <a:spcPts val="0"/>
              </a:spcBef>
              <a:spcAft>
                <a:spcPts val="600"/>
              </a:spcAft>
              <a:defRPr sz="1700" b="0">
                <a:solidFill>
                  <a:srgbClr val="17613F"/>
                </a:solidFill>
                <a:latin typeface="Nimbus Sans"/>
              </a:defRPr>
            </a:pPr>
            <a:r>
              <a:t>Ada halaman</a:t>
            </a:r>
          </a:p>
        </p:txBody>
      </p:sp>
      <p:sp>
        <p:nvSpPr>
          <p:cNvPr id="26" name="Rounded Rectangle 25"/>
          <p:cNvSpPr/>
          <p:nvPr/>
        </p:nvSpPr>
        <p:spPr>
          <a:xfrm>
            <a:off x="804672" y="4014215"/>
            <a:ext cx="10515600" cy="521207"/>
          </a:xfrm>
          <a:prstGeom prst="roundRect">
            <a:avLst>
              <a:gd name="adj" fmla="val 12000"/>
            </a:avLst>
          </a:prstGeom>
          <a:solidFill>
            <a:srgbClr val="E4EE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914400" y="4078224"/>
            <a:ext cx="4389120" cy="384048"/>
          </a:xfrm>
          <a:prstGeom prst="rect">
            <a:avLst/>
          </a:prstGeom>
          <a:noFill/>
          <a:effectLst/>
        </p:spPr>
        <p:txBody>
          <a:bodyPr wrap="square" tIns="0" bIns="0" lIns="0" rIns="0">
            <a:spAutoFit/>
          </a:bodyPr>
          <a:lstStyle/>
          <a:p>
            <a:pPr>
              <a:spcBef>
                <a:spcPts val="0"/>
              </a:spcBef>
              <a:spcAft>
                <a:spcPts val="600"/>
              </a:spcAft>
              <a:defRPr sz="1800" b="1">
                <a:solidFill>
                  <a:srgbClr val="193E32"/>
                </a:solidFill>
                <a:latin typeface="Nimbus Sans"/>
              </a:defRPr>
            </a:pPr>
            <a:r>
              <a:t>Panduan membaca label</a:t>
            </a:r>
          </a:p>
        </p:txBody>
      </p:sp>
      <p:sp>
        <p:nvSpPr>
          <p:cNvPr id="28" name="TextBox 27"/>
          <p:cNvSpPr txBox="1"/>
          <p:nvPr/>
        </p:nvSpPr>
        <p:spPr>
          <a:xfrm>
            <a:off x="5486400" y="4078224"/>
            <a:ext cx="2834640" cy="384048"/>
          </a:xfrm>
          <a:prstGeom prst="rect">
            <a:avLst/>
          </a:prstGeom>
          <a:noFill/>
          <a:effectLst/>
        </p:spPr>
        <p:txBody>
          <a:bodyPr wrap="square" tIns="0" bIns="0" lIns="0" rIns="0">
            <a:spAutoFit/>
          </a:bodyPr>
          <a:lstStyle/>
          <a:p>
            <a:pPr>
              <a:spcBef>
                <a:spcPts val="0"/>
              </a:spcBef>
              <a:spcAft>
                <a:spcPts val="600"/>
              </a:spcAft>
              <a:defRPr sz="1700" b="0">
                <a:solidFill>
                  <a:srgbClr val="567168"/>
                </a:solidFill>
                <a:latin typeface="Nimbus Sans"/>
              </a:defRPr>
            </a:pPr>
            <a:r>
              <a:t>Muncul di pencarian</a:t>
            </a:r>
          </a:p>
        </p:txBody>
      </p:sp>
      <p:sp>
        <p:nvSpPr>
          <p:cNvPr id="29" name="TextBox 28"/>
          <p:cNvSpPr txBox="1"/>
          <p:nvPr/>
        </p:nvSpPr>
        <p:spPr>
          <a:xfrm>
            <a:off x="8595360" y="4078224"/>
            <a:ext cx="2651760" cy="384048"/>
          </a:xfrm>
          <a:prstGeom prst="rect">
            <a:avLst/>
          </a:prstGeom>
          <a:noFill/>
          <a:effectLst/>
        </p:spPr>
        <p:txBody>
          <a:bodyPr wrap="square" tIns="0" bIns="0" lIns="0" rIns="0">
            <a:spAutoFit/>
          </a:bodyPr>
          <a:lstStyle/>
          <a:p>
            <a:pPr>
              <a:spcBef>
                <a:spcPts val="0"/>
              </a:spcBef>
              <a:spcAft>
                <a:spcPts val="600"/>
              </a:spcAft>
              <a:defRPr sz="1700" b="1">
                <a:solidFill>
                  <a:srgbClr val="17613F"/>
                </a:solidFill>
                <a:latin typeface="Nimbus Sans"/>
              </a:defRPr>
            </a:pPr>
            <a:r>
              <a:t>Perlu diteliti</a:t>
            </a:r>
          </a:p>
        </p:txBody>
      </p:sp>
      <p:sp>
        <p:nvSpPr>
          <p:cNvPr id="30" name="Rounded Rectangle 29"/>
          <p:cNvSpPr/>
          <p:nvPr/>
        </p:nvSpPr>
        <p:spPr>
          <a:xfrm>
            <a:off x="804672" y="4581144"/>
            <a:ext cx="10515600" cy="521207"/>
          </a:xfrm>
          <a:prstGeom prst="roundRect">
            <a:avLst>
              <a:gd name="adj" fmla="val 12000"/>
            </a:avLst>
          </a:prstGeom>
          <a:solidFill>
            <a:srgbClr val="F6F8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914400" y="4645152"/>
            <a:ext cx="4389120" cy="384048"/>
          </a:xfrm>
          <a:prstGeom prst="rect">
            <a:avLst/>
          </a:prstGeom>
          <a:noFill/>
          <a:effectLst/>
        </p:spPr>
        <p:txBody>
          <a:bodyPr wrap="square" tIns="0" bIns="0" lIns="0" rIns="0">
            <a:spAutoFit/>
          </a:bodyPr>
          <a:lstStyle/>
          <a:p>
            <a:pPr>
              <a:spcBef>
                <a:spcPts val="0"/>
              </a:spcBef>
              <a:spcAft>
                <a:spcPts val="600"/>
              </a:spcAft>
              <a:defRPr sz="1800" b="0">
                <a:solidFill>
                  <a:srgbClr val="193E32"/>
                </a:solidFill>
                <a:latin typeface="Nimbus Sans"/>
              </a:defRPr>
            </a:pPr>
            <a:r>
              <a:t>Topik tidak relevan</a:t>
            </a:r>
          </a:p>
        </p:txBody>
      </p:sp>
      <p:sp>
        <p:nvSpPr>
          <p:cNvPr id="32" name="TextBox 31"/>
          <p:cNvSpPr txBox="1"/>
          <p:nvPr/>
        </p:nvSpPr>
        <p:spPr>
          <a:xfrm>
            <a:off x="5486400" y="4645152"/>
            <a:ext cx="2834640" cy="384048"/>
          </a:xfrm>
          <a:prstGeom prst="rect">
            <a:avLst/>
          </a:prstGeom>
          <a:noFill/>
          <a:effectLst/>
        </p:spPr>
        <p:txBody>
          <a:bodyPr wrap="square" tIns="0" bIns="0" lIns="0" rIns="0">
            <a:spAutoFit/>
          </a:bodyPr>
          <a:lstStyle/>
          <a:p>
            <a:pPr>
              <a:spcBef>
                <a:spcPts val="0"/>
              </a:spcBef>
              <a:spcAft>
                <a:spcPts val="600"/>
              </a:spcAft>
              <a:defRPr sz="1700" b="0">
                <a:solidFill>
                  <a:srgbClr val="567168"/>
                </a:solidFill>
                <a:latin typeface="Nimbus Sans"/>
              </a:defRPr>
            </a:pPr>
            <a:r>
              <a:t>Ada halaman</a:t>
            </a:r>
          </a:p>
        </p:txBody>
      </p:sp>
      <p:sp>
        <p:nvSpPr>
          <p:cNvPr id="33" name="TextBox 32"/>
          <p:cNvSpPr txBox="1"/>
          <p:nvPr/>
        </p:nvSpPr>
        <p:spPr>
          <a:xfrm>
            <a:off x="8595360" y="4645152"/>
            <a:ext cx="2651760" cy="384048"/>
          </a:xfrm>
          <a:prstGeom prst="rect">
            <a:avLst/>
          </a:prstGeom>
          <a:noFill/>
          <a:effectLst/>
        </p:spPr>
        <p:txBody>
          <a:bodyPr wrap="square" tIns="0" bIns="0" lIns="0" rIns="0">
            <a:spAutoFit/>
          </a:bodyPr>
          <a:lstStyle/>
          <a:p>
            <a:pPr>
              <a:spcBef>
                <a:spcPts val="0"/>
              </a:spcBef>
              <a:spcAft>
                <a:spcPts val="600"/>
              </a:spcAft>
              <a:defRPr sz="1700" b="0">
                <a:solidFill>
                  <a:srgbClr val="17613F"/>
                </a:solidFill>
                <a:latin typeface="Nimbus Sans"/>
              </a:defRPr>
            </a:pPr>
            <a:r>
              <a:t>Tidak diprioritaskan</a:t>
            </a:r>
          </a:p>
        </p:txBody>
      </p:sp>
      <p:sp>
        <p:nvSpPr>
          <p:cNvPr id="34" name="Rounded Rectangle 33"/>
          <p:cNvSpPr/>
          <p:nvPr/>
        </p:nvSpPr>
        <p:spPr>
          <a:xfrm>
            <a:off x="594360" y="5833872"/>
            <a:ext cx="10972800" cy="484632"/>
          </a:xfrm>
          <a:prstGeom prst="roundRect">
            <a:avLst>
              <a:gd name="adj" fmla="val 3500"/>
            </a:avLst>
          </a:prstGeom>
          <a:solidFill>
            <a:srgbClr val="E4EE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777240" y="5943600"/>
            <a:ext cx="10607040" cy="283464"/>
          </a:xfrm>
          <a:prstGeom prst="rect">
            <a:avLst/>
          </a:prstGeom>
          <a:noFill/>
          <a:effectLst/>
        </p:spPr>
        <p:txBody>
          <a:bodyPr wrap="square" tIns="0" bIns="0" lIns="0" rIns="0">
            <a:spAutoFit/>
          </a:bodyPr>
          <a:lstStyle/>
          <a:p>
            <a:pPr>
              <a:spcBef>
                <a:spcPts val="0"/>
              </a:spcBef>
              <a:spcAft>
                <a:spcPts val="400"/>
              </a:spcAft>
              <a:defRPr sz="1200" b="0">
                <a:solidFill>
                  <a:srgbClr val="17613F"/>
                </a:solidFill>
                <a:latin typeface="Nimbus Sans"/>
              </a:defRPr>
            </a:pPr>
            <a:r>
              <a:rPr sz="1200"/>
              <a:t>Tabel ini hanya simulasi, bukan hasil audit. Tidak semua topik kompetitor perlu diikuti.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8F3"/>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1761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502920" y="210312"/>
            <a:ext cx="2395728" cy="448056"/>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5" name="Picture 34" descr="image.png"/>
          <p:cNvPicPr>
            <a:picLocks noChangeAspect="1"/>
          </p:cNvPicPr>
          <p:nvPr/>
        </p:nvPicPr>
        <p:blipFill>
          <a:blip r:embed="rId5"/>
          <a:stretch>
            <a:fillRect/>
          </a:stretch>
        </p:blipFill>
        <p:spPr>
          <a:xfrm>
            <a:off x="603504" y="323088"/>
            <a:ext cx="585216" cy="195072"/>
          </a:xfrm>
          <a:prstGeom prst="rect">
            <a:avLst/>
          </a:prstGeom>
          <a:effectLst/>
        </p:spPr>
      </p:pic>
      <p:sp>
        <p:nvSpPr>
          <p:cNvPr id="5" name="TextBox 4"/>
          <p:cNvSpPr txBox="1"/>
          <p:nvPr/>
        </p:nvSpPr>
        <p:spPr>
          <a:xfrm>
            <a:off x="1271016" y="283464"/>
            <a:ext cx="164592" cy="228600"/>
          </a:xfrm>
          <a:prstGeom prst="rect">
            <a:avLst/>
          </a:prstGeom>
          <a:noFill/>
          <a:effectLst/>
        </p:spPr>
        <p:txBody>
          <a:bodyPr wrap="square" tIns="0" bIns="0" lIns="0" rIns="0">
            <a:spAutoFit/>
          </a:bodyPr>
          <a:lstStyle/>
          <a:p>
            <a:pPr>
              <a:spcBef>
                <a:spcPts val="0"/>
              </a:spcBef>
              <a:spcAft>
                <a:spcPts val="600"/>
              </a:spcAft>
              <a:defRPr sz="1200" b="0">
                <a:solidFill>
                  <a:srgbClr val="567168"/>
                </a:solidFill>
                <a:latin typeface="Nimbus Sans"/>
              </a:defRPr>
            </a:pPr>
            <a:r>
              <a:t>×</a:t>
            </a:r>
          </a:p>
        </p:txBody>
      </p:sp>
      <p:pic>
        <p:nvPicPr>
          <p:cNvPr id="36" name="Picture 35" descr="image.png"/>
          <p:cNvPicPr>
            <a:picLocks noChangeAspect="1"/>
          </p:cNvPicPr>
          <p:nvPr/>
        </p:nvPicPr>
        <p:blipFill>
          <a:blip r:embed="rId6"/>
          <a:stretch>
            <a:fillRect/>
          </a:stretch>
        </p:blipFill>
        <p:spPr>
          <a:xfrm>
            <a:off x="1536192" y="334792"/>
            <a:ext cx="1243584" cy="153375"/>
          </a:xfrm>
          <a:prstGeom prst="rect">
            <a:avLst/>
          </a:prstGeom>
          <a:effectLst/>
        </p:spPr>
      </p:pic>
      <p:sp>
        <p:nvSpPr>
          <p:cNvPr id="7" name="TextBox 6"/>
          <p:cNvSpPr txBox="1"/>
          <p:nvPr/>
        </p:nvSpPr>
        <p:spPr>
          <a:xfrm>
            <a:off x="5486400" y="356616"/>
            <a:ext cx="6062472" cy="237744"/>
          </a:xfrm>
          <a:prstGeom prst="rect">
            <a:avLst/>
          </a:prstGeom>
          <a:noFill/>
          <a:effectLst/>
        </p:spPr>
        <p:txBody>
          <a:bodyPr wrap="square" tIns="0" bIns="0" lIns="0" rIns="0">
            <a:spAutoFit/>
          </a:bodyPr>
          <a:lstStyle/>
          <a:p>
            <a:pPr algn="r">
              <a:spcBef>
                <a:spcPts val="0"/>
              </a:spcBef>
              <a:spcAft>
                <a:spcPts val="600"/>
              </a:spcAft>
              <a:defRPr sz="1000" b="1">
                <a:solidFill>
                  <a:srgbClr val="17613F"/>
                </a:solidFill>
                <a:latin typeface="Nimbus Sans"/>
              </a:defRPr>
            </a:pPr>
            <a:r>
              <a:t>03 / ON-PAGE: RISET &amp; STRATEGI</a:t>
            </a:r>
          </a:p>
        </p:txBody>
      </p:sp>
      <p:sp>
        <p:nvSpPr>
          <p:cNvPr id="8" name="TextBox 7"/>
          <p:cNvSpPr txBox="1"/>
          <p:nvPr/>
        </p:nvSpPr>
        <p:spPr>
          <a:xfrm>
            <a:off x="594360" y="960120"/>
            <a:ext cx="10972800" cy="822960"/>
          </a:xfrm>
          <a:prstGeom prst="rect">
            <a:avLst/>
          </a:prstGeom>
          <a:noFill/>
          <a:effectLst/>
        </p:spPr>
        <p:txBody>
          <a:bodyPr wrap="square" tIns="0" bIns="0" lIns="0" rIns="0">
            <a:spAutoFit/>
          </a:bodyPr>
          <a:lstStyle/>
          <a:p>
            <a:pPr>
              <a:spcBef>
                <a:spcPts val="0"/>
              </a:spcBef>
              <a:spcAft>
                <a:spcPts val="400"/>
              </a:spcAft>
              <a:defRPr sz="3100" b="1">
                <a:solidFill>
                  <a:srgbClr val="193E32"/>
                </a:solidFill>
                <a:latin typeface="Nimbus Sans"/>
              </a:defRPr>
            </a:pPr>
            <a:r>
              <a:rPr sz="3100"/>
              <a:t>Tentukan halaman untuk setiap kata kunci</a:t>
            </a:r>
          </a:p>
        </p:txBody>
      </p:sp>
      <p:sp>
        <p:nvSpPr>
          <p:cNvPr id="9" name="TextBox 8"/>
          <p:cNvSpPr txBox="1"/>
          <p:nvPr/>
        </p:nvSpPr>
        <p:spPr>
          <a:xfrm>
            <a:off x="594360" y="1792224"/>
            <a:ext cx="10972800" cy="594360"/>
          </a:xfrm>
          <a:prstGeom prst="rect">
            <a:avLst/>
          </a:prstGeom>
          <a:noFill/>
          <a:effectLst/>
        </p:spPr>
        <p:txBody>
          <a:bodyPr wrap="square" tIns="0" bIns="0" lIns="0" rIns="0">
            <a:spAutoFit/>
          </a:bodyPr>
          <a:lstStyle/>
          <a:p>
            <a:pPr>
              <a:spcBef>
                <a:spcPts val="0"/>
              </a:spcBef>
              <a:spcAft>
                <a:spcPts val="400"/>
              </a:spcAft>
              <a:defRPr sz="1700" b="0">
                <a:solidFill>
                  <a:srgbClr val="567168"/>
                </a:solidFill>
                <a:latin typeface="Nimbus Sans"/>
              </a:defRPr>
            </a:pPr>
            <a:r>
              <a:rPr sz="1700"/>
              <a:t>Cocokkan kata kunci dengan halaman yang tepat. Cek halaman yang sudah ada sebelum membuat yang baru.</a:t>
            </a:r>
          </a:p>
        </p:txBody>
      </p:sp>
      <p:sp>
        <p:nvSpPr>
          <p:cNvPr id="10" name="TextBox 9"/>
          <p:cNvSpPr txBox="1"/>
          <p:nvPr/>
        </p:nvSpPr>
        <p:spPr>
          <a:xfrm>
            <a:off x="594360" y="6437376"/>
            <a:ext cx="10287000" cy="219456"/>
          </a:xfrm>
          <a:prstGeom prst="rect">
            <a:avLst/>
          </a:prstGeom>
          <a:noFill/>
          <a:effectLst/>
        </p:spPr>
        <p:txBody>
          <a:bodyPr wrap="square" tIns="0" bIns="0" lIns="0" rIns="0">
            <a:spAutoFit/>
          </a:bodyPr>
          <a:lstStyle/>
          <a:p>
            <a:pPr>
              <a:spcBef>
                <a:spcPts val="0"/>
              </a:spcBef>
              <a:spcAft>
                <a:spcPts val="400"/>
              </a:spcAft>
              <a:defRPr sz="900" b="0">
                <a:solidFill>
                  <a:srgbClr val="567168"/>
                </a:solidFill>
                <a:latin typeface="Nimbus Sans"/>
              </a:defRPr>
            </a:pPr>
            <a:r>
              <a:rPr sz="900"/>
              <a:t>Contoh untuk penjelasan, bukan hasil audit Mecosin.</a:t>
            </a:r>
          </a:p>
        </p:txBody>
      </p:sp>
      <p:sp>
        <p:nvSpPr>
          <p:cNvPr id="11" name="TextBox 10"/>
          <p:cNvSpPr txBox="1"/>
          <p:nvPr/>
        </p:nvSpPr>
        <p:spPr>
          <a:xfrm>
            <a:off x="11091672" y="6391656"/>
            <a:ext cx="457200" cy="256032"/>
          </a:xfrm>
          <a:prstGeom prst="rect">
            <a:avLst/>
          </a:prstGeom>
          <a:noFill/>
          <a:effectLst/>
        </p:spPr>
        <p:txBody>
          <a:bodyPr wrap="square" tIns="0" bIns="0" lIns="0" rIns="0">
            <a:spAutoFit/>
          </a:bodyPr>
          <a:lstStyle/>
          <a:p>
            <a:pPr>
              <a:spcBef>
                <a:spcPts val="0"/>
              </a:spcBef>
              <a:spcAft>
                <a:spcPts val="600"/>
              </a:spcAft>
              <a:defRPr sz="1200" b="1">
                <a:solidFill>
                  <a:srgbClr val="17613F"/>
                </a:solidFill>
                <a:latin typeface="Nimbus Sans"/>
              </a:defRPr>
            </a:pPr>
            <a:r>
              <a:t>15</a:t>
            </a:r>
          </a:p>
        </p:txBody>
      </p:sp>
      <p:sp>
        <p:nvSpPr>
          <p:cNvPr id="12" name="Rectangle 11"/>
          <p:cNvSpPr/>
          <p:nvPr/>
        </p:nvSpPr>
        <p:spPr>
          <a:xfrm>
            <a:off x="566928"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2432304"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297680" y="6739128"/>
            <a:ext cx="1755648" cy="32004"/>
          </a:xfrm>
          <a:prstGeom prst="rect">
            <a:avLst/>
          </a:prstGeom>
          <a:solidFill>
            <a:srgbClr val="D2AB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163056"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8028431"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893807"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ounded Rectangle 32"/>
          <p:cNvSpPr/>
          <p:nvPr/>
        </p:nvSpPr>
        <p:spPr>
          <a:xfrm>
            <a:off x="594360" y="5833872"/>
            <a:ext cx="10972800" cy="484632"/>
          </a:xfrm>
          <a:prstGeom prst="roundRect">
            <a:avLst>
              <a:gd name="adj" fmla="val 3500"/>
            </a:avLst>
          </a:prstGeom>
          <a:solidFill>
            <a:srgbClr val="E4EE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777240" y="5943600"/>
            <a:ext cx="10607040" cy="283464"/>
          </a:xfrm>
          <a:prstGeom prst="rect">
            <a:avLst/>
          </a:prstGeom>
          <a:noFill/>
          <a:effectLst/>
        </p:spPr>
        <p:txBody>
          <a:bodyPr wrap="square" tIns="0" bIns="0" lIns="0" rIns="0">
            <a:spAutoFit/>
          </a:bodyPr>
          <a:lstStyle/>
          <a:p>
            <a:pPr>
              <a:spcBef>
                <a:spcPts val="0"/>
              </a:spcBef>
              <a:spcAft>
                <a:spcPts val="400"/>
              </a:spcAft>
              <a:defRPr sz="1200" b="0">
                <a:solidFill>
                  <a:srgbClr val="17613F"/>
                </a:solidFill>
                <a:latin typeface="Nimbus Sans"/>
              </a:defRPr>
            </a:pPr>
            <a:r>
              <a:rPr sz="1200"/>
              <a:t>Contoh: kata kunci “Laserin sachet” ditargetkan lewat halaman produk, bukan beberapa halaman dengan isi serupa.</a:t>
            </a:r>
          </a:p>
        </p:txBody>
      </p:sp>
      <p:sp>
        <p:nvSpPr>
          <p:cNvPr id="37" name="TextBox 36"/>
          <p:cNvSpPr txBox="1"/>
          <p:nvPr/>
        </p:nvSpPr>
        <p:spPr>
          <a:xfrm>
            <a:off x="786384" y="2606040"/>
            <a:ext cx="3657600" cy="228600"/>
          </a:xfrm>
          <a:prstGeom prst="rect">
            <a:avLst/>
          </a:prstGeom>
          <a:noFill/>
        </p:spPr>
        <p:txBody>
          <a:bodyPr wrap="square" lIns="0" rIns="0" tIns="0" bIns="0">
            <a:spAutoFit/>
          </a:bodyPr>
          <a:lstStyle/>
          <a:p>
            <a:pPr algn="l">
              <a:spcAft>
                <a:spcPts val="0"/>
              </a:spcAft>
            </a:pPr>
            <a:r>
              <a:rPr sz="1100" b="1">
                <a:solidFill>
                  <a:srgbClr val="567168"/>
                </a:solidFill>
                <a:latin typeface="Nimbus Sans"/>
              </a:rPr>
              <a:t>YANG DICARI</a:t>
            </a:r>
          </a:p>
        </p:txBody>
      </p:sp>
      <p:sp>
        <p:nvSpPr>
          <p:cNvPr id="38" name="TextBox 37"/>
          <p:cNvSpPr txBox="1"/>
          <p:nvPr/>
        </p:nvSpPr>
        <p:spPr>
          <a:xfrm>
            <a:off x="6400800" y="2606040"/>
            <a:ext cx="4754880" cy="228600"/>
          </a:xfrm>
          <a:prstGeom prst="rect">
            <a:avLst/>
          </a:prstGeom>
          <a:noFill/>
        </p:spPr>
        <p:txBody>
          <a:bodyPr wrap="square" lIns="0" rIns="0" tIns="0" bIns="0">
            <a:spAutoFit/>
          </a:bodyPr>
          <a:lstStyle/>
          <a:p>
            <a:pPr algn="l">
              <a:spcAft>
                <a:spcPts val="0"/>
              </a:spcAft>
            </a:pPr>
            <a:r>
              <a:rPr sz="1100" b="1">
                <a:solidFill>
                  <a:srgbClr val="567168"/>
                </a:solidFill>
                <a:latin typeface="Nimbus Sans"/>
              </a:rPr>
              <a:t>HALAMAN YANG DITUJU</a:t>
            </a:r>
          </a:p>
        </p:txBody>
      </p:sp>
      <p:sp>
        <p:nvSpPr>
          <p:cNvPr id="39" name="Oval 38"/>
          <p:cNvSpPr/>
          <p:nvPr/>
        </p:nvSpPr>
        <p:spPr>
          <a:xfrm>
            <a:off x="822960" y="3182112"/>
            <a:ext cx="219456" cy="219456"/>
          </a:xfrm>
          <a:prstGeom prst="ellipse">
            <a:avLst/>
          </a:prstGeom>
          <a:noFill/>
          <a:ln w="3048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Connector 39"/>
          <p:cNvCxnSpPr/>
          <p:nvPr/>
        </p:nvCxnSpPr>
        <p:spPr>
          <a:xfrm>
            <a:off x="1005108" y="3364260"/>
            <a:ext cx="103144" cy="103144"/>
          </a:xfrm>
          <a:prstGeom prst="line">
            <a:avLst/>
          </a:prstGeom>
          <a:ln w="38100">
            <a:solidFill>
              <a:srgbClr val="17613F"/>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1353312" y="3200400"/>
            <a:ext cx="3794760" cy="393192"/>
          </a:xfrm>
          <a:prstGeom prst="rect">
            <a:avLst/>
          </a:prstGeom>
          <a:noFill/>
        </p:spPr>
        <p:txBody>
          <a:bodyPr wrap="square" lIns="0" rIns="0" tIns="0" bIns="0">
            <a:spAutoFit/>
          </a:bodyPr>
          <a:lstStyle/>
          <a:p>
            <a:pPr algn="l">
              <a:spcAft>
                <a:spcPts val="0"/>
              </a:spcAft>
            </a:pPr>
            <a:r>
              <a:rPr sz="2200" b="1">
                <a:solidFill>
                  <a:srgbClr val="193E32"/>
                </a:solidFill>
                <a:latin typeface="Nimbus Sans"/>
              </a:rPr>
              <a:t>Laserin sachet</a:t>
            </a:r>
          </a:p>
        </p:txBody>
      </p:sp>
      <p:cxnSp>
        <p:nvCxnSpPr>
          <p:cNvPr id="42" name="Connector 41"/>
          <p:cNvCxnSpPr/>
          <p:nvPr/>
        </p:nvCxnSpPr>
        <p:spPr>
          <a:xfrm>
            <a:off x="1353312" y="3703320"/>
            <a:ext cx="3675888" cy="0"/>
          </a:xfrm>
          <a:prstGeom prst="line">
            <a:avLst/>
          </a:prstGeom>
          <a:ln w="12700">
            <a:solidFill>
              <a:srgbClr val="CCD9CE"/>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202936" y="3410712"/>
            <a:ext cx="923544" cy="0"/>
          </a:xfrm>
          <a:prstGeom prst="line">
            <a:avLst/>
          </a:prstGeom>
          <a:ln w="25400">
            <a:solidFill>
              <a:srgbClr val="17613F"/>
            </a:solidFill>
            <a:tailEnd type="triangle"/>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6437376" y="3072384"/>
            <a:ext cx="1325880" cy="722376"/>
          </a:xfrm>
          <a:prstGeom prst="rect">
            <a:avLst/>
          </a:prstGeom>
          <a:solidFill>
            <a:srgbClr val="FFFFFF"/>
          </a:solidFill>
          <a:ln w="1778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437376" y="3072384"/>
            <a:ext cx="1325880" cy="91440"/>
          </a:xfrm>
          <a:prstGeom prst="rect">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556248" y="3273552"/>
            <a:ext cx="265176" cy="356616"/>
          </a:xfrm>
          <a:prstGeom prst="rect">
            <a:avLst/>
          </a:prstGeom>
          <a:solidFill>
            <a:srgbClr val="E4EEDC"/>
          </a:solidFill>
          <a:ln w="1270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7" name="Connector 46"/>
          <p:cNvCxnSpPr/>
          <p:nvPr/>
        </p:nvCxnSpPr>
        <p:spPr>
          <a:xfrm>
            <a:off x="6958584" y="3291840"/>
            <a:ext cx="630936" cy="0"/>
          </a:xfrm>
          <a:prstGeom prst="line">
            <a:avLst/>
          </a:prstGeom>
          <a:ln w="1270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958584" y="3429000"/>
            <a:ext cx="630936" cy="0"/>
          </a:xfrm>
          <a:prstGeom prst="line">
            <a:avLst/>
          </a:prstGeom>
          <a:ln w="12700">
            <a:solidFill>
              <a:srgbClr val="17613F"/>
            </a:solidFill>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6958584" y="3557015"/>
            <a:ext cx="393192" cy="109728"/>
          </a:xfrm>
          <a:prstGeom prst="rect">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28431" y="3154679"/>
            <a:ext cx="3200400" cy="320040"/>
          </a:xfrm>
          <a:prstGeom prst="rect">
            <a:avLst/>
          </a:prstGeom>
          <a:noFill/>
        </p:spPr>
        <p:txBody>
          <a:bodyPr wrap="square" lIns="0" rIns="0" tIns="0" bIns="0">
            <a:spAutoFit/>
          </a:bodyPr>
          <a:lstStyle/>
          <a:p>
            <a:pPr algn="l">
              <a:spcAft>
                <a:spcPts val="0"/>
              </a:spcAft>
            </a:pPr>
            <a:r>
              <a:rPr sz="2300" b="1">
                <a:solidFill>
                  <a:srgbClr val="17613F"/>
                </a:solidFill>
                <a:latin typeface="Nimbus Sans"/>
              </a:rPr>
              <a:t>Halaman produk</a:t>
            </a:r>
          </a:p>
        </p:txBody>
      </p:sp>
      <p:sp>
        <p:nvSpPr>
          <p:cNvPr id="51" name="TextBox 50"/>
          <p:cNvSpPr txBox="1"/>
          <p:nvPr/>
        </p:nvSpPr>
        <p:spPr>
          <a:xfrm>
            <a:off x="8028431" y="3529584"/>
            <a:ext cx="3429000" cy="265176"/>
          </a:xfrm>
          <a:prstGeom prst="rect">
            <a:avLst/>
          </a:prstGeom>
          <a:noFill/>
        </p:spPr>
        <p:txBody>
          <a:bodyPr wrap="square" lIns="0" rIns="0" tIns="0" bIns="0">
            <a:spAutoFit/>
          </a:bodyPr>
          <a:lstStyle/>
          <a:p>
            <a:pPr algn="l">
              <a:spcAft>
                <a:spcPts val="0"/>
              </a:spcAft>
            </a:pPr>
            <a:r>
              <a:rPr sz="1400" b="0">
                <a:solidFill>
                  <a:srgbClr val="567168"/>
                </a:solidFill>
                <a:latin typeface="Nimbus Sans"/>
              </a:rPr>
              <a:t>Info resmi produk</a:t>
            </a:r>
          </a:p>
        </p:txBody>
      </p:sp>
      <p:sp>
        <p:nvSpPr>
          <p:cNvPr id="52" name="Oval 51"/>
          <p:cNvSpPr/>
          <p:nvPr/>
        </p:nvSpPr>
        <p:spPr>
          <a:xfrm>
            <a:off x="822960" y="4041648"/>
            <a:ext cx="219456" cy="219456"/>
          </a:xfrm>
          <a:prstGeom prst="ellipse">
            <a:avLst/>
          </a:prstGeom>
          <a:noFill/>
          <a:ln w="30480">
            <a:solidFill>
              <a:srgbClr val="247C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 name="Connector 52"/>
          <p:cNvCxnSpPr/>
          <p:nvPr/>
        </p:nvCxnSpPr>
        <p:spPr>
          <a:xfrm>
            <a:off x="1005108" y="4223796"/>
            <a:ext cx="103144" cy="103144"/>
          </a:xfrm>
          <a:prstGeom prst="line">
            <a:avLst/>
          </a:prstGeom>
          <a:ln w="38100">
            <a:solidFill>
              <a:srgbClr val="247CA2"/>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1353312" y="4059936"/>
            <a:ext cx="3794760" cy="393192"/>
          </a:xfrm>
          <a:prstGeom prst="rect">
            <a:avLst/>
          </a:prstGeom>
          <a:noFill/>
        </p:spPr>
        <p:txBody>
          <a:bodyPr wrap="square" lIns="0" rIns="0" tIns="0" bIns="0">
            <a:spAutoFit/>
          </a:bodyPr>
          <a:lstStyle/>
          <a:p>
            <a:pPr algn="l">
              <a:spcAft>
                <a:spcPts val="0"/>
              </a:spcAft>
            </a:pPr>
            <a:r>
              <a:rPr sz="2200" b="1">
                <a:solidFill>
                  <a:srgbClr val="193E32"/>
                </a:solidFill>
                <a:latin typeface="Nimbus Sans"/>
              </a:rPr>
              <a:t>Cara membaca label herbal</a:t>
            </a:r>
          </a:p>
        </p:txBody>
      </p:sp>
      <p:cxnSp>
        <p:nvCxnSpPr>
          <p:cNvPr id="55" name="Connector 54"/>
          <p:cNvCxnSpPr/>
          <p:nvPr/>
        </p:nvCxnSpPr>
        <p:spPr>
          <a:xfrm>
            <a:off x="1353312" y="4562856"/>
            <a:ext cx="3675888" cy="0"/>
          </a:xfrm>
          <a:prstGeom prst="line">
            <a:avLst/>
          </a:prstGeom>
          <a:ln w="12700">
            <a:solidFill>
              <a:srgbClr val="CCD9CE"/>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5202936" y="4270248"/>
            <a:ext cx="923544" cy="0"/>
          </a:xfrm>
          <a:prstGeom prst="line">
            <a:avLst/>
          </a:prstGeom>
          <a:ln w="25400">
            <a:solidFill>
              <a:srgbClr val="247CA2"/>
            </a:solidFill>
            <a:tailEnd type="triangle"/>
          </a:ln>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6437376" y="3931920"/>
            <a:ext cx="1325880" cy="722376"/>
          </a:xfrm>
          <a:prstGeom prst="rect">
            <a:avLst/>
          </a:prstGeom>
          <a:solidFill>
            <a:srgbClr val="FFFFFF"/>
          </a:solidFill>
          <a:ln w="17780">
            <a:solidFill>
              <a:srgbClr val="247C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437376" y="3931920"/>
            <a:ext cx="1325880" cy="91440"/>
          </a:xfrm>
          <a:prstGeom prst="rect">
            <a:avLst/>
          </a:prstGeom>
          <a:solidFill>
            <a:srgbClr val="247C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9" name="Connector 58"/>
          <p:cNvCxnSpPr/>
          <p:nvPr/>
        </p:nvCxnSpPr>
        <p:spPr>
          <a:xfrm>
            <a:off x="6565392" y="4151376"/>
            <a:ext cx="1033272" cy="0"/>
          </a:xfrm>
          <a:prstGeom prst="line">
            <a:avLst/>
          </a:prstGeom>
          <a:ln w="25400">
            <a:solidFill>
              <a:srgbClr val="247CA2"/>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6565392" y="4306824"/>
            <a:ext cx="841248" cy="0"/>
          </a:xfrm>
          <a:prstGeom prst="line">
            <a:avLst/>
          </a:prstGeom>
          <a:ln w="12700">
            <a:solidFill>
              <a:srgbClr val="9AB4C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6565392" y="4434840"/>
            <a:ext cx="841248" cy="0"/>
          </a:xfrm>
          <a:prstGeom prst="line">
            <a:avLst/>
          </a:prstGeom>
          <a:ln w="12700">
            <a:solidFill>
              <a:srgbClr val="9AB4C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6565392" y="4553712"/>
            <a:ext cx="841248" cy="0"/>
          </a:xfrm>
          <a:prstGeom prst="line">
            <a:avLst/>
          </a:prstGeom>
          <a:ln w="12700">
            <a:solidFill>
              <a:srgbClr val="9AB4C0"/>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8028431" y="4014216"/>
            <a:ext cx="3200400" cy="320040"/>
          </a:xfrm>
          <a:prstGeom prst="rect">
            <a:avLst/>
          </a:prstGeom>
          <a:noFill/>
        </p:spPr>
        <p:txBody>
          <a:bodyPr wrap="square" lIns="0" rIns="0" tIns="0" bIns="0">
            <a:spAutoFit/>
          </a:bodyPr>
          <a:lstStyle/>
          <a:p>
            <a:pPr algn="l">
              <a:spcAft>
                <a:spcPts val="0"/>
              </a:spcAft>
            </a:pPr>
            <a:r>
              <a:rPr sz="2300" b="1">
                <a:solidFill>
                  <a:srgbClr val="247CA2"/>
                </a:solidFill>
                <a:latin typeface="Nimbus Sans"/>
              </a:rPr>
              <a:t>Artikel panduan</a:t>
            </a:r>
          </a:p>
        </p:txBody>
      </p:sp>
      <p:sp>
        <p:nvSpPr>
          <p:cNvPr id="64" name="TextBox 63"/>
          <p:cNvSpPr txBox="1"/>
          <p:nvPr/>
        </p:nvSpPr>
        <p:spPr>
          <a:xfrm>
            <a:off x="8028431" y="4389120"/>
            <a:ext cx="3429000" cy="265176"/>
          </a:xfrm>
          <a:prstGeom prst="rect">
            <a:avLst/>
          </a:prstGeom>
          <a:noFill/>
        </p:spPr>
        <p:txBody>
          <a:bodyPr wrap="square" lIns="0" rIns="0" tIns="0" bIns="0">
            <a:spAutoFit/>
          </a:bodyPr>
          <a:lstStyle/>
          <a:p>
            <a:pPr algn="l">
              <a:spcAft>
                <a:spcPts val="0"/>
              </a:spcAft>
            </a:pPr>
            <a:r>
              <a:rPr sz="1400" b="0">
                <a:solidFill>
                  <a:srgbClr val="567168"/>
                </a:solidFill>
                <a:latin typeface="Nimbus Sans"/>
              </a:rPr>
              <a:t>Penjelasan cara membaca label</a:t>
            </a:r>
          </a:p>
        </p:txBody>
      </p:sp>
      <p:sp>
        <p:nvSpPr>
          <p:cNvPr id="65" name="Oval 64"/>
          <p:cNvSpPr/>
          <p:nvPr/>
        </p:nvSpPr>
        <p:spPr>
          <a:xfrm>
            <a:off x="822960" y="4901183"/>
            <a:ext cx="219456" cy="219456"/>
          </a:xfrm>
          <a:prstGeom prst="ellipse">
            <a:avLst/>
          </a:prstGeom>
          <a:noFill/>
          <a:ln w="3048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6" name="Connector 65"/>
          <p:cNvCxnSpPr/>
          <p:nvPr/>
        </p:nvCxnSpPr>
        <p:spPr>
          <a:xfrm>
            <a:off x="1005108" y="5083332"/>
            <a:ext cx="103144" cy="103144"/>
          </a:xfrm>
          <a:prstGeom prst="line">
            <a:avLst/>
          </a:prstGeom>
          <a:ln w="38100">
            <a:solidFill>
              <a:srgbClr val="17613F"/>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1353312" y="4919472"/>
            <a:ext cx="3794760" cy="393192"/>
          </a:xfrm>
          <a:prstGeom prst="rect">
            <a:avLst/>
          </a:prstGeom>
          <a:noFill/>
        </p:spPr>
        <p:txBody>
          <a:bodyPr wrap="square" lIns="0" rIns="0" tIns="0" bIns="0">
            <a:spAutoFit/>
          </a:bodyPr>
          <a:lstStyle/>
          <a:p>
            <a:pPr algn="l">
              <a:spcAft>
                <a:spcPts val="0"/>
              </a:spcAft>
            </a:pPr>
            <a:r>
              <a:rPr sz="2200" b="1">
                <a:solidFill>
                  <a:srgbClr val="193E32"/>
                </a:solidFill>
                <a:latin typeface="Nimbus Sans"/>
              </a:rPr>
              <a:t>Maklon herbal</a:t>
            </a:r>
          </a:p>
        </p:txBody>
      </p:sp>
      <p:cxnSp>
        <p:nvCxnSpPr>
          <p:cNvPr id="68" name="Connector 67"/>
          <p:cNvCxnSpPr/>
          <p:nvPr/>
        </p:nvCxnSpPr>
        <p:spPr>
          <a:xfrm>
            <a:off x="1353312" y="5422392"/>
            <a:ext cx="3675888" cy="0"/>
          </a:xfrm>
          <a:prstGeom prst="line">
            <a:avLst/>
          </a:prstGeom>
          <a:ln w="12700">
            <a:solidFill>
              <a:srgbClr val="CCD9CE"/>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5202936" y="5129783"/>
            <a:ext cx="923544" cy="0"/>
          </a:xfrm>
          <a:prstGeom prst="line">
            <a:avLst/>
          </a:prstGeom>
          <a:ln w="25400">
            <a:solidFill>
              <a:srgbClr val="17613F"/>
            </a:solidFill>
            <a:tailEnd type="triangle"/>
          </a:ln>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6437376" y="4791456"/>
            <a:ext cx="1325880" cy="722376"/>
          </a:xfrm>
          <a:prstGeom prst="rect">
            <a:avLst/>
          </a:prstGeom>
          <a:solidFill>
            <a:srgbClr val="FFFFFF"/>
          </a:solidFill>
          <a:ln w="1778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6437376" y="4791456"/>
            <a:ext cx="1325880" cy="91440"/>
          </a:xfrm>
          <a:prstGeom prst="rect">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6574536" y="5010912"/>
            <a:ext cx="219456" cy="219456"/>
          </a:xfrm>
          <a:prstGeom prst="ellipse">
            <a:avLst/>
          </a:prstGeom>
          <a:solidFill>
            <a:srgbClr val="E4EEDC"/>
          </a:solidFill>
          <a:ln w="1270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3" name="Connector 72"/>
          <p:cNvCxnSpPr/>
          <p:nvPr/>
        </p:nvCxnSpPr>
        <p:spPr>
          <a:xfrm>
            <a:off x="6967728" y="5038344"/>
            <a:ext cx="621792" cy="0"/>
          </a:xfrm>
          <a:prstGeom prst="line">
            <a:avLst/>
          </a:prstGeom>
          <a:ln w="1270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967728" y="5184648"/>
            <a:ext cx="457199" cy="0"/>
          </a:xfrm>
          <a:prstGeom prst="line">
            <a:avLst/>
          </a:prstGeom>
          <a:ln w="12700">
            <a:solidFill>
              <a:srgbClr val="17613F"/>
            </a:solidFill>
          </a:ln>
        </p:spPr>
        <p:style>
          <a:lnRef idx="2">
            <a:schemeClr val="accent1"/>
          </a:lnRef>
          <a:fillRef idx="0">
            <a:schemeClr val="accent1"/>
          </a:fillRef>
          <a:effectRef idx="1">
            <a:schemeClr val="accent1"/>
          </a:effectRef>
          <a:fontRef idx="minor">
            <a:schemeClr val="tx1"/>
          </a:fontRef>
        </p:style>
      </p:cxnSp>
      <p:sp>
        <p:nvSpPr>
          <p:cNvPr id="75" name="Rectangle 74"/>
          <p:cNvSpPr/>
          <p:nvPr/>
        </p:nvSpPr>
        <p:spPr>
          <a:xfrm>
            <a:off x="6574536" y="5349240"/>
            <a:ext cx="1005840" cy="91440"/>
          </a:xfrm>
          <a:prstGeom prst="rect">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028431" y="4873752"/>
            <a:ext cx="3200400" cy="320040"/>
          </a:xfrm>
          <a:prstGeom prst="rect">
            <a:avLst/>
          </a:prstGeom>
          <a:noFill/>
        </p:spPr>
        <p:txBody>
          <a:bodyPr wrap="square" lIns="0" rIns="0" tIns="0" bIns="0">
            <a:spAutoFit/>
          </a:bodyPr>
          <a:lstStyle/>
          <a:p>
            <a:pPr algn="l">
              <a:spcAft>
                <a:spcPts val="0"/>
              </a:spcAft>
            </a:pPr>
            <a:r>
              <a:rPr sz="2300" b="1">
                <a:solidFill>
                  <a:srgbClr val="17613F"/>
                </a:solidFill>
                <a:latin typeface="Nimbus Sans"/>
              </a:rPr>
              <a:t>Halaman layanan B2B</a:t>
            </a:r>
          </a:p>
        </p:txBody>
      </p:sp>
      <p:sp>
        <p:nvSpPr>
          <p:cNvPr id="77" name="TextBox 76"/>
          <p:cNvSpPr txBox="1"/>
          <p:nvPr/>
        </p:nvSpPr>
        <p:spPr>
          <a:xfrm>
            <a:off x="8028431" y="5248656"/>
            <a:ext cx="3429000" cy="265176"/>
          </a:xfrm>
          <a:prstGeom prst="rect">
            <a:avLst/>
          </a:prstGeom>
          <a:noFill/>
        </p:spPr>
        <p:txBody>
          <a:bodyPr wrap="square" lIns="0" rIns="0" tIns="0" bIns="0">
            <a:spAutoFit/>
          </a:bodyPr>
          <a:lstStyle/>
          <a:p>
            <a:pPr algn="l">
              <a:spcAft>
                <a:spcPts val="0"/>
              </a:spcAft>
            </a:pPr>
            <a:r>
              <a:rPr sz="1400" b="0">
                <a:solidFill>
                  <a:srgbClr val="567168"/>
                </a:solidFill>
                <a:latin typeface="Nimbus Sans"/>
              </a:rPr>
              <a:t>Info layanan &amp; kontak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8F3"/>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1761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502920" y="210312"/>
            <a:ext cx="2395728" cy="448056"/>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6"/>
          <a:stretch>
            <a:fillRect/>
          </a:stretch>
        </p:blipFill>
        <p:spPr>
          <a:xfrm>
            <a:off x="603504" y="323088"/>
            <a:ext cx="585216" cy="195072"/>
          </a:xfrm>
          <a:prstGeom prst="rect">
            <a:avLst/>
          </a:prstGeom>
          <a:effectLst/>
        </p:spPr>
      </p:pic>
      <p:sp>
        <p:nvSpPr>
          <p:cNvPr id="5" name="TextBox 4"/>
          <p:cNvSpPr txBox="1"/>
          <p:nvPr/>
        </p:nvSpPr>
        <p:spPr>
          <a:xfrm>
            <a:off x="1271016" y="283464"/>
            <a:ext cx="164592" cy="228600"/>
          </a:xfrm>
          <a:prstGeom prst="rect">
            <a:avLst/>
          </a:prstGeom>
          <a:noFill/>
          <a:effectLst/>
        </p:spPr>
        <p:txBody>
          <a:bodyPr wrap="square" tIns="0" bIns="0" lIns="0" rIns="0">
            <a:spAutoFit/>
          </a:bodyPr>
          <a:lstStyle/>
          <a:p>
            <a:pPr>
              <a:spcBef>
                <a:spcPts val="0"/>
              </a:spcBef>
              <a:spcAft>
                <a:spcPts val="600"/>
              </a:spcAft>
              <a:defRPr sz="1200" b="0">
                <a:solidFill>
                  <a:srgbClr val="567168"/>
                </a:solidFill>
                <a:latin typeface="Nimbus Sans"/>
              </a:defRPr>
            </a:pPr>
            <a:r>
              <a:t>×</a:t>
            </a:r>
          </a:p>
        </p:txBody>
      </p:sp>
      <p:pic>
        <p:nvPicPr>
          <p:cNvPr id="43" name="Picture 42" descr="image.png"/>
          <p:cNvPicPr>
            <a:picLocks noChangeAspect="1"/>
          </p:cNvPicPr>
          <p:nvPr/>
        </p:nvPicPr>
        <p:blipFill>
          <a:blip r:embed="rId7"/>
          <a:stretch>
            <a:fillRect/>
          </a:stretch>
        </p:blipFill>
        <p:spPr>
          <a:xfrm>
            <a:off x="1536192" y="334792"/>
            <a:ext cx="1243584" cy="153375"/>
          </a:xfrm>
          <a:prstGeom prst="rect">
            <a:avLst/>
          </a:prstGeom>
          <a:effectLst/>
        </p:spPr>
      </p:pic>
      <p:sp>
        <p:nvSpPr>
          <p:cNvPr id="7" name="TextBox 6"/>
          <p:cNvSpPr txBox="1"/>
          <p:nvPr/>
        </p:nvSpPr>
        <p:spPr>
          <a:xfrm>
            <a:off x="5486400" y="356616"/>
            <a:ext cx="6062472" cy="237744"/>
          </a:xfrm>
          <a:prstGeom prst="rect">
            <a:avLst/>
          </a:prstGeom>
          <a:noFill/>
          <a:effectLst/>
        </p:spPr>
        <p:txBody>
          <a:bodyPr wrap="square" tIns="0" bIns="0" lIns="0" rIns="0">
            <a:spAutoFit/>
          </a:bodyPr>
          <a:lstStyle/>
          <a:p>
            <a:pPr algn="r">
              <a:spcBef>
                <a:spcPts val="0"/>
              </a:spcBef>
              <a:spcAft>
                <a:spcPts val="600"/>
              </a:spcAft>
              <a:defRPr sz="1000" b="1">
                <a:solidFill>
                  <a:srgbClr val="17613F"/>
                </a:solidFill>
                <a:latin typeface="Nimbus Sans"/>
              </a:defRPr>
            </a:pPr>
            <a:r>
              <a:t>03 / ON-PAGE: RISET &amp; STRATEGI</a:t>
            </a:r>
          </a:p>
        </p:txBody>
      </p:sp>
      <p:sp>
        <p:nvSpPr>
          <p:cNvPr id="8" name="TextBox 7"/>
          <p:cNvSpPr txBox="1"/>
          <p:nvPr/>
        </p:nvSpPr>
        <p:spPr>
          <a:xfrm>
            <a:off x="594360" y="960120"/>
            <a:ext cx="10972800" cy="822960"/>
          </a:xfrm>
          <a:prstGeom prst="rect">
            <a:avLst/>
          </a:prstGeom>
          <a:noFill/>
          <a:effectLst/>
        </p:spPr>
        <p:txBody>
          <a:bodyPr wrap="square" tIns="0" bIns="0" lIns="0" rIns="0">
            <a:spAutoFit/>
          </a:bodyPr>
          <a:lstStyle/>
          <a:p>
            <a:pPr>
              <a:spcBef>
                <a:spcPts val="0"/>
              </a:spcBef>
              <a:spcAft>
                <a:spcPts val="400"/>
              </a:spcAft>
              <a:defRPr sz="3100" b="1">
                <a:solidFill>
                  <a:srgbClr val="193E32"/>
                </a:solidFill>
                <a:latin typeface="Nimbus Sans"/>
              </a:defRPr>
            </a:pPr>
            <a:r>
              <a:rPr sz="3100"/>
              <a:t>Strategi konten: mana yang perlu didahulukan?</a:t>
            </a:r>
          </a:p>
        </p:txBody>
      </p:sp>
      <p:sp>
        <p:nvSpPr>
          <p:cNvPr id="9" name="TextBox 8"/>
          <p:cNvSpPr txBox="1"/>
          <p:nvPr/>
        </p:nvSpPr>
        <p:spPr>
          <a:xfrm>
            <a:off x="594360" y="1792224"/>
            <a:ext cx="10972800" cy="594360"/>
          </a:xfrm>
          <a:prstGeom prst="rect">
            <a:avLst/>
          </a:prstGeom>
          <a:noFill/>
          <a:effectLst/>
        </p:spPr>
        <p:txBody>
          <a:bodyPr wrap="square" tIns="0" bIns="0" lIns="0" rIns="0">
            <a:spAutoFit/>
          </a:bodyPr>
          <a:lstStyle/>
          <a:p>
            <a:pPr>
              <a:spcBef>
                <a:spcPts val="0"/>
              </a:spcBef>
              <a:spcAft>
                <a:spcPts val="400"/>
              </a:spcAft>
              <a:defRPr sz="1700" b="0">
                <a:solidFill>
                  <a:srgbClr val="567168"/>
                </a:solidFill>
                <a:latin typeface="Nimbus Sans"/>
              </a:defRPr>
            </a:pPr>
            <a:r>
              <a:rPr sz="1700"/>
              <a:t>Gunakan hasil riset dan kondisi website untuk memilih konten yang perlu dibuat atau diperbarui.</a:t>
            </a:r>
          </a:p>
        </p:txBody>
      </p:sp>
      <p:sp>
        <p:nvSpPr>
          <p:cNvPr id="10" name="TextBox 9"/>
          <p:cNvSpPr txBox="1"/>
          <p:nvPr/>
        </p:nvSpPr>
        <p:spPr>
          <a:xfrm>
            <a:off x="594360" y="6437376"/>
            <a:ext cx="10287000" cy="219456"/>
          </a:xfrm>
          <a:prstGeom prst="rect">
            <a:avLst/>
          </a:prstGeom>
          <a:noFill/>
          <a:effectLst/>
        </p:spPr>
        <p:txBody>
          <a:bodyPr wrap="square" tIns="0" bIns="0" lIns="0" rIns="0">
            <a:spAutoFit/>
          </a:bodyPr>
          <a:lstStyle/>
          <a:p>
            <a:pPr>
              <a:spcBef>
                <a:spcPts val="0"/>
              </a:spcBef>
              <a:spcAft>
                <a:spcPts val="400"/>
              </a:spcAft>
              <a:defRPr sz="900" b="0">
                <a:solidFill>
                  <a:srgbClr val="567168"/>
                </a:solidFill>
                <a:latin typeface="Nimbus Sans"/>
              </a:defRPr>
            </a:pPr>
            <a:r>
              <a:rPr sz="900"/>
              <a:t>Contoh untuk penjelasan, bukan hasil audit Mecosin.</a:t>
            </a:r>
          </a:p>
        </p:txBody>
      </p:sp>
      <p:sp>
        <p:nvSpPr>
          <p:cNvPr id="11" name="TextBox 10"/>
          <p:cNvSpPr txBox="1"/>
          <p:nvPr/>
        </p:nvSpPr>
        <p:spPr>
          <a:xfrm>
            <a:off x="11091672" y="6391656"/>
            <a:ext cx="457200" cy="256032"/>
          </a:xfrm>
          <a:prstGeom prst="rect">
            <a:avLst/>
          </a:prstGeom>
          <a:noFill/>
          <a:effectLst/>
        </p:spPr>
        <p:txBody>
          <a:bodyPr wrap="square" tIns="0" bIns="0" lIns="0" rIns="0">
            <a:spAutoFit/>
          </a:bodyPr>
          <a:lstStyle/>
          <a:p>
            <a:pPr>
              <a:spcBef>
                <a:spcPts val="0"/>
              </a:spcBef>
              <a:spcAft>
                <a:spcPts val="600"/>
              </a:spcAft>
              <a:defRPr sz="1200" b="1">
                <a:solidFill>
                  <a:srgbClr val="17613F"/>
                </a:solidFill>
                <a:latin typeface="Nimbus Sans"/>
              </a:defRPr>
            </a:pPr>
            <a:r>
              <a:t>16</a:t>
            </a:r>
          </a:p>
        </p:txBody>
      </p:sp>
      <p:sp>
        <p:nvSpPr>
          <p:cNvPr id="12" name="Rectangle 11"/>
          <p:cNvSpPr/>
          <p:nvPr/>
        </p:nvSpPr>
        <p:spPr>
          <a:xfrm>
            <a:off x="566928"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2432304"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297680" y="6739128"/>
            <a:ext cx="1755648" cy="32004"/>
          </a:xfrm>
          <a:prstGeom prst="rect">
            <a:avLst/>
          </a:prstGeom>
          <a:solidFill>
            <a:srgbClr val="D2AB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163056"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8028431"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893807"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594360" y="5833872"/>
            <a:ext cx="10972800" cy="484632"/>
          </a:xfrm>
          <a:prstGeom prst="roundRect">
            <a:avLst>
              <a:gd name="adj" fmla="val 3500"/>
            </a:avLst>
          </a:prstGeom>
          <a:solidFill>
            <a:srgbClr val="E4EE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777240" y="5943600"/>
            <a:ext cx="10607040" cy="283464"/>
          </a:xfrm>
          <a:prstGeom prst="rect">
            <a:avLst/>
          </a:prstGeom>
          <a:noFill/>
          <a:effectLst/>
        </p:spPr>
        <p:txBody>
          <a:bodyPr wrap="square" tIns="0" bIns="0" lIns="0" rIns="0">
            <a:spAutoFit/>
          </a:bodyPr>
          <a:lstStyle/>
          <a:p>
            <a:pPr>
              <a:spcBef>
                <a:spcPts val="0"/>
              </a:spcBef>
              <a:spcAft>
                <a:spcPts val="400"/>
              </a:spcAft>
              <a:defRPr sz="1200" b="0">
                <a:solidFill>
                  <a:srgbClr val="17613F"/>
                </a:solidFill>
                <a:latin typeface="Nimbus Sans"/>
              </a:defRPr>
            </a:pPr>
            <a:r>
              <a:rPr sz="1200"/>
              <a:t>Urutan ini hanya contoh. Memperbarui halaman yang sudah ada bisa lebih penting daripada menambah artikel.</a:t>
            </a:r>
          </a:p>
        </p:txBody>
      </p:sp>
      <p:sp>
        <p:nvSpPr>
          <p:cNvPr id="44" name="Oval 43"/>
          <p:cNvSpPr/>
          <p:nvPr/>
        </p:nvSpPr>
        <p:spPr>
          <a:xfrm>
            <a:off x="914400" y="2633472"/>
            <a:ext cx="356616" cy="356616"/>
          </a:xfrm>
          <a:prstGeom prst="ellips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4400" y="2692908"/>
            <a:ext cx="356616" cy="210312"/>
          </a:xfrm>
          <a:prstGeom prst="rect">
            <a:avLst/>
          </a:prstGeom>
          <a:noFill/>
        </p:spPr>
        <p:txBody>
          <a:bodyPr wrap="square" lIns="0" rIns="0" tIns="0" bIns="0">
            <a:spAutoFit/>
          </a:bodyPr>
          <a:lstStyle/>
          <a:p>
            <a:pPr algn="ctr">
              <a:spcAft>
                <a:spcPts val="0"/>
              </a:spcAft>
            </a:pPr>
            <a:r>
              <a:rPr sz="1200" b="1">
                <a:solidFill>
                  <a:srgbClr val="FFFFFF"/>
                </a:solidFill>
                <a:latin typeface="Nimbus Sans"/>
              </a:rPr>
              <a:t>01</a:t>
            </a:r>
          </a:p>
        </p:txBody>
      </p:sp>
      <p:sp>
        <p:nvSpPr>
          <p:cNvPr id="46" name="Rectangle 45"/>
          <p:cNvSpPr/>
          <p:nvPr/>
        </p:nvSpPr>
        <p:spPr>
          <a:xfrm>
            <a:off x="1645920" y="3127248"/>
            <a:ext cx="1143000" cy="1234440"/>
          </a:xfrm>
          <a:prstGeom prst="rect">
            <a:avLst/>
          </a:prstGeom>
          <a:solidFill>
            <a:srgbClr val="FFFFFF"/>
          </a:solidFill>
          <a:ln w="2032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645920" y="3127248"/>
            <a:ext cx="1143000" cy="137160"/>
          </a:xfrm>
          <a:prstGeom prst="rect">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1773936" y="3447288"/>
            <a:ext cx="637794"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773936" y="3621024"/>
            <a:ext cx="637794"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773936" y="3794760"/>
            <a:ext cx="386334"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2423160" y="4206240"/>
            <a:ext cx="137160" cy="137160"/>
          </a:xfrm>
          <a:prstGeom prst="line">
            <a:avLst/>
          </a:prstGeom>
          <a:ln w="3810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2560320" y="4041648"/>
            <a:ext cx="301752" cy="301752"/>
          </a:xfrm>
          <a:prstGeom prst="line">
            <a:avLst/>
          </a:prstGeom>
          <a:ln w="38100">
            <a:solidFill>
              <a:srgbClr val="17613F"/>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822960" y="4434840"/>
            <a:ext cx="3063240" cy="594360"/>
          </a:xfrm>
          <a:prstGeom prst="rect">
            <a:avLst/>
          </a:prstGeom>
          <a:noFill/>
        </p:spPr>
        <p:txBody>
          <a:bodyPr wrap="square" lIns="0" rIns="0" tIns="0" bIns="0">
            <a:spAutoFit/>
          </a:bodyPr>
          <a:lstStyle/>
          <a:p>
            <a:pPr algn="l">
              <a:spcAft>
                <a:spcPts val="0"/>
              </a:spcAft>
            </a:pPr>
            <a:r>
              <a:rPr sz="2200" b="1">
                <a:solidFill>
                  <a:srgbClr val="17613F"/>
                </a:solidFill>
                <a:latin typeface="Nimbus Sans"/>
              </a:rPr>
              <a:t>Perbarui halaman produk</a:t>
            </a:r>
          </a:p>
        </p:txBody>
      </p:sp>
      <p:sp>
        <p:nvSpPr>
          <p:cNvPr id="54" name="TextBox 53"/>
          <p:cNvSpPr txBox="1"/>
          <p:nvPr/>
        </p:nvSpPr>
        <p:spPr>
          <a:xfrm>
            <a:off x="822960" y="5102352"/>
            <a:ext cx="3063240" cy="493776"/>
          </a:xfrm>
          <a:prstGeom prst="rect">
            <a:avLst/>
          </a:prstGeom>
          <a:noFill/>
        </p:spPr>
        <p:txBody>
          <a:bodyPr wrap="square" lIns="0" rIns="0" tIns="0" bIns="0">
            <a:spAutoFit/>
          </a:bodyPr>
          <a:lstStyle/>
          <a:p>
            <a:pPr algn="l">
              <a:spcAft>
                <a:spcPts val="0"/>
              </a:spcAft>
            </a:pPr>
            <a:r>
              <a:rPr sz="1600" b="0">
                <a:solidFill>
                  <a:srgbClr val="567168"/>
                </a:solidFill>
                <a:latin typeface="Nimbus Sans"/>
              </a:rPr>
              <a:t>Lengkapi informasi resmi.</a:t>
            </a:r>
          </a:p>
        </p:txBody>
      </p:sp>
      <p:cxnSp>
        <p:nvCxnSpPr>
          <p:cNvPr id="55" name="Connector 54"/>
          <p:cNvCxnSpPr/>
          <p:nvPr/>
        </p:nvCxnSpPr>
        <p:spPr>
          <a:xfrm>
            <a:off x="3383280" y="3813048"/>
            <a:ext cx="868680" cy="0"/>
          </a:xfrm>
          <a:prstGeom prst="line">
            <a:avLst/>
          </a:prstGeom>
          <a:ln w="38100">
            <a:solidFill>
              <a:srgbClr val="D2AB62"/>
            </a:solidFill>
            <a:tailEnd type="triangle"/>
          </a:ln>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4663440" y="2633472"/>
            <a:ext cx="356616" cy="356616"/>
          </a:xfrm>
          <a:prstGeom prst="ellips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663440" y="2692908"/>
            <a:ext cx="356616" cy="210312"/>
          </a:xfrm>
          <a:prstGeom prst="rect">
            <a:avLst/>
          </a:prstGeom>
          <a:noFill/>
        </p:spPr>
        <p:txBody>
          <a:bodyPr wrap="square" lIns="0" rIns="0" tIns="0" bIns="0">
            <a:spAutoFit/>
          </a:bodyPr>
          <a:lstStyle/>
          <a:p>
            <a:pPr algn="ctr">
              <a:spcAft>
                <a:spcPts val="0"/>
              </a:spcAft>
            </a:pPr>
            <a:r>
              <a:rPr sz="1200" b="1">
                <a:solidFill>
                  <a:srgbClr val="FFFFFF"/>
                </a:solidFill>
                <a:latin typeface="Nimbus Sans"/>
              </a:rPr>
              <a:t>02</a:t>
            </a:r>
          </a:p>
        </p:txBody>
      </p:sp>
      <p:sp>
        <p:nvSpPr>
          <p:cNvPr id="58" name="Rectangle 57"/>
          <p:cNvSpPr/>
          <p:nvPr/>
        </p:nvSpPr>
        <p:spPr>
          <a:xfrm>
            <a:off x="5184648" y="3182112"/>
            <a:ext cx="685800" cy="914400"/>
          </a:xfrm>
          <a:prstGeom prst="rect">
            <a:avLst/>
          </a:prstGeom>
          <a:solidFill>
            <a:srgbClr val="FFFFFF"/>
          </a:solidFill>
          <a:ln w="2032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5184648" y="3182112"/>
            <a:ext cx="685800" cy="137160"/>
          </a:xfrm>
          <a:prstGeom prst="rect">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0" name="Connector 59"/>
          <p:cNvCxnSpPr/>
          <p:nvPr/>
        </p:nvCxnSpPr>
        <p:spPr>
          <a:xfrm>
            <a:off x="5312664" y="3502152"/>
            <a:ext cx="331470"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5312664" y="3675887"/>
            <a:ext cx="331470"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5312664" y="3849624"/>
            <a:ext cx="180594"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5943600" y="3182112"/>
            <a:ext cx="685800" cy="914400"/>
          </a:xfrm>
          <a:prstGeom prst="rect">
            <a:avLst/>
          </a:prstGeom>
          <a:solidFill>
            <a:srgbClr val="FFFFFF"/>
          </a:solidFill>
          <a:ln w="2032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5943600" y="3182112"/>
            <a:ext cx="685800" cy="137160"/>
          </a:xfrm>
          <a:prstGeom prst="rect">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Connector 64"/>
          <p:cNvCxnSpPr/>
          <p:nvPr/>
        </p:nvCxnSpPr>
        <p:spPr>
          <a:xfrm>
            <a:off x="6071616" y="3502152"/>
            <a:ext cx="331470"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6071616" y="3675887"/>
            <a:ext cx="331470"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6071616" y="3849624"/>
            <a:ext cx="180594"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5907024" y="3236976"/>
            <a:ext cx="0" cy="905256"/>
          </a:xfrm>
          <a:prstGeom prst="line">
            <a:avLst/>
          </a:prstGeom>
          <a:ln w="25400">
            <a:solidFill>
              <a:srgbClr val="17613F"/>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4572000" y="4434840"/>
            <a:ext cx="3063240" cy="594360"/>
          </a:xfrm>
          <a:prstGeom prst="rect">
            <a:avLst/>
          </a:prstGeom>
          <a:noFill/>
        </p:spPr>
        <p:txBody>
          <a:bodyPr wrap="square" lIns="0" rIns="0" tIns="0" bIns="0">
            <a:spAutoFit/>
          </a:bodyPr>
          <a:lstStyle/>
          <a:p>
            <a:pPr algn="l">
              <a:spcAft>
                <a:spcPts val="0"/>
              </a:spcAft>
            </a:pPr>
            <a:r>
              <a:rPr sz="2200" b="1">
                <a:solidFill>
                  <a:srgbClr val="17613F"/>
                </a:solidFill>
                <a:latin typeface="Nimbus Sans"/>
              </a:rPr>
              <a:t>Buat panduan</a:t>
            </a:r>
          </a:p>
        </p:txBody>
      </p:sp>
      <p:sp>
        <p:nvSpPr>
          <p:cNvPr id="70" name="TextBox 69"/>
          <p:cNvSpPr txBox="1"/>
          <p:nvPr/>
        </p:nvSpPr>
        <p:spPr>
          <a:xfrm>
            <a:off x="4572000" y="5102352"/>
            <a:ext cx="3063240" cy="493776"/>
          </a:xfrm>
          <a:prstGeom prst="rect">
            <a:avLst/>
          </a:prstGeom>
          <a:noFill/>
        </p:spPr>
        <p:txBody>
          <a:bodyPr wrap="square" lIns="0" rIns="0" tIns="0" bIns="0">
            <a:spAutoFit/>
          </a:bodyPr>
          <a:lstStyle/>
          <a:p>
            <a:pPr algn="l">
              <a:spcAft>
                <a:spcPts val="0"/>
              </a:spcAft>
            </a:pPr>
            <a:r>
              <a:rPr sz="1600" b="0">
                <a:solidFill>
                  <a:srgbClr val="567168"/>
                </a:solidFill>
                <a:latin typeface="Nimbus Sans"/>
              </a:rPr>
              <a:t>Jawab pertanyaan yang belum dibahas.</a:t>
            </a:r>
          </a:p>
        </p:txBody>
      </p:sp>
      <p:cxnSp>
        <p:nvCxnSpPr>
          <p:cNvPr id="71" name="Connector 70"/>
          <p:cNvCxnSpPr/>
          <p:nvPr/>
        </p:nvCxnSpPr>
        <p:spPr>
          <a:xfrm>
            <a:off x="7132320" y="3813048"/>
            <a:ext cx="868680" cy="0"/>
          </a:xfrm>
          <a:prstGeom prst="line">
            <a:avLst/>
          </a:prstGeom>
          <a:ln w="38100">
            <a:solidFill>
              <a:srgbClr val="D2AB62"/>
            </a:solidFill>
            <a:tailEnd type="triangle"/>
          </a:ln>
        </p:spPr>
        <p:style>
          <a:lnRef idx="2">
            <a:schemeClr val="accent1"/>
          </a:lnRef>
          <a:fillRef idx="0">
            <a:schemeClr val="accent1"/>
          </a:fillRef>
          <a:effectRef idx="1">
            <a:schemeClr val="accent1"/>
          </a:effectRef>
          <a:fontRef idx="minor">
            <a:schemeClr val="tx1"/>
          </a:fontRef>
        </p:style>
      </p:cxnSp>
      <p:sp>
        <p:nvSpPr>
          <p:cNvPr id="72" name="Oval 71"/>
          <p:cNvSpPr/>
          <p:nvPr/>
        </p:nvSpPr>
        <p:spPr>
          <a:xfrm>
            <a:off x="8412480" y="2633472"/>
            <a:ext cx="356616" cy="356616"/>
          </a:xfrm>
          <a:prstGeom prst="ellips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412480" y="2692908"/>
            <a:ext cx="356616" cy="210312"/>
          </a:xfrm>
          <a:prstGeom prst="rect">
            <a:avLst/>
          </a:prstGeom>
          <a:noFill/>
        </p:spPr>
        <p:txBody>
          <a:bodyPr wrap="square" lIns="0" rIns="0" tIns="0" bIns="0">
            <a:spAutoFit/>
          </a:bodyPr>
          <a:lstStyle/>
          <a:p>
            <a:pPr algn="ctr">
              <a:spcAft>
                <a:spcPts val="0"/>
              </a:spcAft>
            </a:pPr>
            <a:r>
              <a:rPr sz="1200" b="1">
                <a:solidFill>
                  <a:srgbClr val="FFFFFF"/>
                </a:solidFill>
                <a:latin typeface="Nimbus Sans"/>
              </a:rPr>
              <a:t>03</a:t>
            </a:r>
          </a:p>
        </p:txBody>
      </p:sp>
      <p:cxnSp>
        <p:nvCxnSpPr>
          <p:cNvPr id="74" name="Connector 73"/>
          <p:cNvCxnSpPr/>
          <p:nvPr/>
        </p:nvCxnSpPr>
        <p:spPr>
          <a:xfrm flipV="1">
            <a:off x="9162288" y="3374136"/>
            <a:ext cx="868679" cy="365760"/>
          </a:xfrm>
          <a:prstGeom prst="line">
            <a:avLst/>
          </a:prstGeom>
          <a:ln w="1905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9162288" y="3739896"/>
            <a:ext cx="868679" cy="411479"/>
          </a:xfrm>
          <a:prstGeom prst="line">
            <a:avLst/>
          </a:prstGeom>
          <a:ln w="19050">
            <a:solidFill>
              <a:srgbClr val="17613F"/>
            </a:solidFill>
          </a:ln>
        </p:spPr>
        <p:style>
          <a:lnRef idx="2">
            <a:schemeClr val="accent1"/>
          </a:lnRef>
          <a:fillRef idx="0">
            <a:schemeClr val="accent1"/>
          </a:fillRef>
          <a:effectRef idx="1">
            <a:schemeClr val="accent1"/>
          </a:effectRef>
          <a:fontRef idx="minor">
            <a:schemeClr val="tx1"/>
          </a:fontRef>
        </p:style>
      </p:cxnSp>
      <p:sp>
        <p:nvSpPr>
          <p:cNvPr id="76" name="Oval 75"/>
          <p:cNvSpPr/>
          <p:nvPr/>
        </p:nvSpPr>
        <p:spPr>
          <a:xfrm>
            <a:off x="8915400" y="3493008"/>
            <a:ext cx="493776" cy="493776"/>
          </a:xfrm>
          <a:prstGeom prst="ellipse">
            <a:avLst/>
          </a:prstGeom>
          <a:solidFill>
            <a:srgbClr val="FFFFFF"/>
          </a:solidFill>
          <a:ln w="2540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9784080" y="3127248"/>
            <a:ext cx="493776" cy="493776"/>
          </a:xfrm>
          <a:prstGeom prst="ellipse">
            <a:avLst/>
          </a:prstGeom>
          <a:solidFill>
            <a:srgbClr val="FFFFFF"/>
          </a:solidFill>
          <a:ln w="2540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9784080" y="3904487"/>
            <a:ext cx="493776" cy="493776"/>
          </a:xfrm>
          <a:prstGeom prst="ellipse">
            <a:avLst/>
          </a:prstGeom>
          <a:solidFill>
            <a:srgbClr val="FFFFFF"/>
          </a:solidFill>
          <a:ln w="2540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321040" y="4434840"/>
            <a:ext cx="3063240" cy="594360"/>
          </a:xfrm>
          <a:prstGeom prst="rect">
            <a:avLst/>
          </a:prstGeom>
          <a:noFill/>
        </p:spPr>
        <p:txBody>
          <a:bodyPr wrap="square" lIns="0" rIns="0" tIns="0" bIns="0">
            <a:spAutoFit/>
          </a:bodyPr>
          <a:lstStyle/>
          <a:p>
            <a:pPr algn="l">
              <a:spcAft>
                <a:spcPts val="0"/>
              </a:spcAft>
            </a:pPr>
            <a:r>
              <a:rPr sz="2200" b="1">
                <a:solidFill>
                  <a:srgbClr val="17613F"/>
                </a:solidFill>
                <a:latin typeface="Nimbus Sans"/>
              </a:rPr>
              <a:t>Hubungkan konten</a:t>
            </a:r>
          </a:p>
        </p:txBody>
      </p:sp>
      <p:sp>
        <p:nvSpPr>
          <p:cNvPr id="80" name="TextBox 79"/>
          <p:cNvSpPr txBox="1"/>
          <p:nvPr/>
        </p:nvSpPr>
        <p:spPr>
          <a:xfrm>
            <a:off x="8321040" y="5102352"/>
            <a:ext cx="3063240" cy="493776"/>
          </a:xfrm>
          <a:prstGeom prst="rect">
            <a:avLst/>
          </a:prstGeom>
          <a:noFill/>
        </p:spPr>
        <p:txBody>
          <a:bodyPr wrap="square" lIns="0" rIns="0" tIns="0" bIns="0">
            <a:spAutoFit/>
          </a:bodyPr>
          <a:lstStyle/>
          <a:p>
            <a:pPr algn="l">
              <a:spcAft>
                <a:spcPts val="0"/>
              </a:spcAft>
            </a:pPr>
            <a:r>
              <a:rPr sz="1600" b="0">
                <a:solidFill>
                  <a:srgbClr val="567168"/>
                </a:solidFill>
                <a:latin typeface="Nimbus Sans"/>
              </a:rPr>
              <a:t>Tentukan tautan &amp; jadwal tayang.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8F3"/>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1761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502920" y="210312"/>
            <a:ext cx="2395728" cy="448056"/>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3" name="Picture 32" descr="image.png"/>
          <p:cNvPicPr>
            <a:picLocks noChangeAspect="1"/>
          </p:cNvPicPr>
          <p:nvPr/>
        </p:nvPicPr>
        <p:blipFill>
          <a:blip r:embed="rId6"/>
          <a:stretch>
            <a:fillRect/>
          </a:stretch>
        </p:blipFill>
        <p:spPr>
          <a:xfrm>
            <a:off x="603504" y="323088"/>
            <a:ext cx="585216" cy="195072"/>
          </a:xfrm>
          <a:prstGeom prst="rect">
            <a:avLst/>
          </a:prstGeom>
          <a:effectLst/>
        </p:spPr>
      </p:pic>
      <p:sp>
        <p:nvSpPr>
          <p:cNvPr id="5" name="TextBox 4"/>
          <p:cNvSpPr txBox="1"/>
          <p:nvPr/>
        </p:nvSpPr>
        <p:spPr>
          <a:xfrm>
            <a:off x="1271016" y="283464"/>
            <a:ext cx="164592" cy="228600"/>
          </a:xfrm>
          <a:prstGeom prst="rect">
            <a:avLst/>
          </a:prstGeom>
          <a:noFill/>
          <a:effectLst/>
        </p:spPr>
        <p:txBody>
          <a:bodyPr wrap="square" tIns="0" bIns="0" lIns="0" rIns="0">
            <a:spAutoFit/>
          </a:bodyPr>
          <a:lstStyle/>
          <a:p>
            <a:pPr>
              <a:spcBef>
                <a:spcPts val="0"/>
              </a:spcBef>
              <a:spcAft>
                <a:spcPts val="600"/>
              </a:spcAft>
              <a:defRPr sz="1200" b="0">
                <a:solidFill>
                  <a:srgbClr val="567168"/>
                </a:solidFill>
                <a:latin typeface="Nimbus Sans"/>
              </a:defRPr>
            </a:pPr>
            <a:r>
              <a:t>×</a:t>
            </a:r>
          </a:p>
        </p:txBody>
      </p:sp>
      <p:pic>
        <p:nvPicPr>
          <p:cNvPr id="34" name="Picture 33" descr="image.png"/>
          <p:cNvPicPr>
            <a:picLocks noChangeAspect="1"/>
          </p:cNvPicPr>
          <p:nvPr/>
        </p:nvPicPr>
        <p:blipFill>
          <a:blip r:embed="rId7"/>
          <a:stretch>
            <a:fillRect/>
          </a:stretch>
        </p:blipFill>
        <p:spPr>
          <a:xfrm>
            <a:off x="1536192" y="334792"/>
            <a:ext cx="1243584" cy="153375"/>
          </a:xfrm>
          <a:prstGeom prst="rect">
            <a:avLst/>
          </a:prstGeom>
          <a:effectLst/>
        </p:spPr>
      </p:pic>
      <p:sp>
        <p:nvSpPr>
          <p:cNvPr id="7" name="TextBox 6"/>
          <p:cNvSpPr txBox="1"/>
          <p:nvPr/>
        </p:nvSpPr>
        <p:spPr>
          <a:xfrm>
            <a:off x="5486400" y="356616"/>
            <a:ext cx="6062472" cy="237744"/>
          </a:xfrm>
          <a:prstGeom prst="rect">
            <a:avLst/>
          </a:prstGeom>
          <a:noFill/>
          <a:effectLst/>
        </p:spPr>
        <p:txBody>
          <a:bodyPr wrap="square" tIns="0" bIns="0" lIns="0" rIns="0">
            <a:spAutoFit/>
          </a:bodyPr>
          <a:lstStyle/>
          <a:p>
            <a:pPr algn="r">
              <a:spcBef>
                <a:spcPts val="0"/>
              </a:spcBef>
              <a:spcAft>
                <a:spcPts val="600"/>
              </a:spcAft>
              <a:defRPr sz="1000" b="1">
                <a:solidFill>
                  <a:srgbClr val="17613F"/>
                </a:solidFill>
                <a:latin typeface="Nimbus Sans"/>
              </a:defRPr>
            </a:pPr>
            <a:r>
              <a:t>04 / ON-PAGE: PRODUKSI &amp; OPTIMASI</a:t>
            </a:r>
          </a:p>
        </p:txBody>
      </p:sp>
      <p:sp>
        <p:nvSpPr>
          <p:cNvPr id="8" name="TextBox 7"/>
          <p:cNvSpPr txBox="1"/>
          <p:nvPr/>
        </p:nvSpPr>
        <p:spPr>
          <a:xfrm>
            <a:off x="594360" y="960120"/>
            <a:ext cx="10972800" cy="822960"/>
          </a:xfrm>
          <a:prstGeom prst="rect">
            <a:avLst/>
          </a:prstGeom>
          <a:noFill/>
          <a:effectLst/>
        </p:spPr>
        <p:txBody>
          <a:bodyPr wrap="square" tIns="0" bIns="0" lIns="0" rIns="0">
            <a:spAutoFit/>
          </a:bodyPr>
          <a:lstStyle/>
          <a:p>
            <a:pPr>
              <a:spcBef>
                <a:spcPts val="0"/>
              </a:spcBef>
              <a:spcAft>
                <a:spcPts val="400"/>
              </a:spcAft>
              <a:defRPr sz="3100" b="1">
                <a:solidFill>
                  <a:srgbClr val="193E32"/>
                </a:solidFill>
                <a:latin typeface="Nimbus Sans"/>
              </a:defRPr>
            </a:pPr>
            <a:r>
              <a:rPr sz="3100"/>
              <a:t>Content brief: panduan sebelum menulis artikel</a:t>
            </a:r>
          </a:p>
        </p:txBody>
      </p:sp>
      <p:sp>
        <p:nvSpPr>
          <p:cNvPr id="9" name="TextBox 8"/>
          <p:cNvSpPr txBox="1"/>
          <p:nvPr/>
        </p:nvSpPr>
        <p:spPr>
          <a:xfrm>
            <a:off x="594360" y="1792224"/>
            <a:ext cx="10972800" cy="594360"/>
          </a:xfrm>
          <a:prstGeom prst="rect">
            <a:avLst/>
          </a:prstGeom>
          <a:noFill/>
          <a:effectLst/>
        </p:spPr>
        <p:txBody>
          <a:bodyPr wrap="square" tIns="0" bIns="0" lIns="0" rIns="0">
            <a:spAutoFit/>
          </a:bodyPr>
          <a:lstStyle/>
          <a:p>
            <a:pPr>
              <a:spcBef>
                <a:spcPts val="0"/>
              </a:spcBef>
              <a:spcAft>
                <a:spcPts val="400"/>
              </a:spcAft>
              <a:defRPr sz="1700" b="0">
                <a:solidFill>
                  <a:srgbClr val="567168"/>
                </a:solidFill>
                <a:latin typeface="Nimbus Sans"/>
              </a:defRPr>
            </a:pPr>
            <a:r>
              <a:rPr sz="1700"/>
              <a:t>Brief menjelaskan pembaca yang dituju, pertanyaan yang perlu dijawab, sumber, dan tujuan artikel.</a:t>
            </a:r>
          </a:p>
        </p:txBody>
      </p:sp>
      <p:sp>
        <p:nvSpPr>
          <p:cNvPr id="10" name="TextBox 9"/>
          <p:cNvSpPr txBox="1"/>
          <p:nvPr/>
        </p:nvSpPr>
        <p:spPr>
          <a:xfrm>
            <a:off x="594360" y="6437376"/>
            <a:ext cx="10287000" cy="219456"/>
          </a:xfrm>
          <a:prstGeom prst="rect">
            <a:avLst/>
          </a:prstGeom>
          <a:noFill/>
          <a:effectLst/>
        </p:spPr>
        <p:txBody>
          <a:bodyPr wrap="square" tIns="0" bIns="0" lIns="0" rIns="0">
            <a:spAutoFit/>
          </a:bodyPr>
          <a:lstStyle/>
          <a:p>
            <a:pPr>
              <a:spcBef>
                <a:spcPts val="0"/>
              </a:spcBef>
              <a:spcAft>
                <a:spcPts val="400"/>
              </a:spcAft>
              <a:defRPr sz="900" b="0">
                <a:solidFill>
                  <a:srgbClr val="567168"/>
                </a:solidFill>
                <a:latin typeface="Nimbus Sans"/>
              </a:defRPr>
            </a:pPr>
            <a:r>
              <a:rPr sz="900"/>
              <a:t>Contoh untuk penjelasan, bukan hasil audit Mecosin.</a:t>
            </a:r>
          </a:p>
        </p:txBody>
      </p:sp>
      <p:sp>
        <p:nvSpPr>
          <p:cNvPr id="11" name="TextBox 10"/>
          <p:cNvSpPr txBox="1"/>
          <p:nvPr/>
        </p:nvSpPr>
        <p:spPr>
          <a:xfrm>
            <a:off x="11091672" y="6391656"/>
            <a:ext cx="457200" cy="256032"/>
          </a:xfrm>
          <a:prstGeom prst="rect">
            <a:avLst/>
          </a:prstGeom>
          <a:noFill/>
          <a:effectLst/>
        </p:spPr>
        <p:txBody>
          <a:bodyPr wrap="square" tIns="0" bIns="0" lIns="0" rIns="0">
            <a:spAutoFit/>
          </a:bodyPr>
          <a:lstStyle/>
          <a:p>
            <a:pPr>
              <a:spcBef>
                <a:spcPts val="0"/>
              </a:spcBef>
              <a:spcAft>
                <a:spcPts val="600"/>
              </a:spcAft>
              <a:defRPr sz="1200" b="1">
                <a:solidFill>
                  <a:srgbClr val="17613F"/>
                </a:solidFill>
                <a:latin typeface="Nimbus Sans"/>
              </a:defRPr>
            </a:pPr>
            <a:r>
              <a:t>17</a:t>
            </a:r>
          </a:p>
        </p:txBody>
      </p:sp>
      <p:sp>
        <p:nvSpPr>
          <p:cNvPr id="12" name="Rectangle 11"/>
          <p:cNvSpPr/>
          <p:nvPr/>
        </p:nvSpPr>
        <p:spPr>
          <a:xfrm>
            <a:off x="566928"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2432304"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297680"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163056" y="6739128"/>
            <a:ext cx="1755648" cy="32004"/>
          </a:xfrm>
          <a:prstGeom prst="rect">
            <a:avLst/>
          </a:prstGeom>
          <a:solidFill>
            <a:srgbClr val="D2AB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8028431"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893807"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ounded Rectangle 25"/>
          <p:cNvSpPr/>
          <p:nvPr/>
        </p:nvSpPr>
        <p:spPr>
          <a:xfrm>
            <a:off x="594360" y="5833872"/>
            <a:ext cx="10972800" cy="484632"/>
          </a:xfrm>
          <a:prstGeom prst="roundRect">
            <a:avLst>
              <a:gd name="adj" fmla="val 3500"/>
            </a:avLst>
          </a:prstGeom>
          <a:solidFill>
            <a:srgbClr val="E4EE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777240" y="5943600"/>
            <a:ext cx="10607040" cy="283464"/>
          </a:xfrm>
          <a:prstGeom prst="rect">
            <a:avLst/>
          </a:prstGeom>
          <a:noFill/>
          <a:effectLst/>
        </p:spPr>
        <p:txBody>
          <a:bodyPr wrap="square" tIns="0" bIns="0" lIns="0" rIns="0">
            <a:spAutoFit/>
          </a:bodyPr>
          <a:lstStyle/>
          <a:p>
            <a:pPr>
              <a:spcBef>
                <a:spcPts val="0"/>
              </a:spcBef>
              <a:spcAft>
                <a:spcPts val="400"/>
              </a:spcAft>
              <a:defRPr sz="1200" b="0">
                <a:solidFill>
                  <a:srgbClr val="17613F"/>
                </a:solidFill>
                <a:latin typeface="Nimbus Sans"/>
              </a:defRPr>
            </a:pPr>
            <a:r>
              <a:rPr sz="1200"/>
              <a:t>Topik ini hanya contoh, bukan kata kunci yang sudah dipilih. Klaim produk harus mengikuti materi resmi.</a:t>
            </a:r>
          </a:p>
        </p:txBody>
      </p:sp>
      <p:sp>
        <p:nvSpPr>
          <p:cNvPr id="35" name="Rectangle 34"/>
          <p:cNvSpPr/>
          <p:nvPr/>
        </p:nvSpPr>
        <p:spPr>
          <a:xfrm>
            <a:off x="4233672" y="2624328"/>
            <a:ext cx="3712463" cy="2816352"/>
          </a:xfrm>
          <a:prstGeom prst="rect">
            <a:avLst/>
          </a:prstGeom>
          <a:solidFill>
            <a:srgbClr val="FFFFFF"/>
          </a:solidFill>
          <a:ln w="2032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26280" y="2852928"/>
            <a:ext cx="3127248" cy="274320"/>
          </a:xfrm>
          <a:prstGeom prst="rect">
            <a:avLst/>
          </a:prstGeom>
          <a:noFill/>
        </p:spPr>
        <p:txBody>
          <a:bodyPr wrap="square" lIns="0" rIns="0" tIns="0" bIns="0">
            <a:spAutoFit/>
          </a:bodyPr>
          <a:lstStyle/>
          <a:p>
            <a:pPr algn="l">
              <a:spcAft>
                <a:spcPts val="0"/>
              </a:spcAft>
            </a:pPr>
            <a:r>
              <a:rPr sz="1300" b="1">
                <a:solidFill>
                  <a:srgbClr val="17613F"/>
                </a:solidFill>
                <a:latin typeface="Nimbus Sans"/>
              </a:rPr>
              <a:t>BRIEF ARTIKEL</a:t>
            </a:r>
          </a:p>
        </p:txBody>
      </p:sp>
      <p:sp>
        <p:nvSpPr>
          <p:cNvPr id="37" name="TextBox 36"/>
          <p:cNvSpPr txBox="1"/>
          <p:nvPr/>
        </p:nvSpPr>
        <p:spPr>
          <a:xfrm>
            <a:off x="4526280" y="3319272"/>
            <a:ext cx="3127248" cy="731520"/>
          </a:xfrm>
          <a:prstGeom prst="rect">
            <a:avLst/>
          </a:prstGeom>
          <a:noFill/>
        </p:spPr>
        <p:txBody>
          <a:bodyPr wrap="square" lIns="0" rIns="0" tIns="0" bIns="0">
            <a:spAutoFit/>
          </a:bodyPr>
          <a:lstStyle/>
          <a:p>
            <a:pPr algn="l">
              <a:spcAft>
                <a:spcPts val="0"/>
              </a:spcAft>
            </a:pPr>
            <a:r>
              <a:rPr sz="2500" b="1">
                <a:solidFill>
                  <a:srgbClr val="193E32"/>
                </a:solidFill>
                <a:latin typeface="Nimbus Sans"/>
              </a:rPr>
              <a:t>Cara Membaca Label</a:t>
            </a:r>
          </a:p>
          <a:p>
            <a:pPr algn="l">
              <a:spcAft>
                <a:spcPts val="0"/>
              </a:spcAft>
            </a:pPr>
            <a:r>
              <a:rPr sz="2500" b="1">
                <a:solidFill>
                  <a:srgbClr val="193E32"/>
                </a:solidFill>
                <a:latin typeface="Nimbus Sans"/>
              </a:rPr>
              <a:t>Produk Herbal</a:t>
            </a:r>
          </a:p>
        </p:txBody>
      </p:sp>
      <p:cxnSp>
        <p:nvCxnSpPr>
          <p:cNvPr id="38" name="Connector 37"/>
          <p:cNvCxnSpPr/>
          <p:nvPr/>
        </p:nvCxnSpPr>
        <p:spPr>
          <a:xfrm>
            <a:off x="4526280" y="4690872"/>
            <a:ext cx="2971799" cy="0"/>
          </a:xfrm>
          <a:prstGeom prst="line">
            <a:avLst/>
          </a:prstGeom>
          <a:ln w="25400">
            <a:solidFill>
              <a:srgbClr val="CCD9CE"/>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526280" y="4992624"/>
            <a:ext cx="2971799" cy="0"/>
          </a:xfrm>
          <a:prstGeom prst="line">
            <a:avLst/>
          </a:prstGeom>
          <a:ln w="25400">
            <a:solidFill>
              <a:srgbClr val="CCD9CE"/>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4526280" y="5266944"/>
            <a:ext cx="2971799" cy="0"/>
          </a:xfrm>
          <a:prstGeom prst="line">
            <a:avLst/>
          </a:prstGeom>
          <a:ln w="25400">
            <a:solidFill>
              <a:srgbClr val="CCD9CE"/>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777240" y="2743200"/>
            <a:ext cx="2743200" cy="594360"/>
          </a:xfrm>
          <a:prstGeom prst="rect">
            <a:avLst/>
          </a:prstGeom>
          <a:noFill/>
        </p:spPr>
        <p:txBody>
          <a:bodyPr wrap="square" lIns="0" rIns="0" tIns="0" bIns="0">
            <a:spAutoFit/>
          </a:bodyPr>
          <a:lstStyle/>
          <a:p>
            <a:pPr algn="l">
              <a:spcAft>
                <a:spcPts val="0"/>
              </a:spcAft>
            </a:pPr>
            <a:r>
              <a:rPr sz="2200" b="1">
                <a:solidFill>
                  <a:srgbClr val="17613F"/>
                </a:solidFill>
                <a:latin typeface="Nimbus Sans"/>
              </a:rPr>
              <a:t>Pembaca</a:t>
            </a:r>
          </a:p>
        </p:txBody>
      </p:sp>
      <p:sp>
        <p:nvSpPr>
          <p:cNvPr id="42" name="TextBox 41"/>
          <p:cNvSpPr txBox="1"/>
          <p:nvPr/>
        </p:nvSpPr>
        <p:spPr>
          <a:xfrm>
            <a:off x="777240" y="3410712"/>
            <a:ext cx="2743200" cy="493776"/>
          </a:xfrm>
          <a:prstGeom prst="rect">
            <a:avLst/>
          </a:prstGeom>
          <a:noFill/>
        </p:spPr>
        <p:txBody>
          <a:bodyPr wrap="square" lIns="0" rIns="0" tIns="0" bIns="0">
            <a:spAutoFit/>
          </a:bodyPr>
          <a:lstStyle/>
          <a:p>
            <a:pPr algn="l">
              <a:spcAft>
                <a:spcPts val="0"/>
              </a:spcAft>
            </a:pPr>
            <a:r>
              <a:rPr sz="1600" b="0">
                <a:solidFill>
                  <a:srgbClr val="567168"/>
                </a:solidFill>
                <a:latin typeface="Nimbus Sans"/>
              </a:rPr>
              <a:t>Orang yang ingin</a:t>
            </a:r>
          </a:p>
          <a:p>
            <a:pPr algn="l">
              <a:spcAft>
                <a:spcPts val="0"/>
              </a:spcAft>
            </a:pPr>
            <a:r>
              <a:rPr sz="1600" b="0">
                <a:solidFill>
                  <a:srgbClr val="567168"/>
                </a:solidFill>
                <a:latin typeface="Nimbus Sans"/>
              </a:rPr>
              <a:t>memahami label.</a:t>
            </a:r>
          </a:p>
        </p:txBody>
      </p:sp>
      <p:cxnSp>
        <p:nvCxnSpPr>
          <p:cNvPr id="43" name="Connector 42"/>
          <p:cNvCxnSpPr/>
          <p:nvPr/>
        </p:nvCxnSpPr>
        <p:spPr>
          <a:xfrm>
            <a:off x="3520440" y="3108960"/>
            <a:ext cx="713232" cy="0"/>
          </a:xfrm>
          <a:prstGeom prst="line">
            <a:avLst/>
          </a:prstGeom>
          <a:ln w="25400">
            <a:solidFill>
              <a:srgbClr val="D2AB62"/>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777240" y="4343400"/>
            <a:ext cx="2743200" cy="594360"/>
          </a:xfrm>
          <a:prstGeom prst="rect">
            <a:avLst/>
          </a:prstGeom>
          <a:noFill/>
        </p:spPr>
        <p:txBody>
          <a:bodyPr wrap="square" lIns="0" rIns="0" tIns="0" bIns="0">
            <a:spAutoFit/>
          </a:bodyPr>
          <a:lstStyle/>
          <a:p>
            <a:pPr algn="l">
              <a:spcAft>
                <a:spcPts val="0"/>
              </a:spcAft>
            </a:pPr>
            <a:r>
              <a:rPr sz="2200" b="1">
                <a:solidFill>
                  <a:srgbClr val="17613F"/>
                </a:solidFill>
                <a:latin typeface="Nimbus Sans"/>
              </a:rPr>
              <a:t>Isi</a:t>
            </a:r>
          </a:p>
        </p:txBody>
      </p:sp>
      <p:sp>
        <p:nvSpPr>
          <p:cNvPr id="45" name="TextBox 44"/>
          <p:cNvSpPr txBox="1"/>
          <p:nvPr/>
        </p:nvSpPr>
        <p:spPr>
          <a:xfrm>
            <a:off x="777240" y="5010912"/>
            <a:ext cx="2743200" cy="493776"/>
          </a:xfrm>
          <a:prstGeom prst="rect">
            <a:avLst/>
          </a:prstGeom>
          <a:noFill/>
        </p:spPr>
        <p:txBody>
          <a:bodyPr wrap="square" lIns="0" rIns="0" tIns="0" bIns="0">
            <a:spAutoFit/>
          </a:bodyPr>
          <a:lstStyle/>
          <a:p>
            <a:pPr algn="l">
              <a:spcAft>
                <a:spcPts val="0"/>
              </a:spcAft>
            </a:pPr>
            <a:r>
              <a:rPr sz="1600" b="0">
                <a:solidFill>
                  <a:srgbClr val="567168"/>
                </a:solidFill>
                <a:latin typeface="Nimbus Sans"/>
              </a:rPr>
              <a:t>Bagian label &amp;</a:t>
            </a:r>
          </a:p>
          <a:p>
            <a:pPr algn="l">
              <a:spcAft>
                <a:spcPts val="0"/>
              </a:spcAft>
            </a:pPr>
            <a:r>
              <a:rPr sz="1600" b="0">
                <a:solidFill>
                  <a:srgbClr val="567168"/>
                </a:solidFill>
                <a:latin typeface="Nimbus Sans"/>
              </a:rPr>
              <a:t>cara membacanya.</a:t>
            </a:r>
          </a:p>
        </p:txBody>
      </p:sp>
      <p:cxnSp>
        <p:nvCxnSpPr>
          <p:cNvPr id="46" name="Connector 45"/>
          <p:cNvCxnSpPr/>
          <p:nvPr/>
        </p:nvCxnSpPr>
        <p:spPr>
          <a:xfrm>
            <a:off x="3520440" y="4709160"/>
            <a:ext cx="713232" cy="0"/>
          </a:xfrm>
          <a:prstGeom prst="line">
            <a:avLst/>
          </a:prstGeom>
          <a:ln w="25400">
            <a:solidFill>
              <a:srgbClr val="D2AB62"/>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8503920" y="2743200"/>
            <a:ext cx="2743200" cy="594360"/>
          </a:xfrm>
          <a:prstGeom prst="rect">
            <a:avLst/>
          </a:prstGeom>
          <a:noFill/>
        </p:spPr>
        <p:txBody>
          <a:bodyPr wrap="square" lIns="0" rIns="0" tIns="0" bIns="0">
            <a:spAutoFit/>
          </a:bodyPr>
          <a:lstStyle/>
          <a:p>
            <a:pPr algn="l">
              <a:spcAft>
                <a:spcPts val="0"/>
              </a:spcAft>
            </a:pPr>
            <a:r>
              <a:rPr sz="2200" b="1">
                <a:solidFill>
                  <a:srgbClr val="17613F"/>
                </a:solidFill>
                <a:latin typeface="Nimbus Sans"/>
              </a:rPr>
              <a:t>Sumber</a:t>
            </a:r>
          </a:p>
        </p:txBody>
      </p:sp>
      <p:sp>
        <p:nvSpPr>
          <p:cNvPr id="48" name="TextBox 47"/>
          <p:cNvSpPr txBox="1"/>
          <p:nvPr/>
        </p:nvSpPr>
        <p:spPr>
          <a:xfrm>
            <a:off x="8503920" y="3410712"/>
            <a:ext cx="2743200" cy="493776"/>
          </a:xfrm>
          <a:prstGeom prst="rect">
            <a:avLst/>
          </a:prstGeom>
          <a:noFill/>
        </p:spPr>
        <p:txBody>
          <a:bodyPr wrap="square" lIns="0" rIns="0" tIns="0" bIns="0">
            <a:spAutoFit/>
          </a:bodyPr>
          <a:lstStyle/>
          <a:p>
            <a:pPr algn="l">
              <a:spcAft>
                <a:spcPts val="0"/>
              </a:spcAft>
            </a:pPr>
            <a:r>
              <a:rPr sz="1600" b="0">
                <a:solidFill>
                  <a:srgbClr val="567168"/>
                </a:solidFill>
                <a:latin typeface="Nimbus Sans"/>
              </a:rPr>
              <a:t>Materi resmi</a:t>
            </a:r>
          </a:p>
          <a:p>
            <a:pPr algn="l">
              <a:spcAft>
                <a:spcPts val="0"/>
              </a:spcAft>
            </a:pPr>
            <a:r>
              <a:rPr sz="1600" b="0">
                <a:solidFill>
                  <a:srgbClr val="567168"/>
                </a:solidFill>
                <a:latin typeface="Nimbus Sans"/>
              </a:rPr>
              <a:t>yang disetujui.</a:t>
            </a:r>
          </a:p>
        </p:txBody>
      </p:sp>
      <p:cxnSp>
        <p:nvCxnSpPr>
          <p:cNvPr id="49" name="Connector 48"/>
          <p:cNvCxnSpPr/>
          <p:nvPr/>
        </p:nvCxnSpPr>
        <p:spPr>
          <a:xfrm>
            <a:off x="7946136" y="3108960"/>
            <a:ext cx="374904" cy="0"/>
          </a:xfrm>
          <a:prstGeom prst="line">
            <a:avLst/>
          </a:prstGeom>
          <a:ln w="25400">
            <a:solidFill>
              <a:srgbClr val="D2AB62"/>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8503920" y="4343400"/>
            <a:ext cx="2743200" cy="594360"/>
          </a:xfrm>
          <a:prstGeom prst="rect">
            <a:avLst/>
          </a:prstGeom>
          <a:noFill/>
        </p:spPr>
        <p:txBody>
          <a:bodyPr wrap="square" lIns="0" rIns="0" tIns="0" bIns="0">
            <a:spAutoFit/>
          </a:bodyPr>
          <a:lstStyle/>
          <a:p>
            <a:pPr algn="l">
              <a:spcAft>
                <a:spcPts val="0"/>
              </a:spcAft>
            </a:pPr>
            <a:r>
              <a:rPr sz="2200" b="1">
                <a:solidFill>
                  <a:srgbClr val="17613F"/>
                </a:solidFill>
                <a:latin typeface="Nimbus Sans"/>
              </a:rPr>
              <a:t>Tujuan</a:t>
            </a:r>
          </a:p>
        </p:txBody>
      </p:sp>
      <p:sp>
        <p:nvSpPr>
          <p:cNvPr id="51" name="TextBox 50"/>
          <p:cNvSpPr txBox="1"/>
          <p:nvPr/>
        </p:nvSpPr>
        <p:spPr>
          <a:xfrm>
            <a:off x="8503920" y="5010912"/>
            <a:ext cx="2743200" cy="493776"/>
          </a:xfrm>
          <a:prstGeom prst="rect">
            <a:avLst/>
          </a:prstGeom>
          <a:noFill/>
        </p:spPr>
        <p:txBody>
          <a:bodyPr wrap="square" lIns="0" rIns="0" tIns="0" bIns="0">
            <a:spAutoFit/>
          </a:bodyPr>
          <a:lstStyle/>
          <a:p>
            <a:pPr algn="l">
              <a:spcAft>
                <a:spcPts val="0"/>
              </a:spcAft>
            </a:pPr>
            <a:r>
              <a:rPr sz="1600" b="0">
                <a:solidFill>
                  <a:srgbClr val="567168"/>
                </a:solidFill>
                <a:latin typeface="Nimbus Sans"/>
              </a:rPr>
              <a:t>Memahami label</a:t>
            </a:r>
          </a:p>
          <a:p>
            <a:pPr algn="l">
              <a:spcAft>
                <a:spcPts val="0"/>
              </a:spcAft>
            </a:pPr>
            <a:r>
              <a:rPr sz="1600" b="0">
                <a:solidFill>
                  <a:srgbClr val="567168"/>
                </a:solidFill>
                <a:latin typeface="Nimbus Sans"/>
              </a:rPr>
              <a:t>dan info terkait.</a:t>
            </a:r>
          </a:p>
        </p:txBody>
      </p:sp>
      <p:cxnSp>
        <p:nvCxnSpPr>
          <p:cNvPr id="52" name="Connector 51"/>
          <p:cNvCxnSpPr/>
          <p:nvPr/>
        </p:nvCxnSpPr>
        <p:spPr>
          <a:xfrm>
            <a:off x="7946136" y="4709160"/>
            <a:ext cx="374904" cy="0"/>
          </a:xfrm>
          <a:prstGeom prst="line">
            <a:avLst/>
          </a:prstGeom>
          <a:ln w="25400">
            <a:solidFill>
              <a:srgbClr val="D2AB6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8F3"/>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1761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502920" y="210312"/>
            <a:ext cx="2395728" cy="448056"/>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1" name="Picture 30" descr="image.png"/>
          <p:cNvPicPr>
            <a:picLocks noChangeAspect="1"/>
          </p:cNvPicPr>
          <p:nvPr/>
        </p:nvPicPr>
        <p:blipFill>
          <a:blip r:embed="rId5"/>
          <a:stretch>
            <a:fillRect/>
          </a:stretch>
        </p:blipFill>
        <p:spPr>
          <a:xfrm>
            <a:off x="603504" y="323088"/>
            <a:ext cx="585216" cy="195072"/>
          </a:xfrm>
          <a:prstGeom prst="rect">
            <a:avLst/>
          </a:prstGeom>
          <a:effectLst/>
        </p:spPr>
      </p:pic>
      <p:sp>
        <p:nvSpPr>
          <p:cNvPr id="5" name="TextBox 4"/>
          <p:cNvSpPr txBox="1"/>
          <p:nvPr/>
        </p:nvSpPr>
        <p:spPr>
          <a:xfrm>
            <a:off x="1271016" y="283464"/>
            <a:ext cx="164592" cy="228600"/>
          </a:xfrm>
          <a:prstGeom prst="rect">
            <a:avLst/>
          </a:prstGeom>
          <a:noFill/>
          <a:effectLst/>
        </p:spPr>
        <p:txBody>
          <a:bodyPr wrap="square" tIns="0" bIns="0" lIns="0" rIns="0">
            <a:spAutoFit/>
          </a:bodyPr>
          <a:lstStyle/>
          <a:p>
            <a:pPr>
              <a:spcBef>
                <a:spcPts val="0"/>
              </a:spcBef>
              <a:spcAft>
                <a:spcPts val="600"/>
              </a:spcAft>
              <a:defRPr sz="1200" b="0">
                <a:solidFill>
                  <a:srgbClr val="567168"/>
                </a:solidFill>
                <a:latin typeface="Nimbus Sans"/>
              </a:defRPr>
            </a:pPr>
            <a:r>
              <a:t>×</a:t>
            </a:r>
          </a:p>
        </p:txBody>
      </p:sp>
      <p:pic>
        <p:nvPicPr>
          <p:cNvPr id="32" name="Picture 31" descr="image.png"/>
          <p:cNvPicPr>
            <a:picLocks noChangeAspect="1"/>
          </p:cNvPicPr>
          <p:nvPr/>
        </p:nvPicPr>
        <p:blipFill>
          <a:blip r:embed="rId6"/>
          <a:stretch>
            <a:fillRect/>
          </a:stretch>
        </p:blipFill>
        <p:spPr>
          <a:xfrm>
            <a:off x="1536192" y="334792"/>
            <a:ext cx="1243584" cy="153375"/>
          </a:xfrm>
          <a:prstGeom prst="rect">
            <a:avLst/>
          </a:prstGeom>
          <a:effectLst/>
        </p:spPr>
      </p:pic>
      <p:sp>
        <p:nvSpPr>
          <p:cNvPr id="7" name="TextBox 6"/>
          <p:cNvSpPr txBox="1"/>
          <p:nvPr/>
        </p:nvSpPr>
        <p:spPr>
          <a:xfrm>
            <a:off x="5486400" y="356616"/>
            <a:ext cx="6062472" cy="237744"/>
          </a:xfrm>
          <a:prstGeom prst="rect">
            <a:avLst/>
          </a:prstGeom>
          <a:noFill/>
          <a:effectLst/>
        </p:spPr>
        <p:txBody>
          <a:bodyPr wrap="square" tIns="0" bIns="0" lIns="0" rIns="0">
            <a:spAutoFit/>
          </a:bodyPr>
          <a:lstStyle/>
          <a:p>
            <a:pPr algn="r">
              <a:spcBef>
                <a:spcPts val="0"/>
              </a:spcBef>
              <a:spcAft>
                <a:spcPts val="600"/>
              </a:spcAft>
              <a:defRPr sz="1000" b="1">
                <a:solidFill>
                  <a:srgbClr val="17613F"/>
                </a:solidFill>
                <a:latin typeface="Nimbus Sans"/>
              </a:defRPr>
            </a:pPr>
            <a:r>
              <a:t>04 / ON-PAGE: PRODUKSI &amp; OPTIMASI</a:t>
            </a:r>
          </a:p>
        </p:txBody>
      </p:sp>
      <p:sp>
        <p:nvSpPr>
          <p:cNvPr id="8" name="TextBox 7"/>
          <p:cNvSpPr txBox="1"/>
          <p:nvPr/>
        </p:nvSpPr>
        <p:spPr>
          <a:xfrm>
            <a:off x="594360" y="960120"/>
            <a:ext cx="10972800" cy="822960"/>
          </a:xfrm>
          <a:prstGeom prst="rect">
            <a:avLst/>
          </a:prstGeom>
          <a:noFill/>
          <a:effectLst/>
        </p:spPr>
        <p:txBody>
          <a:bodyPr wrap="square" tIns="0" bIns="0" lIns="0" rIns="0">
            <a:spAutoFit/>
          </a:bodyPr>
          <a:lstStyle/>
          <a:p>
            <a:pPr>
              <a:spcBef>
                <a:spcPts val="0"/>
              </a:spcBef>
              <a:spcAft>
                <a:spcPts val="400"/>
              </a:spcAft>
              <a:defRPr sz="3100" b="1">
                <a:solidFill>
                  <a:srgbClr val="193E32"/>
                </a:solidFill>
                <a:latin typeface="Nimbus Sans"/>
              </a:defRPr>
            </a:pPr>
            <a:r>
              <a:rPr sz="3100"/>
              <a:t>Artikel harus jelas dan mudah dibaca</a:t>
            </a:r>
          </a:p>
        </p:txBody>
      </p:sp>
      <p:sp>
        <p:nvSpPr>
          <p:cNvPr id="9" name="TextBox 8"/>
          <p:cNvSpPr txBox="1"/>
          <p:nvPr/>
        </p:nvSpPr>
        <p:spPr>
          <a:xfrm>
            <a:off x="594360" y="1792224"/>
            <a:ext cx="10972800" cy="594360"/>
          </a:xfrm>
          <a:prstGeom prst="rect">
            <a:avLst/>
          </a:prstGeom>
          <a:noFill/>
          <a:effectLst/>
        </p:spPr>
        <p:txBody>
          <a:bodyPr wrap="square" tIns="0" bIns="0" lIns="0" rIns="0">
            <a:spAutoFit/>
          </a:bodyPr>
          <a:lstStyle/>
          <a:p>
            <a:pPr>
              <a:spcBef>
                <a:spcPts val="0"/>
              </a:spcBef>
              <a:spcAft>
                <a:spcPts val="400"/>
              </a:spcAft>
              <a:defRPr sz="1700" b="0">
                <a:solidFill>
                  <a:srgbClr val="567168"/>
                </a:solidFill>
                <a:latin typeface="Nimbus Sans"/>
              </a:defRPr>
            </a:pPr>
            <a:r>
              <a:rPr sz="1700"/>
              <a:t>Susun artikel agar pembaca mudah menemukan jawaban. Gunakan sumber yang jelas dan materi resmi.</a:t>
            </a:r>
          </a:p>
        </p:txBody>
      </p:sp>
      <p:sp>
        <p:nvSpPr>
          <p:cNvPr id="10" name="TextBox 9"/>
          <p:cNvSpPr txBox="1"/>
          <p:nvPr/>
        </p:nvSpPr>
        <p:spPr>
          <a:xfrm>
            <a:off x="594360" y="6437376"/>
            <a:ext cx="10287000" cy="219456"/>
          </a:xfrm>
          <a:prstGeom prst="rect">
            <a:avLst/>
          </a:prstGeom>
          <a:noFill/>
          <a:effectLst/>
        </p:spPr>
        <p:txBody>
          <a:bodyPr wrap="square" tIns="0" bIns="0" lIns="0" rIns="0">
            <a:spAutoFit/>
          </a:bodyPr>
          <a:lstStyle/>
          <a:p>
            <a:pPr>
              <a:spcBef>
                <a:spcPts val="0"/>
              </a:spcBef>
              <a:spcAft>
                <a:spcPts val="400"/>
              </a:spcAft>
              <a:defRPr sz="900" b="0">
                <a:solidFill>
                  <a:srgbClr val="567168"/>
                </a:solidFill>
                <a:latin typeface="Nimbus Sans"/>
              </a:defRPr>
            </a:pPr>
            <a:r>
              <a:rPr sz="900"/>
              <a:t>Contoh untuk penjelasan, bukan hasil audit Mecosin.</a:t>
            </a:r>
          </a:p>
        </p:txBody>
      </p:sp>
      <p:sp>
        <p:nvSpPr>
          <p:cNvPr id="11" name="TextBox 10"/>
          <p:cNvSpPr txBox="1"/>
          <p:nvPr/>
        </p:nvSpPr>
        <p:spPr>
          <a:xfrm>
            <a:off x="11091672" y="6391656"/>
            <a:ext cx="457200" cy="256032"/>
          </a:xfrm>
          <a:prstGeom prst="rect">
            <a:avLst/>
          </a:prstGeom>
          <a:noFill/>
          <a:effectLst/>
        </p:spPr>
        <p:txBody>
          <a:bodyPr wrap="square" tIns="0" bIns="0" lIns="0" rIns="0">
            <a:spAutoFit/>
          </a:bodyPr>
          <a:lstStyle/>
          <a:p>
            <a:pPr>
              <a:spcBef>
                <a:spcPts val="0"/>
              </a:spcBef>
              <a:spcAft>
                <a:spcPts val="600"/>
              </a:spcAft>
              <a:defRPr sz="1200" b="1">
                <a:solidFill>
                  <a:srgbClr val="17613F"/>
                </a:solidFill>
                <a:latin typeface="Nimbus Sans"/>
              </a:defRPr>
            </a:pPr>
            <a:r>
              <a:t>18</a:t>
            </a:r>
          </a:p>
        </p:txBody>
      </p:sp>
      <p:sp>
        <p:nvSpPr>
          <p:cNvPr id="12" name="Rectangle 11"/>
          <p:cNvSpPr/>
          <p:nvPr/>
        </p:nvSpPr>
        <p:spPr>
          <a:xfrm>
            <a:off x="566928"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2432304"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297680"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163056" y="6739128"/>
            <a:ext cx="1755648" cy="32004"/>
          </a:xfrm>
          <a:prstGeom prst="rect">
            <a:avLst/>
          </a:prstGeom>
          <a:solidFill>
            <a:srgbClr val="D2AB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8028431"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893807"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ounded Rectangle 17"/>
          <p:cNvSpPr/>
          <p:nvPr/>
        </p:nvSpPr>
        <p:spPr>
          <a:xfrm>
            <a:off x="594360" y="2587751"/>
            <a:ext cx="6537960" cy="2788920"/>
          </a:xfrm>
          <a:prstGeom prst="roundRect">
            <a:avLst>
              <a:gd name="adj" fmla="val 3500"/>
            </a:avLst>
          </a:prstGeom>
          <a:solidFill>
            <a:srgbClr val="FFFFFF"/>
          </a:solidFill>
          <a:ln w="12700">
            <a:solidFill>
              <a:srgbClr val="CCD9C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ounded Rectangle 18"/>
          <p:cNvSpPr/>
          <p:nvPr/>
        </p:nvSpPr>
        <p:spPr>
          <a:xfrm>
            <a:off x="594360" y="2587751"/>
            <a:ext cx="6537960" cy="393192"/>
          </a:xfrm>
          <a:prstGeom prst="roundRect">
            <a:avLst>
              <a:gd name="adj" fmla="val 12000"/>
            </a:avLst>
          </a:prstGeom>
          <a:solidFill>
            <a:srgbClr val="E4EE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77240" y="2697479"/>
            <a:ext cx="6172200" cy="201168"/>
          </a:xfrm>
          <a:prstGeom prst="rect">
            <a:avLst/>
          </a:prstGeom>
          <a:noFill/>
          <a:effectLst/>
        </p:spPr>
        <p:txBody>
          <a:bodyPr wrap="square" tIns="0" bIns="0" lIns="0" rIns="0">
            <a:spAutoFit/>
          </a:bodyPr>
          <a:lstStyle/>
          <a:p>
            <a:pPr>
              <a:spcBef>
                <a:spcPts val="0"/>
              </a:spcBef>
              <a:spcAft>
                <a:spcPts val="600"/>
              </a:spcAft>
              <a:defRPr sz="1100" b="0">
                <a:solidFill>
                  <a:srgbClr val="567168"/>
                </a:solidFill>
                <a:latin typeface="Nimbus Sans"/>
              </a:defRPr>
            </a:pPr>
            <a:r>
              <a:t>Contoh struktur artikel</a:t>
            </a:r>
          </a:p>
        </p:txBody>
      </p:sp>
      <p:sp>
        <p:nvSpPr>
          <p:cNvPr id="21" name="TextBox 20"/>
          <p:cNvSpPr txBox="1"/>
          <p:nvPr/>
        </p:nvSpPr>
        <p:spPr>
          <a:xfrm>
            <a:off x="868680" y="3255264"/>
            <a:ext cx="914400" cy="237744"/>
          </a:xfrm>
          <a:prstGeom prst="rect">
            <a:avLst/>
          </a:prstGeom>
          <a:noFill/>
          <a:effectLst/>
        </p:spPr>
        <p:txBody>
          <a:bodyPr wrap="square" tIns="0" bIns="0" lIns="0" rIns="0">
            <a:spAutoFit/>
          </a:bodyPr>
          <a:lstStyle/>
          <a:p>
            <a:pPr>
              <a:spcBef>
                <a:spcPts val="0"/>
              </a:spcBef>
              <a:spcAft>
                <a:spcPts val="600"/>
              </a:spcAft>
              <a:defRPr sz="1000" b="1">
                <a:solidFill>
                  <a:srgbClr val="17613F"/>
                </a:solidFill>
                <a:latin typeface="Nimbus Sans"/>
              </a:defRPr>
            </a:pPr>
            <a:r>
              <a:t>H1</a:t>
            </a:r>
          </a:p>
        </p:txBody>
      </p:sp>
      <p:sp>
        <p:nvSpPr>
          <p:cNvPr id="22" name="TextBox 21"/>
          <p:cNvSpPr txBox="1"/>
          <p:nvPr/>
        </p:nvSpPr>
        <p:spPr>
          <a:xfrm>
            <a:off x="1874519" y="3236976"/>
            <a:ext cx="4937760" cy="457200"/>
          </a:xfrm>
          <a:prstGeom prst="rect">
            <a:avLst/>
          </a:prstGeom>
          <a:noFill/>
          <a:effectLst/>
        </p:spPr>
        <p:txBody>
          <a:bodyPr wrap="square" tIns="0" bIns="0" lIns="0" rIns="0">
            <a:spAutoFit/>
          </a:bodyPr>
          <a:lstStyle/>
          <a:p>
            <a:pPr>
              <a:spcBef>
                <a:spcPts val="0"/>
              </a:spcBef>
              <a:spcAft>
                <a:spcPts val="600"/>
              </a:spcAft>
              <a:defRPr sz="2000" b="1">
                <a:solidFill>
                  <a:srgbClr val="193E32"/>
                </a:solidFill>
                <a:latin typeface="Nimbus Sans"/>
              </a:defRPr>
            </a:pPr>
            <a:r>
              <a:t>Cara Membaca Label Produk Herbal</a:t>
            </a:r>
          </a:p>
        </p:txBody>
      </p:sp>
      <p:sp>
        <p:nvSpPr>
          <p:cNvPr id="23" name="TextBox 22"/>
          <p:cNvSpPr txBox="1"/>
          <p:nvPr/>
        </p:nvSpPr>
        <p:spPr>
          <a:xfrm>
            <a:off x="868680" y="3877056"/>
            <a:ext cx="914400" cy="237744"/>
          </a:xfrm>
          <a:prstGeom prst="rect">
            <a:avLst/>
          </a:prstGeom>
          <a:noFill/>
          <a:effectLst/>
        </p:spPr>
        <p:txBody>
          <a:bodyPr wrap="square" tIns="0" bIns="0" lIns="0" rIns="0">
            <a:spAutoFit/>
          </a:bodyPr>
          <a:lstStyle/>
          <a:p>
            <a:pPr>
              <a:spcBef>
                <a:spcPts val="0"/>
              </a:spcBef>
              <a:spcAft>
                <a:spcPts val="600"/>
              </a:spcAft>
              <a:defRPr sz="1000" b="1">
                <a:solidFill>
                  <a:srgbClr val="17613F"/>
                </a:solidFill>
                <a:latin typeface="Nimbus Sans"/>
              </a:defRPr>
            </a:pPr>
            <a:r>
              <a:t>INTRO</a:t>
            </a:r>
          </a:p>
        </p:txBody>
      </p:sp>
      <p:sp>
        <p:nvSpPr>
          <p:cNvPr id="24" name="TextBox 23"/>
          <p:cNvSpPr txBox="1"/>
          <p:nvPr/>
        </p:nvSpPr>
        <p:spPr>
          <a:xfrm>
            <a:off x="1874519" y="3858768"/>
            <a:ext cx="4937760" cy="457200"/>
          </a:xfrm>
          <a:prstGeom prst="rect">
            <a:avLst/>
          </a:prstGeom>
          <a:noFill/>
          <a:effectLst/>
        </p:spPr>
        <p:txBody>
          <a:bodyPr wrap="square" tIns="0" bIns="0" lIns="0" rIns="0">
            <a:spAutoFit/>
          </a:bodyPr>
          <a:lstStyle/>
          <a:p>
            <a:pPr>
              <a:spcBef>
                <a:spcPts val="0"/>
              </a:spcBef>
              <a:spcAft>
                <a:spcPts val="600"/>
              </a:spcAft>
              <a:defRPr sz="2000" b="0">
                <a:solidFill>
                  <a:srgbClr val="193E32"/>
                </a:solidFill>
                <a:latin typeface="Nimbus Sans"/>
              </a:defRPr>
            </a:pPr>
            <a:r>
              <a:t>Kenali informasi yang ada pada kemasan.</a:t>
            </a:r>
          </a:p>
        </p:txBody>
      </p:sp>
      <p:sp>
        <p:nvSpPr>
          <p:cNvPr id="25" name="TextBox 24"/>
          <p:cNvSpPr txBox="1"/>
          <p:nvPr/>
        </p:nvSpPr>
        <p:spPr>
          <a:xfrm>
            <a:off x="868680" y="4498848"/>
            <a:ext cx="914400" cy="237744"/>
          </a:xfrm>
          <a:prstGeom prst="rect">
            <a:avLst/>
          </a:prstGeom>
          <a:noFill/>
          <a:effectLst/>
        </p:spPr>
        <p:txBody>
          <a:bodyPr wrap="square" tIns="0" bIns="0" lIns="0" rIns="0">
            <a:spAutoFit/>
          </a:bodyPr>
          <a:lstStyle/>
          <a:p>
            <a:pPr>
              <a:spcBef>
                <a:spcPts val="0"/>
              </a:spcBef>
              <a:spcAft>
                <a:spcPts val="600"/>
              </a:spcAft>
              <a:defRPr sz="1000" b="1">
                <a:solidFill>
                  <a:srgbClr val="17613F"/>
                </a:solidFill>
                <a:latin typeface="Nimbus Sans"/>
              </a:defRPr>
            </a:pPr>
            <a:r>
              <a:t>H2</a:t>
            </a:r>
          </a:p>
        </p:txBody>
      </p:sp>
      <p:sp>
        <p:nvSpPr>
          <p:cNvPr id="26" name="TextBox 25"/>
          <p:cNvSpPr txBox="1"/>
          <p:nvPr/>
        </p:nvSpPr>
        <p:spPr>
          <a:xfrm>
            <a:off x="1874519" y="4480560"/>
            <a:ext cx="4937760" cy="457200"/>
          </a:xfrm>
          <a:prstGeom prst="rect">
            <a:avLst/>
          </a:prstGeom>
          <a:noFill/>
          <a:effectLst/>
        </p:spPr>
        <p:txBody>
          <a:bodyPr wrap="square" tIns="0" bIns="0" lIns="0" rIns="0">
            <a:spAutoFit/>
          </a:bodyPr>
          <a:lstStyle/>
          <a:p>
            <a:pPr>
              <a:spcBef>
                <a:spcPts val="0"/>
              </a:spcBef>
              <a:spcAft>
                <a:spcPts val="600"/>
              </a:spcAft>
              <a:defRPr sz="2000" b="0">
                <a:solidFill>
                  <a:srgbClr val="193E32"/>
                </a:solidFill>
                <a:latin typeface="Nimbus Sans"/>
              </a:defRPr>
            </a:pPr>
            <a:r>
              <a:t>Komposisi · Petunjuk · Penyimpanan</a:t>
            </a:r>
          </a:p>
        </p:txBody>
      </p:sp>
      <p:sp>
        <p:nvSpPr>
          <p:cNvPr id="27" name="TextBox 26"/>
          <p:cNvSpPr txBox="1"/>
          <p:nvPr/>
        </p:nvSpPr>
        <p:spPr>
          <a:xfrm>
            <a:off x="7726679" y="2898648"/>
            <a:ext cx="3749039" cy="457200"/>
          </a:xfrm>
          <a:prstGeom prst="rect">
            <a:avLst/>
          </a:prstGeom>
          <a:noFill/>
          <a:effectLst/>
        </p:spPr>
        <p:txBody>
          <a:bodyPr wrap="square" tIns="0" bIns="0" lIns="0" rIns="0">
            <a:spAutoFit/>
          </a:bodyPr>
          <a:lstStyle/>
          <a:p>
            <a:pPr>
              <a:spcBef>
                <a:spcPts val="0"/>
              </a:spcBef>
              <a:spcAft>
                <a:spcPts val="600"/>
              </a:spcAft>
              <a:defRPr sz="2600" b="1">
                <a:solidFill>
                  <a:srgbClr val="17613F"/>
                </a:solidFill>
                <a:latin typeface="Nimbus Sans"/>
              </a:defRPr>
            </a:pPr>
            <a:r>
              <a:t>Bantu pembaca</a:t>
            </a:r>
          </a:p>
        </p:txBody>
      </p:sp>
      <p:sp>
        <p:nvSpPr>
          <p:cNvPr id="28" name="TextBox 27"/>
          <p:cNvSpPr txBox="1"/>
          <p:nvPr/>
        </p:nvSpPr>
        <p:spPr>
          <a:xfrm>
            <a:off x="7726679" y="3657599"/>
            <a:ext cx="3749039" cy="1481328"/>
          </a:xfrm>
          <a:prstGeom prst="rect">
            <a:avLst/>
          </a:prstGeom>
          <a:noFill/>
          <a:effectLst/>
        </p:spPr>
        <p:txBody>
          <a:bodyPr wrap="square" tIns="0" bIns="0" lIns="0" rIns="0">
            <a:spAutoFit/>
          </a:bodyPr>
          <a:lstStyle/>
          <a:p>
            <a:pPr>
              <a:spcBef>
                <a:spcPts val="0"/>
              </a:spcBef>
              <a:spcAft>
                <a:spcPts val="600"/>
              </a:spcAft>
              <a:defRPr sz="1900" b="0">
                <a:solidFill>
                  <a:srgbClr val="567168"/>
                </a:solidFill>
                <a:latin typeface="Nimbus Sans"/>
              </a:defRPr>
            </a:pPr>
            <a:r>
              <a:t>Jawaban mudah ditemukan.</a:t>
            </a:r>
          </a:p>
          <a:p>
            <a:pPr>
              <a:spcBef>
                <a:spcPts val="0"/>
              </a:spcBef>
              <a:spcAft>
                <a:spcPts val="600"/>
              </a:spcAft>
              <a:defRPr sz="1900" b="0">
                <a:solidFill>
                  <a:srgbClr val="567168"/>
                </a:solidFill>
                <a:latin typeface="Nimbus Sans"/>
              </a:defRPr>
            </a:pPr>
            <a:r>
              <a:t>Gambar membantu penjelasan.</a:t>
            </a:r>
          </a:p>
          <a:p>
            <a:pPr>
              <a:spcBef>
                <a:spcPts val="0"/>
              </a:spcBef>
              <a:spcAft>
                <a:spcPts val="600"/>
              </a:spcAft>
              <a:defRPr sz="1900" b="0">
                <a:solidFill>
                  <a:srgbClr val="567168"/>
                </a:solidFill>
                <a:latin typeface="Nimbus Sans"/>
              </a:defRPr>
            </a:pPr>
            <a:r>
              <a:t>Sumber bisa diperiksa.</a:t>
            </a:r>
          </a:p>
          <a:p>
            <a:pPr>
              <a:spcBef>
                <a:spcPts val="0"/>
              </a:spcBef>
              <a:spcAft>
                <a:spcPts val="600"/>
              </a:spcAft>
              <a:defRPr sz="1900" b="0">
                <a:solidFill>
                  <a:srgbClr val="567168"/>
                </a:solidFill>
                <a:latin typeface="Nimbus Sans"/>
              </a:defRPr>
            </a:pPr>
            <a:r>
              <a:t>Bahasa mudah dipahami.</a:t>
            </a:r>
          </a:p>
        </p:txBody>
      </p:sp>
      <p:sp>
        <p:nvSpPr>
          <p:cNvPr id="29" name="Rounded Rectangle 28"/>
          <p:cNvSpPr/>
          <p:nvPr/>
        </p:nvSpPr>
        <p:spPr>
          <a:xfrm>
            <a:off x="594360" y="5833872"/>
            <a:ext cx="10972800" cy="484632"/>
          </a:xfrm>
          <a:prstGeom prst="roundRect">
            <a:avLst>
              <a:gd name="adj" fmla="val 3500"/>
            </a:avLst>
          </a:prstGeom>
          <a:solidFill>
            <a:srgbClr val="E4EE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777240" y="5943600"/>
            <a:ext cx="10607040" cy="283464"/>
          </a:xfrm>
          <a:prstGeom prst="rect">
            <a:avLst/>
          </a:prstGeom>
          <a:noFill/>
          <a:effectLst/>
        </p:spPr>
        <p:txBody>
          <a:bodyPr wrap="square" tIns="0" bIns="0" lIns="0" rIns="0">
            <a:spAutoFit/>
          </a:bodyPr>
          <a:lstStyle/>
          <a:p>
            <a:pPr>
              <a:spcBef>
                <a:spcPts val="0"/>
              </a:spcBef>
              <a:spcAft>
                <a:spcPts val="400"/>
              </a:spcAft>
              <a:defRPr sz="1200" b="0">
                <a:solidFill>
                  <a:srgbClr val="17613F"/>
                </a:solidFill>
                <a:latin typeface="Nimbus Sans"/>
              </a:defRPr>
            </a:pPr>
            <a:r>
              <a:rPr sz="1200"/>
              <a:t>Contoh visual: gunakan kemasan resmi untuk menunjukkan bagian label; bukan gambar produk yang dikarang.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8F3"/>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1761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502920" y="210312"/>
            <a:ext cx="2395728" cy="448056"/>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8" name="Picture 37" descr="image.png"/>
          <p:cNvPicPr>
            <a:picLocks noChangeAspect="1"/>
          </p:cNvPicPr>
          <p:nvPr/>
        </p:nvPicPr>
        <p:blipFill>
          <a:blip r:embed="rId5"/>
          <a:stretch>
            <a:fillRect/>
          </a:stretch>
        </p:blipFill>
        <p:spPr>
          <a:xfrm>
            <a:off x="603504" y="323088"/>
            <a:ext cx="585216" cy="195072"/>
          </a:xfrm>
          <a:prstGeom prst="rect">
            <a:avLst/>
          </a:prstGeom>
          <a:effectLst/>
        </p:spPr>
      </p:pic>
      <p:sp>
        <p:nvSpPr>
          <p:cNvPr id="5" name="TextBox 4"/>
          <p:cNvSpPr txBox="1"/>
          <p:nvPr/>
        </p:nvSpPr>
        <p:spPr>
          <a:xfrm>
            <a:off x="1271016" y="283464"/>
            <a:ext cx="164592" cy="228600"/>
          </a:xfrm>
          <a:prstGeom prst="rect">
            <a:avLst/>
          </a:prstGeom>
          <a:noFill/>
          <a:effectLst/>
        </p:spPr>
        <p:txBody>
          <a:bodyPr wrap="square" tIns="0" bIns="0" lIns="0" rIns="0">
            <a:spAutoFit/>
          </a:bodyPr>
          <a:lstStyle/>
          <a:p>
            <a:pPr>
              <a:spcBef>
                <a:spcPts val="0"/>
              </a:spcBef>
              <a:spcAft>
                <a:spcPts val="600"/>
              </a:spcAft>
              <a:defRPr sz="1200" b="0">
                <a:solidFill>
                  <a:srgbClr val="567168"/>
                </a:solidFill>
                <a:latin typeface="Nimbus Sans"/>
              </a:defRPr>
            </a:pPr>
            <a:r>
              <a:t>×</a:t>
            </a:r>
          </a:p>
        </p:txBody>
      </p:sp>
      <p:pic>
        <p:nvPicPr>
          <p:cNvPr id="39" name="Picture 38" descr="image.png"/>
          <p:cNvPicPr>
            <a:picLocks noChangeAspect="1"/>
          </p:cNvPicPr>
          <p:nvPr/>
        </p:nvPicPr>
        <p:blipFill>
          <a:blip r:embed="rId6"/>
          <a:stretch>
            <a:fillRect/>
          </a:stretch>
        </p:blipFill>
        <p:spPr>
          <a:xfrm>
            <a:off x="1536192" y="334792"/>
            <a:ext cx="1243584" cy="153375"/>
          </a:xfrm>
          <a:prstGeom prst="rect">
            <a:avLst/>
          </a:prstGeom>
          <a:effectLst/>
        </p:spPr>
      </p:pic>
      <p:sp>
        <p:nvSpPr>
          <p:cNvPr id="7" name="TextBox 6"/>
          <p:cNvSpPr txBox="1"/>
          <p:nvPr/>
        </p:nvSpPr>
        <p:spPr>
          <a:xfrm>
            <a:off x="5486400" y="356616"/>
            <a:ext cx="6062472" cy="237744"/>
          </a:xfrm>
          <a:prstGeom prst="rect">
            <a:avLst/>
          </a:prstGeom>
          <a:noFill/>
          <a:effectLst/>
        </p:spPr>
        <p:txBody>
          <a:bodyPr wrap="square" tIns="0" bIns="0" lIns="0" rIns="0">
            <a:spAutoFit/>
          </a:bodyPr>
          <a:lstStyle/>
          <a:p>
            <a:pPr algn="r">
              <a:spcBef>
                <a:spcPts val="0"/>
              </a:spcBef>
              <a:spcAft>
                <a:spcPts val="600"/>
              </a:spcAft>
              <a:defRPr sz="1000" b="1">
                <a:solidFill>
                  <a:srgbClr val="17613F"/>
                </a:solidFill>
                <a:latin typeface="Nimbus Sans"/>
              </a:defRPr>
            </a:pPr>
            <a:r>
              <a:t>04 / ON-PAGE: PRODUKSI &amp; OPTIMASI</a:t>
            </a:r>
          </a:p>
        </p:txBody>
      </p:sp>
      <p:sp>
        <p:nvSpPr>
          <p:cNvPr id="8" name="TextBox 7"/>
          <p:cNvSpPr txBox="1"/>
          <p:nvPr/>
        </p:nvSpPr>
        <p:spPr>
          <a:xfrm>
            <a:off x="594360" y="960120"/>
            <a:ext cx="10972800" cy="822960"/>
          </a:xfrm>
          <a:prstGeom prst="rect">
            <a:avLst/>
          </a:prstGeom>
          <a:noFill/>
          <a:effectLst/>
        </p:spPr>
        <p:txBody>
          <a:bodyPr wrap="square" tIns="0" bIns="0" lIns="0" rIns="0">
            <a:spAutoFit/>
          </a:bodyPr>
          <a:lstStyle/>
          <a:p>
            <a:pPr>
              <a:spcBef>
                <a:spcPts val="0"/>
              </a:spcBef>
              <a:spcAft>
                <a:spcPts val="400"/>
              </a:spcAft>
              <a:defRPr sz="3100" b="1">
                <a:solidFill>
                  <a:srgbClr val="193E32"/>
                </a:solidFill>
                <a:latin typeface="Nimbus Sans"/>
              </a:defRPr>
            </a:pPr>
            <a:r>
              <a:rPr sz="3100"/>
              <a:t>Title &amp; meta: bantu orang memilih hasil pencarian</a:t>
            </a:r>
          </a:p>
        </p:txBody>
      </p:sp>
      <p:sp>
        <p:nvSpPr>
          <p:cNvPr id="9" name="TextBox 8"/>
          <p:cNvSpPr txBox="1"/>
          <p:nvPr/>
        </p:nvSpPr>
        <p:spPr>
          <a:xfrm>
            <a:off x="594360" y="1792224"/>
            <a:ext cx="10972800" cy="594360"/>
          </a:xfrm>
          <a:prstGeom prst="rect">
            <a:avLst/>
          </a:prstGeom>
          <a:noFill/>
          <a:effectLst/>
        </p:spPr>
        <p:txBody>
          <a:bodyPr wrap="square" tIns="0" bIns="0" lIns="0" rIns="0">
            <a:spAutoFit/>
          </a:bodyPr>
          <a:lstStyle/>
          <a:p>
            <a:pPr>
              <a:spcBef>
                <a:spcPts val="0"/>
              </a:spcBef>
              <a:spcAft>
                <a:spcPts val="400"/>
              </a:spcAft>
              <a:defRPr sz="1700" b="0">
                <a:solidFill>
                  <a:srgbClr val="567168"/>
                </a:solidFill>
                <a:latin typeface="Nimbus Sans"/>
              </a:defRPr>
            </a:pPr>
            <a:r>
              <a:rPr sz="1700"/>
              <a:t>Title adalah judul halaman. Meta description memberi ringkasan agar orang tahu isinya sebelum mengeklik.</a:t>
            </a:r>
          </a:p>
        </p:txBody>
      </p:sp>
      <p:sp>
        <p:nvSpPr>
          <p:cNvPr id="10" name="TextBox 9"/>
          <p:cNvSpPr txBox="1"/>
          <p:nvPr/>
        </p:nvSpPr>
        <p:spPr>
          <a:xfrm>
            <a:off x="594360" y="6437376"/>
            <a:ext cx="10287000" cy="219456"/>
          </a:xfrm>
          <a:prstGeom prst="rect">
            <a:avLst/>
          </a:prstGeom>
          <a:noFill/>
          <a:effectLst/>
        </p:spPr>
        <p:txBody>
          <a:bodyPr wrap="square" tIns="0" bIns="0" lIns="0" rIns="0">
            <a:spAutoFit/>
          </a:bodyPr>
          <a:lstStyle/>
          <a:p>
            <a:pPr>
              <a:spcBef>
                <a:spcPts val="0"/>
              </a:spcBef>
              <a:spcAft>
                <a:spcPts val="400"/>
              </a:spcAft>
              <a:defRPr sz="900" b="0">
                <a:solidFill>
                  <a:srgbClr val="567168"/>
                </a:solidFill>
                <a:latin typeface="Nimbus Sans"/>
              </a:defRPr>
            </a:pPr>
            <a:r>
              <a:rPr sz="900"/>
              <a:t>Contoh untuk penjelasan, bukan hasil audit Mecosin.</a:t>
            </a:r>
          </a:p>
        </p:txBody>
      </p:sp>
      <p:sp>
        <p:nvSpPr>
          <p:cNvPr id="11" name="TextBox 10"/>
          <p:cNvSpPr txBox="1"/>
          <p:nvPr/>
        </p:nvSpPr>
        <p:spPr>
          <a:xfrm>
            <a:off x="11091672" y="6391656"/>
            <a:ext cx="457200" cy="256032"/>
          </a:xfrm>
          <a:prstGeom prst="rect">
            <a:avLst/>
          </a:prstGeom>
          <a:noFill/>
          <a:effectLst/>
        </p:spPr>
        <p:txBody>
          <a:bodyPr wrap="square" tIns="0" bIns="0" lIns="0" rIns="0">
            <a:spAutoFit/>
          </a:bodyPr>
          <a:lstStyle/>
          <a:p>
            <a:pPr>
              <a:spcBef>
                <a:spcPts val="0"/>
              </a:spcBef>
              <a:spcAft>
                <a:spcPts val="600"/>
              </a:spcAft>
              <a:defRPr sz="1200" b="1">
                <a:solidFill>
                  <a:srgbClr val="17613F"/>
                </a:solidFill>
                <a:latin typeface="Nimbus Sans"/>
              </a:defRPr>
            </a:pPr>
            <a:r>
              <a:t>19</a:t>
            </a:r>
          </a:p>
        </p:txBody>
      </p:sp>
      <p:sp>
        <p:nvSpPr>
          <p:cNvPr id="12" name="Rectangle 11"/>
          <p:cNvSpPr/>
          <p:nvPr/>
        </p:nvSpPr>
        <p:spPr>
          <a:xfrm>
            <a:off x="566928"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2432304"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297680"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163056" y="6739128"/>
            <a:ext cx="1755648" cy="32004"/>
          </a:xfrm>
          <a:prstGeom prst="rect">
            <a:avLst/>
          </a:prstGeom>
          <a:solidFill>
            <a:srgbClr val="D2AB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8028431"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893807"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ounded Rectangle 17"/>
          <p:cNvSpPr/>
          <p:nvPr/>
        </p:nvSpPr>
        <p:spPr>
          <a:xfrm>
            <a:off x="594360" y="2606039"/>
            <a:ext cx="5349240" cy="2468880"/>
          </a:xfrm>
          <a:prstGeom prst="roundRect">
            <a:avLst>
              <a:gd name="adj" fmla="val 3500"/>
            </a:avLst>
          </a:prstGeom>
          <a:solidFill>
            <a:srgbClr val="FFFFFF"/>
          </a:solidFill>
          <a:ln w="12700">
            <a:solidFill>
              <a:srgbClr val="CCD9C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ounded Rectangle 18"/>
          <p:cNvSpPr/>
          <p:nvPr/>
        </p:nvSpPr>
        <p:spPr>
          <a:xfrm>
            <a:off x="594360" y="2606039"/>
            <a:ext cx="5349240" cy="393192"/>
          </a:xfrm>
          <a:prstGeom prst="roundRect">
            <a:avLst>
              <a:gd name="adj" fmla="val 12000"/>
            </a:avLst>
          </a:prstGeom>
          <a:solidFill>
            <a:srgbClr val="E4EE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77240" y="2715768"/>
            <a:ext cx="4983479" cy="201168"/>
          </a:xfrm>
          <a:prstGeom prst="rect">
            <a:avLst/>
          </a:prstGeom>
          <a:noFill/>
          <a:effectLst/>
        </p:spPr>
        <p:txBody>
          <a:bodyPr wrap="square" tIns="0" bIns="0" lIns="0" rIns="0">
            <a:spAutoFit/>
          </a:bodyPr>
          <a:lstStyle/>
          <a:p>
            <a:pPr>
              <a:spcBef>
                <a:spcPts val="0"/>
              </a:spcBef>
              <a:spcAft>
                <a:spcPts val="600"/>
              </a:spcAft>
              <a:defRPr sz="1100" b="0">
                <a:solidFill>
                  <a:srgbClr val="567168"/>
                </a:solidFill>
                <a:latin typeface="Nimbus Sans"/>
              </a:defRPr>
            </a:pPr>
            <a:r>
              <a:t>Simulasi hasil pencarian</a:t>
            </a:r>
          </a:p>
        </p:txBody>
      </p:sp>
      <p:sp>
        <p:nvSpPr>
          <p:cNvPr id="21" name="Rounded Rectangle 20"/>
          <p:cNvSpPr/>
          <p:nvPr/>
        </p:nvSpPr>
        <p:spPr>
          <a:xfrm>
            <a:off x="795528" y="3182110"/>
            <a:ext cx="4946903" cy="411480"/>
          </a:xfrm>
          <a:prstGeom prst="roundRect">
            <a:avLst>
              <a:gd name="adj" fmla="val 12000"/>
            </a:avLst>
          </a:prstGeom>
          <a:solidFill>
            <a:srgbClr val="F6F8F3"/>
          </a:solidFill>
          <a:ln w="12700">
            <a:solidFill>
              <a:srgbClr val="CCD9C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41832" y="3282695"/>
            <a:ext cx="4654296" cy="219456"/>
          </a:xfrm>
          <a:prstGeom prst="rect">
            <a:avLst/>
          </a:prstGeom>
          <a:noFill/>
          <a:effectLst/>
        </p:spPr>
        <p:txBody>
          <a:bodyPr wrap="square" tIns="0" bIns="0" lIns="0" rIns="0">
            <a:spAutoFit/>
          </a:bodyPr>
          <a:lstStyle/>
          <a:p>
            <a:pPr>
              <a:spcBef>
                <a:spcPts val="0"/>
              </a:spcBef>
              <a:spcAft>
                <a:spcPts val="600"/>
              </a:spcAft>
              <a:defRPr sz="1300" b="0">
                <a:solidFill>
                  <a:srgbClr val="193E32"/>
                </a:solidFill>
                <a:latin typeface="Nimbus Sans"/>
              </a:defRPr>
            </a:pPr>
            <a:r>
              <a:t>cara membaca label herbal</a:t>
            </a:r>
          </a:p>
        </p:txBody>
      </p:sp>
      <p:sp>
        <p:nvSpPr>
          <p:cNvPr id="23" name="TextBox 22"/>
          <p:cNvSpPr txBox="1"/>
          <p:nvPr/>
        </p:nvSpPr>
        <p:spPr>
          <a:xfrm>
            <a:off x="850392" y="3776471"/>
            <a:ext cx="4837175" cy="201168"/>
          </a:xfrm>
          <a:prstGeom prst="rect">
            <a:avLst/>
          </a:prstGeom>
          <a:noFill/>
          <a:effectLst/>
        </p:spPr>
        <p:txBody>
          <a:bodyPr wrap="square" tIns="0" bIns="0" lIns="0" rIns="0">
            <a:spAutoFit/>
          </a:bodyPr>
          <a:lstStyle/>
          <a:p>
            <a:pPr>
              <a:spcBef>
                <a:spcPts val="0"/>
              </a:spcBef>
              <a:spcAft>
                <a:spcPts val="600"/>
              </a:spcAft>
              <a:defRPr sz="1100" b="0">
                <a:solidFill>
                  <a:srgbClr val="567168"/>
                </a:solidFill>
                <a:latin typeface="Nimbus Sans"/>
              </a:defRPr>
            </a:pPr>
            <a:r>
              <a:t>mecosin.id</a:t>
            </a:r>
          </a:p>
        </p:txBody>
      </p:sp>
      <p:sp>
        <p:nvSpPr>
          <p:cNvPr id="24" name="TextBox 23"/>
          <p:cNvSpPr txBox="1"/>
          <p:nvPr/>
        </p:nvSpPr>
        <p:spPr>
          <a:xfrm>
            <a:off x="850392" y="4114800"/>
            <a:ext cx="4837175" cy="457200"/>
          </a:xfrm>
          <a:prstGeom prst="rect">
            <a:avLst/>
          </a:prstGeom>
          <a:noFill/>
          <a:effectLst/>
        </p:spPr>
        <p:txBody>
          <a:bodyPr wrap="square" tIns="0" bIns="0" lIns="0" rIns="0">
            <a:spAutoFit/>
          </a:bodyPr>
          <a:lstStyle/>
          <a:p>
            <a:pPr>
              <a:spcBef>
                <a:spcPts val="0"/>
              </a:spcBef>
              <a:spcAft>
                <a:spcPts val="600"/>
              </a:spcAft>
              <a:defRPr sz="2000" b="1">
                <a:solidFill>
                  <a:srgbClr val="247CA2"/>
                </a:solidFill>
                <a:latin typeface="Nimbus Sans"/>
              </a:defRPr>
            </a:pPr>
            <a:r>
              <a:t>Artikel | Mecosin</a:t>
            </a:r>
          </a:p>
        </p:txBody>
      </p:sp>
      <p:sp>
        <p:nvSpPr>
          <p:cNvPr id="25" name="TextBox 24"/>
          <p:cNvSpPr txBox="1"/>
          <p:nvPr/>
        </p:nvSpPr>
        <p:spPr>
          <a:xfrm>
            <a:off x="850392" y="4599432"/>
            <a:ext cx="4837175" cy="365760"/>
          </a:xfrm>
          <a:prstGeom prst="rect">
            <a:avLst/>
          </a:prstGeom>
          <a:noFill/>
          <a:effectLst/>
        </p:spPr>
        <p:txBody>
          <a:bodyPr wrap="square" tIns="0" bIns="0" lIns="0" rIns="0">
            <a:spAutoFit/>
          </a:bodyPr>
          <a:lstStyle/>
          <a:p>
            <a:pPr>
              <a:spcBef>
                <a:spcPts val="0"/>
              </a:spcBef>
              <a:spcAft>
                <a:spcPts val="600"/>
              </a:spcAft>
              <a:defRPr sz="1300" b="0">
                <a:solidFill>
                  <a:srgbClr val="567168"/>
                </a:solidFill>
                <a:latin typeface="Nimbus Sans"/>
              </a:defRPr>
            </a:pPr>
            <a:r>
              <a:t>Temukan berbagai artikel kami di sini.</a:t>
            </a:r>
          </a:p>
        </p:txBody>
      </p:sp>
      <p:sp>
        <p:nvSpPr>
          <p:cNvPr id="26" name="Rounded Rectangle 25"/>
          <p:cNvSpPr/>
          <p:nvPr/>
        </p:nvSpPr>
        <p:spPr>
          <a:xfrm>
            <a:off x="6199632" y="2606039"/>
            <a:ext cx="5349240" cy="2468880"/>
          </a:xfrm>
          <a:prstGeom prst="roundRect">
            <a:avLst>
              <a:gd name="adj" fmla="val 3500"/>
            </a:avLst>
          </a:prstGeom>
          <a:solidFill>
            <a:srgbClr val="FFFFFF"/>
          </a:solidFill>
          <a:ln w="12700">
            <a:solidFill>
              <a:srgbClr val="CCD9C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ounded Rectangle 26"/>
          <p:cNvSpPr/>
          <p:nvPr/>
        </p:nvSpPr>
        <p:spPr>
          <a:xfrm>
            <a:off x="6199632" y="2606039"/>
            <a:ext cx="5349240" cy="393192"/>
          </a:xfrm>
          <a:prstGeom prst="roundRect">
            <a:avLst>
              <a:gd name="adj" fmla="val 12000"/>
            </a:avLst>
          </a:prstGeom>
          <a:solidFill>
            <a:srgbClr val="E4EE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382512" y="2715768"/>
            <a:ext cx="4983479" cy="201168"/>
          </a:xfrm>
          <a:prstGeom prst="rect">
            <a:avLst/>
          </a:prstGeom>
          <a:noFill/>
          <a:effectLst/>
        </p:spPr>
        <p:txBody>
          <a:bodyPr wrap="square" tIns="0" bIns="0" lIns="0" rIns="0">
            <a:spAutoFit/>
          </a:bodyPr>
          <a:lstStyle/>
          <a:p>
            <a:pPr>
              <a:spcBef>
                <a:spcPts val="0"/>
              </a:spcBef>
              <a:spcAft>
                <a:spcPts val="600"/>
              </a:spcAft>
              <a:defRPr sz="1100" b="0">
                <a:solidFill>
                  <a:srgbClr val="567168"/>
                </a:solidFill>
                <a:latin typeface="Nimbus Sans"/>
              </a:defRPr>
            </a:pPr>
            <a:r>
              <a:t>Simulasi hasil pencarian</a:t>
            </a:r>
          </a:p>
        </p:txBody>
      </p:sp>
      <p:sp>
        <p:nvSpPr>
          <p:cNvPr id="29" name="Rounded Rectangle 28"/>
          <p:cNvSpPr/>
          <p:nvPr/>
        </p:nvSpPr>
        <p:spPr>
          <a:xfrm>
            <a:off x="6400800" y="3182110"/>
            <a:ext cx="4946903" cy="411480"/>
          </a:xfrm>
          <a:prstGeom prst="roundRect">
            <a:avLst>
              <a:gd name="adj" fmla="val 12000"/>
            </a:avLst>
          </a:prstGeom>
          <a:solidFill>
            <a:srgbClr val="F6F8F3"/>
          </a:solidFill>
          <a:ln w="12700">
            <a:solidFill>
              <a:srgbClr val="CCD9C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6547104" y="3282695"/>
            <a:ext cx="4654296" cy="219456"/>
          </a:xfrm>
          <a:prstGeom prst="rect">
            <a:avLst/>
          </a:prstGeom>
          <a:noFill/>
          <a:effectLst/>
        </p:spPr>
        <p:txBody>
          <a:bodyPr wrap="square" tIns="0" bIns="0" lIns="0" rIns="0">
            <a:spAutoFit/>
          </a:bodyPr>
          <a:lstStyle/>
          <a:p>
            <a:pPr>
              <a:spcBef>
                <a:spcPts val="0"/>
              </a:spcBef>
              <a:spcAft>
                <a:spcPts val="600"/>
              </a:spcAft>
              <a:defRPr sz="1300" b="0">
                <a:solidFill>
                  <a:srgbClr val="193E32"/>
                </a:solidFill>
                <a:latin typeface="Nimbus Sans"/>
              </a:defRPr>
            </a:pPr>
            <a:r>
              <a:t>cara membaca label herbal</a:t>
            </a:r>
          </a:p>
        </p:txBody>
      </p:sp>
      <p:sp>
        <p:nvSpPr>
          <p:cNvPr id="31" name="TextBox 30"/>
          <p:cNvSpPr txBox="1"/>
          <p:nvPr/>
        </p:nvSpPr>
        <p:spPr>
          <a:xfrm>
            <a:off x="6455664" y="3776471"/>
            <a:ext cx="4837175" cy="201168"/>
          </a:xfrm>
          <a:prstGeom prst="rect">
            <a:avLst/>
          </a:prstGeom>
          <a:noFill/>
          <a:effectLst/>
        </p:spPr>
        <p:txBody>
          <a:bodyPr wrap="square" tIns="0" bIns="0" lIns="0" rIns="0">
            <a:spAutoFit/>
          </a:bodyPr>
          <a:lstStyle/>
          <a:p>
            <a:pPr>
              <a:spcBef>
                <a:spcPts val="0"/>
              </a:spcBef>
              <a:spcAft>
                <a:spcPts val="600"/>
              </a:spcAft>
              <a:defRPr sz="1100" b="0">
                <a:solidFill>
                  <a:srgbClr val="567168"/>
                </a:solidFill>
                <a:latin typeface="Nimbus Sans"/>
              </a:defRPr>
            </a:pPr>
            <a:r>
              <a:t>mecosin.id</a:t>
            </a:r>
          </a:p>
        </p:txBody>
      </p:sp>
      <p:sp>
        <p:nvSpPr>
          <p:cNvPr id="32" name="TextBox 31"/>
          <p:cNvSpPr txBox="1"/>
          <p:nvPr/>
        </p:nvSpPr>
        <p:spPr>
          <a:xfrm>
            <a:off x="6455664" y="4114800"/>
            <a:ext cx="4837175" cy="457200"/>
          </a:xfrm>
          <a:prstGeom prst="rect">
            <a:avLst/>
          </a:prstGeom>
          <a:noFill/>
          <a:effectLst/>
        </p:spPr>
        <p:txBody>
          <a:bodyPr wrap="square" tIns="0" bIns="0" lIns="0" rIns="0">
            <a:spAutoFit/>
          </a:bodyPr>
          <a:lstStyle/>
          <a:p>
            <a:pPr>
              <a:spcBef>
                <a:spcPts val="0"/>
              </a:spcBef>
              <a:spcAft>
                <a:spcPts val="600"/>
              </a:spcAft>
              <a:defRPr sz="2000" b="1">
                <a:solidFill>
                  <a:srgbClr val="247CA2"/>
                </a:solidFill>
                <a:latin typeface="Nimbus Sans"/>
              </a:defRPr>
            </a:pPr>
            <a:r>
              <a:t>Cara Membaca Label Produk Herbal</a:t>
            </a:r>
          </a:p>
        </p:txBody>
      </p:sp>
      <p:sp>
        <p:nvSpPr>
          <p:cNvPr id="33" name="TextBox 32"/>
          <p:cNvSpPr txBox="1"/>
          <p:nvPr/>
        </p:nvSpPr>
        <p:spPr>
          <a:xfrm>
            <a:off x="6455664" y="4599432"/>
            <a:ext cx="4837175" cy="365760"/>
          </a:xfrm>
          <a:prstGeom prst="rect">
            <a:avLst/>
          </a:prstGeom>
          <a:noFill/>
          <a:effectLst/>
        </p:spPr>
        <p:txBody>
          <a:bodyPr wrap="square" tIns="0" bIns="0" lIns="0" rIns="0">
            <a:spAutoFit/>
          </a:bodyPr>
          <a:lstStyle/>
          <a:p>
            <a:pPr>
              <a:spcBef>
                <a:spcPts val="0"/>
              </a:spcBef>
              <a:spcAft>
                <a:spcPts val="600"/>
              </a:spcAft>
              <a:defRPr sz="1300" b="0">
                <a:solidFill>
                  <a:srgbClr val="567168"/>
                </a:solidFill>
                <a:latin typeface="Nimbus Sans"/>
              </a:defRPr>
            </a:pPr>
            <a:r>
              <a:t>Kenali komposisi, petunjuk, dan informasi penyimpanan.</a:t>
            </a:r>
          </a:p>
        </p:txBody>
      </p:sp>
      <p:sp>
        <p:nvSpPr>
          <p:cNvPr id="34" name="TextBox 33"/>
          <p:cNvSpPr txBox="1"/>
          <p:nvPr/>
        </p:nvSpPr>
        <p:spPr>
          <a:xfrm>
            <a:off x="822960" y="5248656"/>
            <a:ext cx="4937760" cy="237744"/>
          </a:xfrm>
          <a:prstGeom prst="rect">
            <a:avLst/>
          </a:prstGeom>
          <a:noFill/>
          <a:effectLst/>
        </p:spPr>
        <p:txBody>
          <a:bodyPr wrap="square" tIns="0" bIns="0" lIns="0" rIns="0">
            <a:spAutoFit/>
          </a:bodyPr>
          <a:lstStyle/>
          <a:p>
            <a:pPr>
              <a:spcBef>
                <a:spcPts val="0"/>
              </a:spcBef>
              <a:spcAft>
                <a:spcPts val="600"/>
              </a:spcAft>
              <a:defRPr sz="1000" b="1">
                <a:solidFill>
                  <a:srgbClr val="AE5046"/>
                </a:solidFill>
                <a:latin typeface="Nimbus Sans"/>
              </a:defRPr>
            </a:pPr>
            <a:r>
              <a:t>SEBELUM: TERLALU UMUM</a:t>
            </a:r>
          </a:p>
        </p:txBody>
      </p:sp>
      <p:sp>
        <p:nvSpPr>
          <p:cNvPr id="35" name="TextBox 34"/>
          <p:cNvSpPr txBox="1"/>
          <p:nvPr/>
        </p:nvSpPr>
        <p:spPr>
          <a:xfrm>
            <a:off x="6419088" y="5248656"/>
            <a:ext cx="4937760" cy="237744"/>
          </a:xfrm>
          <a:prstGeom prst="rect">
            <a:avLst/>
          </a:prstGeom>
          <a:noFill/>
          <a:effectLst/>
        </p:spPr>
        <p:txBody>
          <a:bodyPr wrap="square" tIns="0" bIns="0" lIns="0" rIns="0">
            <a:spAutoFit/>
          </a:bodyPr>
          <a:lstStyle/>
          <a:p>
            <a:pPr>
              <a:spcBef>
                <a:spcPts val="0"/>
              </a:spcBef>
              <a:spcAft>
                <a:spcPts val="600"/>
              </a:spcAft>
              <a:defRPr sz="1000" b="1">
                <a:solidFill>
                  <a:srgbClr val="17613F"/>
                </a:solidFill>
                <a:latin typeface="Nimbus Sans"/>
              </a:defRPr>
            </a:pPr>
            <a:r>
              <a:t>SESUDAH: ISI LEBIH JELAS</a:t>
            </a:r>
          </a:p>
        </p:txBody>
      </p:sp>
      <p:sp>
        <p:nvSpPr>
          <p:cNvPr id="36" name="Rounded Rectangle 35"/>
          <p:cNvSpPr/>
          <p:nvPr/>
        </p:nvSpPr>
        <p:spPr>
          <a:xfrm>
            <a:off x="594360" y="5833872"/>
            <a:ext cx="10972800" cy="484632"/>
          </a:xfrm>
          <a:prstGeom prst="roundRect">
            <a:avLst>
              <a:gd name="adj" fmla="val 3500"/>
            </a:avLst>
          </a:prstGeom>
          <a:solidFill>
            <a:srgbClr val="E4EE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77240" y="5943600"/>
            <a:ext cx="10607040" cy="283464"/>
          </a:xfrm>
          <a:prstGeom prst="rect">
            <a:avLst/>
          </a:prstGeom>
          <a:noFill/>
          <a:effectLst/>
        </p:spPr>
        <p:txBody>
          <a:bodyPr wrap="square" tIns="0" bIns="0" lIns="0" rIns="0">
            <a:spAutoFit/>
          </a:bodyPr>
          <a:lstStyle/>
          <a:p>
            <a:pPr>
              <a:spcBef>
                <a:spcPts val="0"/>
              </a:spcBef>
              <a:spcAft>
                <a:spcPts val="400"/>
              </a:spcAft>
              <a:defRPr sz="1200" b="0">
                <a:solidFill>
                  <a:srgbClr val="17613F"/>
                </a:solidFill>
                <a:latin typeface="Nimbus Sans"/>
              </a:defRPr>
            </a:pPr>
            <a:r>
              <a:rPr sz="1200"/>
              <a:t>Ini simulasi, bukan hasil pencarian asli. Google bisa menampilkan judul atau cuplikan lain dari halaman.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F8F3"/>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1761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502920" y="210312"/>
            <a:ext cx="2395728" cy="448056"/>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1" name="Picture 30" descr="image.png"/>
          <p:cNvPicPr>
            <a:picLocks noChangeAspect="1"/>
          </p:cNvPicPr>
          <p:nvPr/>
        </p:nvPicPr>
        <p:blipFill>
          <a:blip r:embed="rId5"/>
          <a:stretch>
            <a:fillRect/>
          </a:stretch>
        </p:blipFill>
        <p:spPr>
          <a:xfrm>
            <a:off x="603504" y="323088"/>
            <a:ext cx="585216" cy="195072"/>
          </a:xfrm>
          <a:prstGeom prst="rect">
            <a:avLst/>
          </a:prstGeom>
          <a:effectLst/>
        </p:spPr>
      </p:pic>
      <p:sp>
        <p:nvSpPr>
          <p:cNvPr id="5" name="TextBox 4"/>
          <p:cNvSpPr txBox="1"/>
          <p:nvPr/>
        </p:nvSpPr>
        <p:spPr>
          <a:xfrm>
            <a:off x="1271016" y="283464"/>
            <a:ext cx="164592" cy="228600"/>
          </a:xfrm>
          <a:prstGeom prst="rect">
            <a:avLst/>
          </a:prstGeom>
          <a:noFill/>
          <a:effectLst/>
        </p:spPr>
        <p:txBody>
          <a:bodyPr wrap="square" tIns="0" bIns="0" lIns="0" rIns="0">
            <a:spAutoFit/>
          </a:bodyPr>
          <a:lstStyle/>
          <a:p>
            <a:pPr>
              <a:spcBef>
                <a:spcPts val="0"/>
              </a:spcBef>
              <a:spcAft>
                <a:spcPts val="600"/>
              </a:spcAft>
              <a:defRPr sz="1200" b="0">
                <a:solidFill>
                  <a:srgbClr val="567168"/>
                </a:solidFill>
                <a:latin typeface="Nimbus Sans"/>
              </a:defRPr>
            </a:pPr>
            <a:r>
              <a:t>×</a:t>
            </a:r>
          </a:p>
        </p:txBody>
      </p:sp>
      <p:pic>
        <p:nvPicPr>
          <p:cNvPr id="32" name="Picture 31" descr="image.png"/>
          <p:cNvPicPr>
            <a:picLocks noChangeAspect="1"/>
          </p:cNvPicPr>
          <p:nvPr/>
        </p:nvPicPr>
        <p:blipFill>
          <a:blip r:embed="rId6"/>
          <a:stretch>
            <a:fillRect/>
          </a:stretch>
        </p:blipFill>
        <p:spPr>
          <a:xfrm>
            <a:off x="1536192" y="334792"/>
            <a:ext cx="1243584" cy="153375"/>
          </a:xfrm>
          <a:prstGeom prst="rect">
            <a:avLst/>
          </a:prstGeom>
          <a:effectLst/>
        </p:spPr>
      </p:pic>
      <p:sp>
        <p:nvSpPr>
          <p:cNvPr id="7" name="TextBox 6"/>
          <p:cNvSpPr txBox="1"/>
          <p:nvPr/>
        </p:nvSpPr>
        <p:spPr>
          <a:xfrm>
            <a:off x="5486400" y="356616"/>
            <a:ext cx="6062472" cy="237744"/>
          </a:xfrm>
          <a:prstGeom prst="rect">
            <a:avLst/>
          </a:prstGeom>
          <a:noFill/>
          <a:effectLst/>
        </p:spPr>
        <p:txBody>
          <a:bodyPr wrap="square" tIns="0" bIns="0" lIns="0" rIns="0">
            <a:spAutoFit/>
          </a:bodyPr>
          <a:lstStyle/>
          <a:p>
            <a:pPr algn="r">
              <a:spcBef>
                <a:spcPts val="0"/>
              </a:spcBef>
              <a:spcAft>
                <a:spcPts val="600"/>
              </a:spcAft>
              <a:defRPr sz="1000" b="1">
                <a:solidFill>
                  <a:srgbClr val="17613F"/>
                </a:solidFill>
                <a:latin typeface="Nimbus Sans"/>
              </a:defRPr>
            </a:pPr>
            <a:r>
              <a:t>04 / ON-PAGE: PRODUKSI &amp; OPTIMASI</a:t>
            </a:r>
          </a:p>
        </p:txBody>
      </p:sp>
      <p:sp>
        <p:nvSpPr>
          <p:cNvPr id="8" name="TextBox 7"/>
          <p:cNvSpPr txBox="1"/>
          <p:nvPr/>
        </p:nvSpPr>
        <p:spPr>
          <a:xfrm>
            <a:off x="594360" y="960120"/>
            <a:ext cx="10972800" cy="822960"/>
          </a:xfrm>
          <a:prstGeom prst="rect">
            <a:avLst/>
          </a:prstGeom>
          <a:noFill/>
          <a:effectLst/>
        </p:spPr>
        <p:txBody>
          <a:bodyPr wrap="square" tIns="0" bIns="0" lIns="0" rIns="0">
            <a:spAutoFit/>
          </a:bodyPr>
          <a:lstStyle/>
          <a:p>
            <a:pPr>
              <a:spcBef>
                <a:spcPts val="0"/>
              </a:spcBef>
              <a:spcAft>
                <a:spcPts val="400"/>
              </a:spcAft>
              <a:defRPr sz="3100" b="1">
                <a:solidFill>
                  <a:srgbClr val="193E32"/>
                </a:solidFill>
                <a:latin typeface="Nimbus Sans"/>
              </a:defRPr>
            </a:pPr>
            <a:r>
              <a:rPr sz="3100"/>
              <a:t>Internal link &amp; CTA: arahkan pembaca ke info berikutnya</a:t>
            </a:r>
          </a:p>
        </p:txBody>
      </p:sp>
      <p:sp>
        <p:nvSpPr>
          <p:cNvPr id="9" name="TextBox 8"/>
          <p:cNvSpPr txBox="1"/>
          <p:nvPr/>
        </p:nvSpPr>
        <p:spPr>
          <a:xfrm>
            <a:off x="594360" y="1792224"/>
            <a:ext cx="10972800" cy="594360"/>
          </a:xfrm>
          <a:prstGeom prst="rect">
            <a:avLst/>
          </a:prstGeom>
          <a:noFill/>
          <a:effectLst/>
        </p:spPr>
        <p:txBody>
          <a:bodyPr wrap="square" tIns="0" bIns="0" lIns="0" rIns="0">
            <a:spAutoFit/>
          </a:bodyPr>
          <a:lstStyle/>
          <a:p>
            <a:pPr>
              <a:spcBef>
                <a:spcPts val="0"/>
              </a:spcBef>
              <a:spcAft>
                <a:spcPts val="400"/>
              </a:spcAft>
              <a:defRPr sz="1700" b="0">
                <a:solidFill>
                  <a:srgbClr val="567168"/>
                </a:solidFill>
                <a:latin typeface="Nimbus Sans"/>
              </a:defRPr>
            </a:pPr>
            <a:r>
              <a:rPr sz="1700"/>
              <a:t>Internal link menghubungkan halaman terkait. CTA mengajak pembaca melakukan langkah berikutnya.</a:t>
            </a:r>
          </a:p>
        </p:txBody>
      </p:sp>
      <p:sp>
        <p:nvSpPr>
          <p:cNvPr id="10" name="TextBox 9"/>
          <p:cNvSpPr txBox="1"/>
          <p:nvPr/>
        </p:nvSpPr>
        <p:spPr>
          <a:xfrm>
            <a:off x="594360" y="6437376"/>
            <a:ext cx="10287000" cy="219456"/>
          </a:xfrm>
          <a:prstGeom prst="rect">
            <a:avLst/>
          </a:prstGeom>
          <a:noFill/>
          <a:effectLst/>
        </p:spPr>
        <p:txBody>
          <a:bodyPr wrap="square" tIns="0" bIns="0" lIns="0" rIns="0">
            <a:spAutoFit/>
          </a:bodyPr>
          <a:lstStyle/>
          <a:p>
            <a:pPr>
              <a:spcBef>
                <a:spcPts val="0"/>
              </a:spcBef>
              <a:spcAft>
                <a:spcPts val="400"/>
              </a:spcAft>
              <a:defRPr sz="900" b="0">
                <a:solidFill>
                  <a:srgbClr val="567168"/>
                </a:solidFill>
                <a:latin typeface="Nimbus Sans"/>
              </a:defRPr>
            </a:pPr>
            <a:r>
              <a:rPr sz="900"/>
              <a:t>Contoh untuk penjelasan, bukan hasil audit Mecosin.</a:t>
            </a:r>
          </a:p>
        </p:txBody>
      </p:sp>
      <p:sp>
        <p:nvSpPr>
          <p:cNvPr id="11" name="TextBox 10"/>
          <p:cNvSpPr txBox="1"/>
          <p:nvPr/>
        </p:nvSpPr>
        <p:spPr>
          <a:xfrm>
            <a:off x="11091672" y="6391656"/>
            <a:ext cx="457200" cy="256032"/>
          </a:xfrm>
          <a:prstGeom prst="rect">
            <a:avLst/>
          </a:prstGeom>
          <a:noFill/>
          <a:effectLst/>
        </p:spPr>
        <p:txBody>
          <a:bodyPr wrap="square" tIns="0" bIns="0" lIns="0" rIns="0">
            <a:spAutoFit/>
          </a:bodyPr>
          <a:lstStyle/>
          <a:p>
            <a:pPr>
              <a:spcBef>
                <a:spcPts val="0"/>
              </a:spcBef>
              <a:spcAft>
                <a:spcPts val="600"/>
              </a:spcAft>
              <a:defRPr sz="1200" b="1">
                <a:solidFill>
                  <a:srgbClr val="17613F"/>
                </a:solidFill>
                <a:latin typeface="Nimbus Sans"/>
              </a:defRPr>
            </a:pPr>
            <a:r>
              <a:t>20</a:t>
            </a:r>
          </a:p>
        </p:txBody>
      </p:sp>
      <p:sp>
        <p:nvSpPr>
          <p:cNvPr id="12" name="Rectangle 11"/>
          <p:cNvSpPr/>
          <p:nvPr/>
        </p:nvSpPr>
        <p:spPr>
          <a:xfrm>
            <a:off x="566928"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2432304"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297680"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163056" y="6739128"/>
            <a:ext cx="1755648" cy="32004"/>
          </a:xfrm>
          <a:prstGeom prst="rect">
            <a:avLst/>
          </a:prstGeom>
          <a:solidFill>
            <a:srgbClr val="D2AB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8028431"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893807"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ounded Rectangle 17"/>
          <p:cNvSpPr/>
          <p:nvPr/>
        </p:nvSpPr>
        <p:spPr>
          <a:xfrm>
            <a:off x="594360" y="2606039"/>
            <a:ext cx="6400800" cy="2697480"/>
          </a:xfrm>
          <a:prstGeom prst="roundRect">
            <a:avLst>
              <a:gd name="adj" fmla="val 3500"/>
            </a:avLst>
          </a:prstGeom>
          <a:solidFill>
            <a:srgbClr val="FFFFFF"/>
          </a:solidFill>
          <a:ln w="12700">
            <a:solidFill>
              <a:srgbClr val="CCD9C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ounded Rectangle 18"/>
          <p:cNvSpPr/>
          <p:nvPr/>
        </p:nvSpPr>
        <p:spPr>
          <a:xfrm>
            <a:off x="594360" y="2606039"/>
            <a:ext cx="6400800" cy="393192"/>
          </a:xfrm>
          <a:prstGeom prst="roundRect">
            <a:avLst>
              <a:gd name="adj" fmla="val 12000"/>
            </a:avLst>
          </a:prstGeom>
          <a:solidFill>
            <a:srgbClr val="E4EE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77240" y="2715768"/>
            <a:ext cx="6035040" cy="201168"/>
          </a:xfrm>
          <a:prstGeom prst="rect">
            <a:avLst/>
          </a:prstGeom>
          <a:noFill/>
          <a:effectLst/>
        </p:spPr>
        <p:txBody>
          <a:bodyPr wrap="square" tIns="0" bIns="0" lIns="0" rIns="0">
            <a:spAutoFit/>
          </a:bodyPr>
          <a:lstStyle/>
          <a:p>
            <a:pPr>
              <a:spcBef>
                <a:spcPts val="0"/>
              </a:spcBef>
              <a:spcAft>
                <a:spcPts val="600"/>
              </a:spcAft>
              <a:defRPr sz="1100" b="0">
                <a:solidFill>
                  <a:srgbClr val="567168"/>
                </a:solidFill>
                <a:latin typeface="Nimbus Sans"/>
              </a:defRPr>
            </a:pPr>
            <a:r>
              <a:t>Potongan artikel / simulasi</a:t>
            </a:r>
          </a:p>
        </p:txBody>
      </p:sp>
      <p:sp>
        <p:nvSpPr>
          <p:cNvPr id="21" name="TextBox 20"/>
          <p:cNvSpPr txBox="1"/>
          <p:nvPr/>
        </p:nvSpPr>
        <p:spPr>
          <a:xfrm>
            <a:off x="868680" y="3273551"/>
            <a:ext cx="5806440" cy="438912"/>
          </a:xfrm>
          <a:prstGeom prst="rect">
            <a:avLst/>
          </a:prstGeom>
          <a:noFill/>
          <a:effectLst/>
        </p:spPr>
        <p:txBody>
          <a:bodyPr wrap="square" tIns="0" bIns="0" lIns="0" rIns="0">
            <a:spAutoFit/>
          </a:bodyPr>
          <a:lstStyle/>
          <a:p>
            <a:pPr>
              <a:spcBef>
                <a:spcPts val="0"/>
              </a:spcBef>
              <a:spcAft>
                <a:spcPts val="600"/>
              </a:spcAft>
              <a:defRPr sz="2300" b="1">
                <a:solidFill>
                  <a:srgbClr val="193E32"/>
                </a:solidFill>
                <a:latin typeface="Nimbus Sans"/>
              </a:defRPr>
            </a:pPr>
            <a:r>
              <a:t>Cara Membaca Label Produk Herbal</a:t>
            </a:r>
          </a:p>
        </p:txBody>
      </p:sp>
      <p:sp>
        <p:nvSpPr>
          <p:cNvPr id="22" name="TextBox 21"/>
          <p:cNvSpPr txBox="1"/>
          <p:nvPr/>
        </p:nvSpPr>
        <p:spPr>
          <a:xfrm>
            <a:off x="868680" y="3886199"/>
            <a:ext cx="5669280" cy="731520"/>
          </a:xfrm>
          <a:prstGeom prst="rect">
            <a:avLst/>
          </a:prstGeom>
          <a:noFill/>
          <a:effectLst/>
        </p:spPr>
        <p:txBody>
          <a:bodyPr wrap="square" tIns="0" bIns="0" lIns="0" rIns="0">
            <a:spAutoFit/>
          </a:bodyPr>
          <a:lstStyle/>
          <a:p>
            <a:pPr>
              <a:spcBef>
                <a:spcPts val="0"/>
              </a:spcBef>
              <a:spcAft>
                <a:spcPts val="600"/>
              </a:spcAft>
              <a:defRPr sz="1900" b="0">
                <a:solidFill>
                  <a:srgbClr val="567168"/>
                </a:solidFill>
                <a:latin typeface="Nimbus Sans"/>
              </a:defRPr>
            </a:pPr>
            <a:r>
              <a:t>Perhatikan komposisi dan petunjuk pada label.</a:t>
            </a:r>
          </a:p>
          <a:p>
            <a:pPr>
              <a:spcBef>
                <a:spcPts val="0"/>
              </a:spcBef>
              <a:spcAft>
                <a:spcPts val="600"/>
              </a:spcAft>
              <a:defRPr sz="1900" b="0">
                <a:solidFill>
                  <a:srgbClr val="567168"/>
                </a:solidFill>
                <a:latin typeface="Nimbus Sans"/>
              </a:defRPr>
            </a:pPr>
            <a:r>
              <a:t>Untuk contoh produk, buka halaman:</a:t>
            </a:r>
          </a:p>
        </p:txBody>
      </p:sp>
      <p:sp>
        <p:nvSpPr>
          <p:cNvPr id="23" name="TextBox 22"/>
          <p:cNvSpPr txBox="1"/>
          <p:nvPr/>
        </p:nvSpPr>
        <p:spPr>
          <a:xfrm>
            <a:off x="868680" y="4700016"/>
            <a:ext cx="5669280" cy="384048"/>
          </a:xfrm>
          <a:prstGeom prst="rect">
            <a:avLst/>
          </a:prstGeom>
          <a:noFill/>
          <a:effectLst/>
        </p:spPr>
        <p:txBody>
          <a:bodyPr wrap="square" tIns="0" bIns="0" lIns="0" rIns="0">
            <a:spAutoFit/>
          </a:bodyPr>
          <a:lstStyle/>
          <a:p>
            <a:pPr>
              <a:spcBef>
                <a:spcPts val="0"/>
              </a:spcBef>
              <a:spcAft>
                <a:spcPts val="600"/>
              </a:spcAft>
              <a:defRPr sz="2200" b="1">
                <a:solidFill>
                  <a:srgbClr val="247CA2"/>
                </a:solidFill>
                <a:latin typeface="Nimbus Sans"/>
              </a:defRPr>
            </a:pPr>
            <a:r>
              <a:t>Informasi Produk Laserin</a:t>
            </a:r>
          </a:p>
        </p:txBody>
      </p:sp>
      <p:cxnSp>
        <p:nvCxnSpPr>
          <p:cNvPr id="24" name="Connector 23"/>
          <p:cNvCxnSpPr/>
          <p:nvPr/>
        </p:nvCxnSpPr>
        <p:spPr>
          <a:xfrm>
            <a:off x="877824" y="5056632"/>
            <a:ext cx="3191256" cy="0"/>
          </a:xfrm>
          <a:prstGeom prst="line">
            <a:avLst/>
          </a:prstGeom>
          <a:ln w="12700">
            <a:solidFill>
              <a:srgbClr val="247CA2"/>
            </a:solidFill>
          </a:ln>
          <a:effectLst/>
        </p:spPr>
        <p:style>
          <a:lnRef idx="2">
            <a:schemeClr val="accent1"/>
          </a:lnRef>
          <a:fillRef idx="0">
            <a:schemeClr val="accent1"/>
          </a:fillRef>
          <a:effectRef idx="0">
            <a:schemeClr val="accent1"/>
          </a:effectRef>
          <a:fontRef idx="minor">
            <a:schemeClr val="tx1"/>
          </a:fontRef>
        </p:style>
      </p:cxnSp>
      <p:sp>
        <p:nvSpPr>
          <p:cNvPr id="25" name="Rounded Rectangle 24"/>
          <p:cNvSpPr/>
          <p:nvPr/>
        </p:nvSpPr>
        <p:spPr>
          <a:xfrm>
            <a:off x="7534656" y="2953512"/>
            <a:ext cx="4014215" cy="2039112"/>
          </a:xfrm>
          <a:prstGeom prst="roundRect">
            <a:avLst>
              <a:gd name="adj" fmla="val 3500"/>
            </a:avLst>
          </a:prstGeom>
          <a:solidFill>
            <a:srgbClr val="E4EE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7804403" y="3200400"/>
            <a:ext cx="3474720" cy="237744"/>
          </a:xfrm>
          <a:prstGeom prst="rect">
            <a:avLst/>
          </a:prstGeom>
          <a:noFill/>
          <a:effectLst/>
        </p:spPr>
        <p:txBody>
          <a:bodyPr wrap="square" tIns="0" bIns="0" lIns="0" rIns="0">
            <a:spAutoFit/>
          </a:bodyPr>
          <a:lstStyle/>
          <a:p>
            <a:pPr algn="ctr">
              <a:spcBef>
                <a:spcPts val="0"/>
              </a:spcBef>
              <a:spcAft>
                <a:spcPts val="600"/>
              </a:spcAft>
              <a:defRPr sz="1000" b="1">
                <a:solidFill>
                  <a:srgbClr val="17613F"/>
                </a:solidFill>
                <a:latin typeface="Nimbus Sans"/>
              </a:defRPr>
            </a:pPr>
            <a:r>
              <a:t>TUJUAN TAUTAN</a:t>
            </a:r>
          </a:p>
        </p:txBody>
      </p:sp>
      <p:sp>
        <p:nvSpPr>
          <p:cNvPr id="27" name="TextBox 26"/>
          <p:cNvSpPr txBox="1"/>
          <p:nvPr/>
        </p:nvSpPr>
        <p:spPr>
          <a:xfrm>
            <a:off x="7804403" y="3694176"/>
            <a:ext cx="3474720" cy="822960"/>
          </a:xfrm>
          <a:prstGeom prst="rect">
            <a:avLst/>
          </a:prstGeom>
          <a:noFill/>
          <a:effectLst/>
        </p:spPr>
        <p:txBody>
          <a:bodyPr wrap="square" tIns="0" bIns="0" lIns="0" rIns="0">
            <a:spAutoFit/>
          </a:bodyPr>
          <a:lstStyle/>
          <a:p>
            <a:pPr algn="ctr">
              <a:spcBef>
                <a:spcPts val="0"/>
              </a:spcBef>
              <a:spcAft>
                <a:spcPts val="600"/>
              </a:spcAft>
              <a:defRPr sz="2700" b="1">
                <a:solidFill>
                  <a:srgbClr val="17613F"/>
                </a:solidFill>
                <a:latin typeface="Nimbus Sans"/>
              </a:defRPr>
            </a:pPr>
            <a:r>
              <a:t>Halaman produk</a:t>
            </a:r>
          </a:p>
          <a:p>
            <a:pPr algn="ctr">
              <a:spcBef>
                <a:spcPts val="0"/>
              </a:spcBef>
              <a:spcAft>
                <a:spcPts val="600"/>
              </a:spcAft>
              <a:defRPr sz="2700" b="1">
                <a:solidFill>
                  <a:srgbClr val="17613F"/>
                </a:solidFill>
                <a:latin typeface="Nimbus Sans"/>
              </a:defRPr>
            </a:pPr>
            <a:r>
              <a:t>Laserin</a:t>
            </a:r>
          </a:p>
        </p:txBody>
      </p:sp>
      <p:sp>
        <p:nvSpPr>
          <p:cNvPr id="29" name="Rounded Rectangle 28"/>
          <p:cNvSpPr/>
          <p:nvPr/>
        </p:nvSpPr>
        <p:spPr>
          <a:xfrm>
            <a:off x="594360" y="5833872"/>
            <a:ext cx="10972800" cy="484632"/>
          </a:xfrm>
          <a:prstGeom prst="roundRect">
            <a:avLst>
              <a:gd name="adj" fmla="val 3500"/>
            </a:avLst>
          </a:prstGeom>
          <a:solidFill>
            <a:srgbClr val="E4EE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777240" y="5943600"/>
            <a:ext cx="10607040" cy="283464"/>
          </a:xfrm>
          <a:prstGeom prst="rect">
            <a:avLst/>
          </a:prstGeom>
          <a:noFill/>
          <a:effectLst/>
        </p:spPr>
        <p:txBody>
          <a:bodyPr wrap="square" tIns="0" bIns="0" lIns="0" rIns="0">
            <a:spAutoFit/>
          </a:bodyPr>
          <a:lstStyle/>
          <a:p>
            <a:pPr>
              <a:spcBef>
                <a:spcPts val="0"/>
              </a:spcBef>
              <a:spcAft>
                <a:spcPts val="400"/>
              </a:spcAft>
              <a:defRPr sz="1200" b="0">
                <a:solidFill>
                  <a:srgbClr val="17613F"/>
                </a:solidFill>
                <a:latin typeface="Nimbus Sans"/>
              </a:defRPr>
            </a:pPr>
            <a:r>
              <a:rPr sz="1200"/>
              <a:t>Gunakan link HTML dengan teks yang menjelaskan tujuannya. Tautkan ke produk hanya jika sesuai dengan isi artikel.</a:t>
            </a:r>
          </a:p>
        </p:txBody>
      </p:sp>
      <p:cxnSp>
        <p:nvCxnSpPr>
          <p:cNvPr id="33" name="Connector 32"/>
          <p:cNvCxnSpPr/>
          <p:nvPr/>
        </p:nvCxnSpPr>
        <p:spPr>
          <a:xfrm>
            <a:off x="7077456" y="3995928"/>
            <a:ext cx="356616" cy="0"/>
          </a:xfrm>
          <a:prstGeom prst="line">
            <a:avLst/>
          </a:prstGeom>
          <a:ln w="22860">
            <a:solidFill>
              <a:srgbClr val="17613F"/>
            </a:solidFill>
            <a:tailEnd type="triangle"/>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8F3"/>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1761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502920" y="210312"/>
            <a:ext cx="2395728" cy="448056"/>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5"/>
          <a:stretch>
            <a:fillRect/>
          </a:stretch>
        </p:blipFill>
        <p:spPr>
          <a:xfrm>
            <a:off x="603504" y="323088"/>
            <a:ext cx="585216" cy="195072"/>
          </a:xfrm>
          <a:prstGeom prst="rect">
            <a:avLst/>
          </a:prstGeom>
          <a:effectLst/>
        </p:spPr>
      </p:pic>
      <p:sp>
        <p:nvSpPr>
          <p:cNvPr id="5" name="TextBox 4"/>
          <p:cNvSpPr txBox="1"/>
          <p:nvPr/>
        </p:nvSpPr>
        <p:spPr>
          <a:xfrm>
            <a:off x="1271016" y="283464"/>
            <a:ext cx="164592" cy="228600"/>
          </a:xfrm>
          <a:prstGeom prst="rect">
            <a:avLst/>
          </a:prstGeom>
          <a:noFill/>
          <a:effectLst/>
        </p:spPr>
        <p:txBody>
          <a:bodyPr wrap="square" tIns="0" bIns="0" lIns="0" rIns="0">
            <a:spAutoFit/>
          </a:bodyPr>
          <a:lstStyle/>
          <a:p>
            <a:pPr>
              <a:spcBef>
                <a:spcPts val="0"/>
              </a:spcBef>
              <a:spcAft>
                <a:spcPts val="600"/>
              </a:spcAft>
              <a:defRPr sz="1200" b="0">
                <a:solidFill>
                  <a:srgbClr val="567168"/>
                </a:solidFill>
                <a:latin typeface="Nimbus Sans"/>
              </a:defRPr>
            </a:pPr>
            <a:r>
              <a:t>×</a:t>
            </a:r>
          </a:p>
        </p:txBody>
      </p:sp>
      <p:pic>
        <p:nvPicPr>
          <p:cNvPr id="33" name="Picture 32" descr="image.png"/>
          <p:cNvPicPr>
            <a:picLocks noChangeAspect="1"/>
          </p:cNvPicPr>
          <p:nvPr/>
        </p:nvPicPr>
        <p:blipFill>
          <a:blip r:embed="rId6"/>
          <a:stretch>
            <a:fillRect/>
          </a:stretch>
        </p:blipFill>
        <p:spPr>
          <a:xfrm>
            <a:off x="1536192" y="334792"/>
            <a:ext cx="1243584" cy="153375"/>
          </a:xfrm>
          <a:prstGeom prst="rect">
            <a:avLst/>
          </a:prstGeom>
          <a:effectLst/>
        </p:spPr>
      </p:pic>
      <p:sp>
        <p:nvSpPr>
          <p:cNvPr id="7" name="TextBox 6"/>
          <p:cNvSpPr txBox="1"/>
          <p:nvPr/>
        </p:nvSpPr>
        <p:spPr>
          <a:xfrm>
            <a:off x="5486400" y="356616"/>
            <a:ext cx="6062472" cy="237744"/>
          </a:xfrm>
          <a:prstGeom prst="rect">
            <a:avLst/>
          </a:prstGeom>
          <a:noFill/>
          <a:effectLst/>
        </p:spPr>
        <p:txBody>
          <a:bodyPr wrap="square" tIns="0" bIns="0" lIns="0" rIns="0">
            <a:spAutoFit/>
          </a:bodyPr>
          <a:lstStyle/>
          <a:p>
            <a:pPr algn="r">
              <a:spcBef>
                <a:spcPts val="0"/>
              </a:spcBef>
              <a:spcAft>
                <a:spcPts val="600"/>
              </a:spcAft>
              <a:defRPr sz="1000" b="1">
                <a:solidFill>
                  <a:srgbClr val="17613F"/>
                </a:solidFill>
                <a:latin typeface="Nimbus Sans"/>
              </a:defRPr>
            </a:pPr>
            <a:r>
              <a:t>04 / ON-PAGE: PRODUKSI &amp; OPTIMASI</a:t>
            </a:r>
          </a:p>
        </p:txBody>
      </p:sp>
      <p:sp>
        <p:nvSpPr>
          <p:cNvPr id="8" name="TextBox 7"/>
          <p:cNvSpPr txBox="1"/>
          <p:nvPr/>
        </p:nvSpPr>
        <p:spPr>
          <a:xfrm>
            <a:off x="594360" y="960120"/>
            <a:ext cx="10972800" cy="822960"/>
          </a:xfrm>
          <a:prstGeom prst="rect">
            <a:avLst/>
          </a:prstGeom>
          <a:noFill/>
          <a:effectLst/>
        </p:spPr>
        <p:txBody>
          <a:bodyPr wrap="square" tIns="0" bIns="0" lIns="0" rIns="0">
            <a:spAutoFit/>
          </a:bodyPr>
          <a:lstStyle/>
          <a:p>
            <a:pPr>
              <a:spcBef>
                <a:spcPts val="0"/>
              </a:spcBef>
              <a:spcAft>
                <a:spcPts val="400"/>
              </a:spcAft>
              <a:defRPr sz="3100" b="1">
                <a:solidFill>
                  <a:srgbClr val="193E32"/>
                </a:solidFill>
                <a:latin typeface="Nimbus Sans"/>
              </a:defRPr>
            </a:pPr>
            <a:r>
              <a:rPr sz="3100"/>
              <a:t>Periksa dan setujui konten sebelum tayang</a:t>
            </a:r>
          </a:p>
        </p:txBody>
      </p:sp>
      <p:sp>
        <p:nvSpPr>
          <p:cNvPr id="9" name="TextBox 8"/>
          <p:cNvSpPr txBox="1"/>
          <p:nvPr/>
        </p:nvSpPr>
        <p:spPr>
          <a:xfrm>
            <a:off x="594360" y="1792224"/>
            <a:ext cx="10972800" cy="594360"/>
          </a:xfrm>
          <a:prstGeom prst="rect">
            <a:avLst/>
          </a:prstGeom>
          <a:noFill/>
          <a:effectLst/>
        </p:spPr>
        <p:txBody>
          <a:bodyPr wrap="square" tIns="0" bIns="0" lIns="0" rIns="0">
            <a:spAutoFit/>
          </a:bodyPr>
          <a:lstStyle/>
          <a:p>
            <a:pPr>
              <a:spcBef>
                <a:spcPts val="0"/>
              </a:spcBef>
              <a:spcAft>
                <a:spcPts val="400"/>
              </a:spcAft>
              <a:defRPr sz="1700" b="0">
                <a:solidFill>
                  <a:srgbClr val="567168"/>
                </a:solidFill>
                <a:latin typeface="Nimbus Sans"/>
              </a:defRPr>
            </a:pPr>
            <a:r>
              <a:rPr sz="1700"/>
              <a:t>Konten yang selesai ditulis masih perlu diperiksa dan disetujui.</a:t>
            </a:r>
          </a:p>
        </p:txBody>
      </p:sp>
      <p:sp>
        <p:nvSpPr>
          <p:cNvPr id="10" name="TextBox 9"/>
          <p:cNvSpPr txBox="1"/>
          <p:nvPr/>
        </p:nvSpPr>
        <p:spPr>
          <a:xfrm>
            <a:off x="594360" y="6437376"/>
            <a:ext cx="10287000" cy="219456"/>
          </a:xfrm>
          <a:prstGeom prst="rect">
            <a:avLst/>
          </a:prstGeom>
          <a:noFill/>
          <a:effectLst/>
        </p:spPr>
        <p:txBody>
          <a:bodyPr wrap="square" tIns="0" bIns="0" lIns="0" rIns="0">
            <a:spAutoFit/>
          </a:bodyPr>
          <a:lstStyle/>
          <a:p>
            <a:pPr>
              <a:spcBef>
                <a:spcPts val="0"/>
              </a:spcBef>
              <a:spcAft>
                <a:spcPts val="400"/>
              </a:spcAft>
              <a:defRPr sz="900" b="0">
                <a:solidFill>
                  <a:srgbClr val="567168"/>
                </a:solidFill>
                <a:latin typeface="Nimbus Sans"/>
              </a:defRPr>
            </a:pPr>
            <a:r>
              <a:rPr sz="900"/>
              <a:t>Informasi dan klaim produk perlu persetujuan Mecosin. Pemeriksaan medis/hukum profesional di luar paket.</a:t>
            </a:r>
          </a:p>
        </p:txBody>
      </p:sp>
      <p:sp>
        <p:nvSpPr>
          <p:cNvPr id="11" name="TextBox 10"/>
          <p:cNvSpPr txBox="1"/>
          <p:nvPr/>
        </p:nvSpPr>
        <p:spPr>
          <a:xfrm>
            <a:off x="11091672" y="6391656"/>
            <a:ext cx="457200" cy="256032"/>
          </a:xfrm>
          <a:prstGeom prst="rect">
            <a:avLst/>
          </a:prstGeom>
          <a:noFill/>
          <a:effectLst/>
        </p:spPr>
        <p:txBody>
          <a:bodyPr wrap="square" tIns="0" bIns="0" lIns="0" rIns="0">
            <a:spAutoFit/>
          </a:bodyPr>
          <a:lstStyle/>
          <a:p>
            <a:pPr>
              <a:spcBef>
                <a:spcPts val="0"/>
              </a:spcBef>
              <a:spcAft>
                <a:spcPts val="600"/>
              </a:spcAft>
              <a:defRPr sz="1200" b="1">
                <a:solidFill>
                  <a:srgbClr val="17613F"/>
                </a:solidFill>
                <a:latin typeface="Nimbus Sans"/>
              </a:defRPr>
            </a:pPr>
            <a:r>
              <a:t>21</a:t>
            </a:r>
          </a:p>
        </p:txBody>
      </p:sp>
      <p:sp>
        <p:nvSpPr>
          <p:cNvPr id="12" name="Rectangle 11"/>
          <p:cNvSpPr/>
          <p:nvPr/>
        </p:nvSpPr>
        <p:spPr>
          <a:xfrm>
            <a:off x="566928"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2432304"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297680"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163056" y="6739128"/>
            <a:ext cx="1755648" cy="32004"/>
          </a:xfrm>
          <a:prstGeom prst="rect">
            <a:avLst/>
          </a:prstGeom>
          <a:solidFill>
            <a:srgbClr val="D2AB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8028431"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893807"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594360" y="5833872"/>
            <a:ext cx="10972800" cy="484632"/>
          </a:xfrm>
          <a:prstGeom prst="roundRect">
            <a:avLst>
              <a:gd name="adj" fmla="val 3500"/>
            </a:avLst>
          </a:prstGeom>
          <a:solidFill>
            <a:srgbClr val="E4EE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777240" y="5943600"/>
            <a:ext cx="10607040" cy="283464"/>
          </a:xfrm>
          <a:prstGeom prst="rect">
            <a:avLst/>
          </a:prstGeom>
          <a:noFill/>
          <a:effectLst/>
        </p:spPr>
        <p:txBody>
          <a:bodyPr wrap="square" tIns="0" bIns="0" lIns="0" rIns="0">
            <a:spAutoFit/>
          </a:bodyPr>
          <a:lstStyle/>
          <a:p>
            <a:pPr>
              <a:spcBef>
                <a:spcPts val="0"/>
              </a:spcBef>
              <a:spcAft>
                <a:spcPts val="400"/>
              </a:spcAft>
              <a:defRPr sz="1200" b="0">
                <a:solidFill>
                  <a:srgbClr val="17613F"/>
                </a:solidFill>
                <a:latin typeface="Nimbus Sans"/>
              </a:defRPr>
            </a:pPr>
            <a:r>
              <a:rPr sz="1200"/>
              <a:t>Contoh: koreksi petunjuk penyimpanan sesuai label resmi sebelum artikel mendapat persetujuan.</a:t>
            </a:r>
          </a:p>
        </p:txBody>
      </p:sp>
      <p:sp>
        <p:nvSpPr>
          <p:cNvPr id="34" name="Oval 33"/>
          <p:cNvSpPr/>
          <p:nvPr/>
        </p:nvSpPr>
        <p:spPr>
          <a:xfrm>
            <a:off x="914400" y="2670048"/>
            <a:ext cx="356616" cy="356616"/>
          </a:xfrm>
          <a:prstGeom prst="ellips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2729484"/>
            <a:ext cx="356616" cy="210312"/>
          </a:xfrm>
          <a:prstGeom prst="rect">
            <a:avLst/>
          </a:prstGeom>
          <a:noFill/>
        </p:spPr>
        <p:txBody>
          <a:bodyPr wrap="square" lIns="0" rIns="0" tIns="0" bIns="0">
            <a:spAutoFit/>
          </a:bodyPr>
          <a:lstStyle/>
          <a:p>
            <a:pPr algn="ctr">
              <a:spcAft>
                <a:spcPts val="0"/>
              </a:spcAft>
            </a:pPr>
            <a:r>
              <a:rPr sz="1200" b="1">
                <a:solidFill>
                  <a:srgbClr val="FFFFFF"/>
                </a:solidFill>
                <a:latin typeface="Nimbus Sans"/>
              </a:rPr>
              <a:t>01</a:t>
            </a:r>
          </a:p>
        </p:txBody>
      </p:sp>
      <p:sp>
        <p:nvSpPr>
          <p:cNvPr id="36" name="Rectangle 35"/>
          <p:cNvSpPr/>
          <p:nvPr/>
        </p:nvSpPr>
        <p:spPr>
          <a:xfrm>
            <a:off x="1508760" y="3154680"/>
            <a:ext cx="960120" cy="1170432"/>
          </a:xfrm>
          <a:prstGeom prst="rect">
            <a:avLst/>
          </a:prstGeom>
          <a:solidFill>
            <a:srgbClr val="FFFFFF"/>
          </a:solidFill>
          <a:ln w="2032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508760" y="3154680"/>
            <a:ext cx="960120" cy="137160"/>
          </a:xfrm>
          <a:prstGeom prst="rect">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1636776" y="3474720"/>
            <a:ext cx="515264"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636776" y="3648456"/>
            <a:ext cx="515264"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636776" y="3822191"/>
            <a:ext cx="304038"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2148840" y="3749039"/>
            <a:ext cx="438912" cy="438912"/>
          </a:xfrm>
          <a:prstGeom prst="ellipse">
            <a:avLst/>
          </a:prstGeom>
          <a:noFill/>
          <a:ln w="3048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2513136" y="4113336"/>
            <a:ext cx="206289" cy="206289"/>
          </a:xfrm>
          <a:prstGeom prst="line">
            <a:avLst/>
          </a:prstGeom>
          <a:ln w="38100">
            <a:solidFill>
              <a:srgbClr val="17613F"/>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822960" y="4434840"/>
            <a:ext cx="3108960" cy="594360"/>
          </a:xfrm>
          <a:prstGeom prst="rect">
            <a:avLst/>
          </a:prstGeom>
          <a:noFill/>
        </p:spPr>
        <p:txBody>
          <a:bodyPr wrap="square" lIns="0" rIns="0" tIns="0" bIns="0">
            <a:spAutoFit/>
          </a:bodyPr>
          <a:lstStyle/>
          <a:p>
            <a:pPr algn="l">
              <a:spcAft>
                <a:spcPts val="0"/>
              </a:spcAft>
            </a:pPr>
            <a:r>
              <a:rPr sz="2200" b="1">
                <a:solidFill>
                  <a:srgbClr val="17613F"/>
                </a:solidFill>
                <a:latin typeface="Nimbus Sans"/>
              </a:rPr>
              <a:t>Periksa konten</a:t>
            </a:r>
          </a:p>
        </p:txBody>
      </p:sp>
      <p:sp>
        <p:nvSpPr>
          <p:cNvPr id="44" name="TextBox 43"/>
          <p:cNvSpPr txBox="1"/>
          <p:nvPr/>
        </p:nvSpPr>
        <p:spPr>
          <a:xfrm>
            <a:off x="822960" y="5102352"/>
            <a:ext cx="3108960" cy="493776"/>
          </a:xfrm>
          <a:prstGeom prst="rect">
            <a:avLst/>
          </a:prstGeom>
          <a:noFill/>
        </p:spPr>
        <p:txBody>
          <a:bodyPr wrap="square" lIns="0" rIns="0" tIns="0" bIns="0">
            <a:spAutoFit/>
          </a:bodyPr>
          <a:lstStyle/>
          <a:p>
            <a:pPr algn="l">
              <a:spcAft>
                <a:spcPts val="0"/>
              </a:spcAft>
            </a:pPr>
            <a:r>
              <a:rPr sz="1600" b="0">
                <a:solidFill>
                  <a:srgbClr val="567168"/>
                </a:solidFill>
                <a:latin typeface="Nimbus Sans"/>
              </a:rPr>
              <a:t>Isi, metadata, gambar, tautan,</a:t>
            </a:r>
          </a:p>
          <a:p>
            <a:pPr algn="l">
              <a:spcAft>
                <a:spcPts val="0"/>
              </a:spcAft>
            </a:pPr>
            <a:r>
              <a:rPr sz="1600" b="0">
                <a:solidFill>
                  <a:srgbClr val="567168"/>
                </a:solidFill>
                <a:latin typeface="Nimbus Sans"/>
              </a:rPr>
              <a:t>dan tampilan di ponsel.</a:t>
            </a:r>
          </a:p>
        </p:txBody>
      </p:sp>
      <p:cxnSp>
        <p:nvCxnSpPr>
          <p:cNvPr id="45" name="Connector 44"/>
          <p:cNvCxnSpPr/>
          <p:nvPr/>
        </p:nvCxnSpPr>
        <p:spPr>
          <a:xfrm>
            <a:off x="3383280" y="3794760"/>
            <a:ext cx="868680" cy="0"/>
          </a:xfrm>
          <a:prstGeom prst="line">
            <a:avLst/>
          </a:prstGeom>
          <a:ln w="38100">
            <a:solidFill>
              <a:srgbClr val="D2AB62"/>
            </a:solidFill>
            <a:tailEnd type="triangle"/>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4663440" y="2670048"/>
            <a:ext cx="356616" cy="356616"/>
          </a:xfrm>
          <a:prstGeom prst="ellips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663440" y="2729484"/>
            <a:ext cx="356616" cy="210312"/>
          </a:xfrm>
          <a:prstGeom prst="rect">
            <a:avLst/>
          </a:prstGeom>
          <a:noFill/>
        </p:spPr>
        <p:txBody>
          <a:bodyPr wrap="square" lIns="0" rIns="0" tIns="0" bIns="0">
            <a:spAutoFit/>
          </a:bodyPr>
          <a:lstStyle/>
          <a:p>
            <a:pPr algn="ctr">
              <a:spcAft>
                <a:spcPts val="0"/>
              </a:spcAft>
            </a:pPr>
            <a:r>
              <a:rPr sz="1200" b="1">
                <a:solidFill>
                  <a:srgbClr val="FFFFFF"/>
                </a:solidFill>
                <a:latin typeface="Nimbus Sans"/>
              </a:rPr>
              <a:t>02</a:t>
            </a:r>
          </a:p>
        </p:txBody>
      </p:sp>
      <p:sp>
        <p:nvSpPr>
          <p:cNvPr id="48" name="Rectangle 47"/>
          <p:cNvSpPr/>
          <p:nvPr/>
        </p:nvSpPr>
        <p:spPr>
          <a:xfrm>
            <a:off x="5257800" y="3154680"/>
            <a:ext cx="960120" cy="1170432"/>
          </a:xfrm>
          <a:prstGeom prst="rect">
            <a:avLst/>
          </a:prstGeom>
          <a:solidFill>
            <a:srgbClr val="FFFFFF"/>
          </a:solidFill>
          <a:ln w="2032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257800" y="3154680"/>
            <a:ext cx="960120" cy="137160"/>
          </a:xfrm>
          <a:prstGeom prst="rect">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0" name="Connector 49"/>
          <p:cNvCxnSpPr/>
          <p:nvPr/>
        </p:nvCxnSpPr>
        <p:spPr>
          <a:xfrm>
            <a:off x="5385816" y="3474720"/>
            <a:ext cx="515264"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385816" y="3648456"/>
            <a:ext cx="515264"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5385816" y="3822191"/>
            <a:ext cx="304038"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5897879" y="3941063"/>
            <a:ext cx="137161" cy="137161"/>
          </a:xfrm>
          <a:prstGeom prst="line">
            <a:avLst/>
          </a:prstGeom>
          <a:ln w="3810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6035040" y="3776472"/>
            <a:ext cx="301752" cy="301752"/>
          </a:xfrm>
          <a:prstGeom prst="line">
            <a:avLst/>
          </a:prstGeom>
          <a:ln w="38100">
            <a:solidFill>
              <a:srgbClr val="17613F"/>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4572000" y="4434840"/>
            <a:ext cx="3108960" cy="594360"/>
          </a:xfrm>
          <a:prstGeom prst="rect">
            <a:avLst/>
          </a:prstGeom>
          <a:noFill/>
        </p:spPr>
        <p:txBody>
          <a:bodyPr wrap="square" lIns="0" rIns="0" tIns="0" bIns="0">
            <a:spAutoFit/>
          </a:bodyPr>
          <a:lstStyle/>
          <a:p>
            <a:pPr algn="l">
              <a:spcAft>
                <a:spcPts val="0"/>
              </a:spcAft>
            </a:pPr>
            <a:r>
              <a:rPr sz="2200" b="1">
                <a:solidFill>
                  <a:srgbClr val="17613F"/>
                </a:solidFill>
                <a:latin typeface="Nimbus Sans"/>
              </a:rPr>
              <a:t>Persetujuan Mecosin</a:t>
            </a:r>
          </a:p>
        </p:txBody>
      </p:sp>
      <p:sp>
        <p:nvSpPr>
          <p:cNvPr id="56" name="TextBox 55"/>
          <p:cNvSpPr txBox="1"/>
          <p:nvPr/>
        </p:nvSpPr>
        <p:spPr>
          <a:xfrm>
            <a:off x="4572000" y="5102352"/>
            <a:ext cx="3108960" cy="493776"/>
          </a:xfrm>
          <a:prstGeom prst="rect">
            <a:avLst/>
          </a:prstGeom>
          <a:noFill/>
        </p:spPr>
        <p:txBody>
          <a:bodyPr wrap="square" lIns="0" rIns="0" tIns="0" bIns="0">
            <a:spAutoFit/>
          </a:bodyPr>
          <a:lstStyle/>
          <a:p>
            <a:pPr algn="l">
              <a:spcAft>
                <a:spcPts val="0"/>
              </a:spcAft>
            </a:pPr>
            <a:r>
              <a:rPr sz="1600" b="0">
                <a:solidFill>
                  <a:srgbClr val="567168"/>
                </a:solidFill>
                <a:latin typeface="Nimbus Sans"/>
              </a:rPr>
              <a:t>Periksa info produk</a:t>
            </a:r>
          </a:p>
          <a:p>
            <a:pPr algn="l">
              <a:spcAft>
                <a:spcPts val="0"/>
              </a:spcAft>
            </a:pPr>
            <a:r>
              <a:rPr sz="1600" b="0">
                <a:solidFill>
                  <a:srgbClr val="567168"/>
                </a:solidFill>
                <a:latin typeface="Nimbus Sans"/>
              </a:rPr>
              <a:t>berdasarkan materi resmi.</a:t>
            </a:r>
          </a:p>
        </p:txBody>
      </p:sp>
      <p:cxnSp>
        <p:nvCxnSpPr>
          <p:cNvPr id="57" name="Connector 56"/>
          <p:cNvCxnSpPr/>
          <p:nvPr/>
        </p:nvCxnSpPr>
        <p:spPr>
          <a:xfrm>
            <a:off x="7132320" y="3794760"/>
            <a:ext cx="868680" cy="0"/>
          </a:xfrm>
          <a:prstGeom prst="line">
            <a:avLst/>
          </a:prstGeom>
          <a:ln w="38100">
            <a:solidFill>
              <a:srgbClr val="D2AB62"/>
            </a:solidFill>
            <a:tailEnd type="triangle"/>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8412480" y="2670048"/>
            <a:ext cx="356616" cy="356616"/>
          </a:xfrm>
          <a:prstGeom prst="ellips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12480" y="2729484"/>
            <a:ext cx="356616" cy="210312"/>
          </a:xfrm>
          <a:prstGeom prst="rect">
            <a:avLst/>
          </a:prstGeom>
          <a:noFill/>
        </p:spPr>
        <p:txBody>
          <a:bodyPr wrap="square" lIns="0" rIns="0" tIns="0" bIns="0">
            <a:spAutoFit/>
          </a:bodyPr>
          <a:lstStyle/>
          <a:p>
            <a:pPr algn="ctr">
              <a:spcAft>
                <a:spcPts val="0"/>
              </a:spcAft>
            </a:pPr>
            <a:r>
              <a:rPr sz="1200" b="1">
                <a:solidFill>
                  <a:srgbClr val="FFFFFF"/>
                </a:solidFill>
                <a:latin typeface="Nimbus Sans"/>
              </a:rPr>
              <a:t>03</a:t>
            </a:r>
          </a:p>
        </p:txBody>
      </p:sp>
      <p:sp>
        <p:nvSpPr>
          <p:cNvPr id="60" name="Rectangle 59"/>
          <p:cNvSpPr/>
          <p:nvPr/>
        </p:nvSpPr>
        <p:spPr>
          <a:xfrm>
            <a:off x="8641080" y="3227832"/>
            <a:ext cx="1828800" cy="1143000"/>
          </a:xfrm>
          <a:prstGeom prst="rect">
            <a:avLst/>
          </a:prstGeom>
          <a:solidFill>
            <a:srgbClr val="FFFFFF"/>
          </a:solidFill>
          <a:ln w="2032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1" name="Connector 60"/>
          <p:cNvCxnSpPr/>
          <p:nvPr/>
        </p:nvCxnSpPr>
        <p:spPr>
          <a:xfrm>
            <a:off x="8641080" y="3438144"/>
            <a:ext cx="1828800" cy="0"/>
          </a:xfrm>
          <a:prstGeom prst="line">
            <a:avLst/>
          </a:prstGeom>
          <a:ln w="12700">
            <a:solidFill>
              <a:srgbClr val="17613F"/>
            </a:solidFill>
          </a:ln>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8750807" y="3300984"/>
            <a:ext cx="41148" cy="41148"/>
          </a:xfrm>
          <a:prstGeom prst="ellips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8869680" y="3300984"/>
            <a:ext cx="41148" cy="41148"/>
          </a:xfrm>
          <a:prstGeom prst="ellips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8988552" y="3300984"/>
            <a:ext cx="41148" cy="41148"/>
          </a:xfrm>
          <a:prstGeom prst="ellips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Connector 64"/>
          <p:cNvCxnSpPr/>
          <p:nvPr/>
        </p:nvCxnSpPr>
        <p:spPr>
          <a:xfrm>
            <a:off x="9829800" y="3913631"/>
            <a:ext cx="137160" cy="137160"/>
          </a:xfrm>
          <a:prstGeom prst="line">
            <a:avLst/>
          </a:prstGeom>
          <a:ln w="3810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9966960" y="3749039"/>
            <a:ext cx="301752" cy="301752"/>
          </a:xfrm>
          <a:prstGeom prst="line">
            <a:avLst/>
          </a:prstGeom>
          <a:ln w="38100">
            <a:solidFill>
              <a:srgbClr val="17613F"/>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8321040" y="4434840"/>
            <a:ext cx="3108960" cy="594360"/>
          </a:xfrm>
          <a:prstGeom prst="rect">
            <a:avLst/>
          </a:prstGeom>
          <a:noFill/>
        </p:spPr>
        <p:txBody>
          <a:bodyPr wrap="square" lIns="0" rIns="0" tIns="0" bIns="0">
            <a:spAutoFit/>
          </a:bodyPr>
          <a:lstStyle/>
          <a:p>
            <a:pPr algn="l">
              <a:spcAft>
                <a:spcPts val="0"/>
              </a:spcAft>
            </a:pPr>
            <a:r>
              <a:rPr sz="2200" b="1">
                <a:solidFill>
                  <a:srgbClr val="17613F"/>
                </a:solidFill>
                <a:latin typeface="Nimbus Sans"/>
              </a:rPr>
              <a:t>Publikasi</a:t>
            </a:r>
          </a:p>
        </p:txBody>
      </p:sp>
      <p:sp>
        <p:nvSpPr>
          <p:cNvPr id="68" name="TextBox 67"/>
          <p:cNvSpPr txBox="1"/>
          <p:nvPr/>
        </p:nvSpPr>
        <p:spPr>
          <a:xfrm>
            <a:off x="8321040" y="5102352"/>
            <a:ext cx="3108960" cy="493776"/>
          </a:xfrm>
          <a:prstGeom prst="rect">
            <a:avLst/>
          </a:prstGeom>
          <a:noFill/>
        </p:spPr>
        <p:txBody>
          <a:bodyPr wrap="square" lIns="0" rIns="0" tIns="0" bIns="0">
            <a:spAutoFit/>
          </a:bodyPr>
          <a:lstStyle/>
          <a:p>
            <a:pPr algn="l">
              <a:spcAft>
                <a:spcPts val="0"/>
              </a:spcAft>
            </a:pPr>
            <a:r>
              <a:rPr sz="1600" b="0">
                <a:solidFill>
                  <a:srgbClr val="567168"/>
                </a:solidFill>
                <a:latin typeface="Nimbus Sans"/>
              </a:rPr>
              <a:t>Tayangkan versi disetujui,</a:t>
            </a:r>
          </a:p>
          <a:p>
            <a:pPr algn="l">
              <a:spcAft>
                <a:spcPts val="0"/>
              </a:spcAft>
            </a:pPr>
            <a:r>
              <a:rPr sz="1600" b="0">
                <a:solidFill>
                  <a:srgbClr val="567168"/>
                </a:solidFill>
                <a:latin typeface="Nimbus Sans"/>
              </a:rPr>
              <a:t>lalu periksa di website.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7613F"/>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D2AB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502920" y="210312"/>
            <a:ext cx="2395728" cy="448056"/>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6" name="Picture 35" descr="image.png"/>
          <p:cNvPicPr>
            <a:picLocks noChangeAspect="1"/>
          </p:cNvPicPr>
          <p:nvPr/>
        </p:nvPicPr>
        <p:blipFill>
          <a:blip r:embed="rId5"/>
          <a:stretch>
            <a:fillRect/>
          </a:stretch>
        </p:blipFill>
        <p:spPr>
          <a:xfrm>
            <a:off x="603504" y="323088"/>
            <a:ext cx="585216" cy="195072"/>
          </a:xfrm>
          <a:prstGeom prst="rect">
            <a:avLst/>
          </a:prstGeom>
          <a:effectLst/>
        </p:spPr>
      </p:pic>
      <p:sp>
        <p:nvSpPr>
          <p:cNvPr id="5" name="TextBox 4"/>
          <p:cNvSpPr txBox="1"/>
          <p:nvPr/>
        </p:nvSpPr>
        <p:spPr>
          <a:xfrm>
            <a:off x="1271016" y="283464"/>
            <a:ext cx="164592" cy="228600"/>
          </a:xfrm>
          <a:prstGeom prst="rect">
            <a:avLst/>
          </a:prstGeom>
          <a:noFill/>
          <a:effectLst/>
        </p:spPr>
        <p:txBody>
          <a:bodyPr wrap="square" tIns="0" bIns="0" lIns="0" rIns="0">
            <a:spAutoFit/>
          </a:bodyPr>
          <a:lstStyle/>
          <a:p>
            <a:pPr>
              <a:spcBef>
                <a:spcPts val="0"/>
              </a:spcBef>
              <a:spcAft>
                <a:spcPts val="600"/>
              </a:spcAft>
              <a:defRPr sz="1200" b="0">
                <a:solidFill>
                  <a:srgbClr val="567168"/>
                </a:solidFill>
                <a:latin typeface="Nimbus Sans"/>
              </a:defRPr>
            </a:pPr>
            <a:r>
              <a:t>×</a:t>
            </a:r>
          </a:p>
        </p:txBody>
      </p:sp>
      <p:pic>
        <p:nvPicPr>
          <p:cNvPr id="37" name="Picture 36" descr="image.png"/>
          <p:cNvPicPr>
            <a:picLocks noChangeAspect="1"/>
          </p:cNvPicPr>
          <p:nvPr/>
        </p:nvPicPr>
        <p:blipFill>
          <a:blip r:embed="rId6"/>
          <a:stretch>
            <a:fillRect/>
          </a:stretch>
        </p:blipFill>
        <p:spPr>
          <a:xfrm>
            <a:off x="1536192" y="334792"/>
            <a:ext cx="1243584" cy="153375"/>
          </a:xfrm>
          <a:prstGeom prst="rect">
            <a:avLst/>
          </a:prstGeom>
          <a:effectLst/>
        </p:spPr>
      </p:pic>
      <p:sp>
        <p:nvSpPr>
          <p:cNvPr id="7" name="TextBox 6"/>
          <p:cNvSpPr txBox="1"/>
          <p:nvPr/>
        </p:nvSpPr>
        <p:spPr>
          <a:xfrm>
            <a:off x="5486400" y="356616"/>
            <a:ext cx="6062472" cy="237744"/>
          </a:xfrm>
          <a:prstGeom prst="rect">
            <a:avLst/>
          </a:prstGeom>
          <a:noFill/>
          <a:effectLst/>
        </p:spPr>
        <p:txBody>
          <a:bodyPr wrap="square" tIns="0" bIns="0" lIns="0" rIns="0">
            <a:spAutoFit/>
          </a:bodyPr>
          <a:lstStyle/>
          <a:p>
            <a:pPr algn="r">
              <a:spcBef>
                <a:spcPts val="0"/>
              </a:spcBef>
              <a:spcAft>
                <a:spcPts val="600"/>
              </a:spcAft>
              <a:defRPr sz="1000" b="1">
                <a:solidFill>
                  <a:srgbClr val="E4EEDC"/>
                </a:solidFill>
                <a:latin typeface="Nimbus Sans"/>
              </a:defRPr>
            </a:pPr>
            <a:r>
              <a:t>05 / EVALUASI &amp; PENGELOLAAN</a:t>
            </a:r>
          </a:p>
        </p:txBody>
      </p:sp>
      <p:sp>
        <p:nvSpPr>
          <p:cNvPr id="8" name="TextBox 7"/>
          <p:cNvSpPr txBox="1"/>
          <p:nvPr/>
        </p:nvSpPr>
        <p:spPr>
          <a:xfrm>
            <a:off x="594360" y="960120"/>
            <a:ext cx="10972800" cy="822960"/>
          </a:xfrm>
          <a:prstGeom prst="rect">
            <a:avLst/>
          </a:prstGeom>
          <a:noFill/>
          <a:effectLst/>
        </p:spPr>
        <p:txBody>
          <a:bodyPr wrap="square" tIns="0" bIns="0" lIns="0" rIns="0">
            <a:spAutoFit/>
          </a:bodyPr>
          <a:lstStyle/>
          <a:p>
            <a:pPr>
              <a:spcBef>
                <a:spcPts val="0"/>
              </a:spcBef>
              <a:spcAft>
                <a:spcPts val="400"/>
              </a:spcAft>
              <a:defRPr sz="3100" b="1">
                <a:solidFill>
                  <a:srgbClr val="FFFFFF"/>
                </a:solidFill>
                <a:latin typeface="Nimbus Sans"/>
              </a:defRPr>
            </a:pPr>
            <a:r>
              <a:rPr sz="3100"/>
              <a:t>Setelah tayang, apa yang dipantau?</a:t>
            </a:r>
          </a:p>
        </p:txBody>
      </p:sp>
      <p:sp>
        <p:nvSpPr>
          <p:cNvPr id="9" name="TextBox 8"/>
          <p:cNvSpPr txBox="1"/>
          <p:nvPr/>
        </p:nvSpPr>
        <p:spPr>
          <a:xfrm>
            <a:off x="594360" y="1792224"/>
            <a:ext cx="10972800" cy="594360"/>
          </a:xfrm>
          <a:prstGeom prst="rect">
            <a:avLst/>
          </a:prstGeom>
          <a:noFill/>
          <a:effectLst/>
        </p:spPr>
        <p:txBody>
          <a:bodyPr wrap="square" tIns="0" bIns="0" lIns="0" rIns="0">
            <a:spAutoFit/>
          </a:bodyPr>
          <a:lstStyle/>
          <a:p>
            <a:pPr>
              <a:spcBef>
                <a:spcPts val="0"/>
              </a:spcBef>
              <a:spcAft>
                <a:spcPts val="400"/>
              </a:spcAft>
              <a:defRPr sz="1700" b="0">
                <a:solidFill>
                  <a:srgbClr val="E4EEDC"/>
                </a:solidFill>
                <a:latin typeface="Nimbus Sans"/>
              </a:defRPr>
            </a:pPr>
            <a:r>
              <a:rPr sz="1700"/>
              <a:t>Pantau seberapa sering halaman muncul, berapa yang mengeklik, apa yang dilakukan pengunjung, dan hasilnya bagi bisnis.</a:t>
            </a:r>
          </a:p>
        </p:txBody>
      </p:sp>
      <p:sp>
        <p:nvSpPr>
          <p:cNvPr id="10" name="TextBox 9"/>
          <p:cNvSpPr txBox="1"/>
          <p:nvPr/>
        </p:nvSpPr>
        <p:spPr>
          <a:xfrm>
            <a:off x="594360" y="6437376"/>
            <a:ext cx="10287000" cy="219456"/>
          </a:xfrm>
          <a:prstGeom prst="rect">
            <a:avLst/>
          </a:prstGeom>
          <a:noFill/>
          <a:effectLst/>
        </p:spPr>
        <p:txBody>
          <a:bodyPr wrap="square" tIns="0" bIns="0" lIns="0" rIns="0">
            <a:spAutoFit/>
          </a:bodyPr>
          <a:lstStyle/>
          <a:p>
            <a:pPr>
              <a:spcBef>
                <a:spcPts val="0"/>
              </a:spcBef>
              <a:spcAft>
                <a:spcPts val="400"/>
              </a:spcAft>
              <a:defRPr sz="900" b="0">
                <a:solidFill>
                  <a:srgbClr val="E4EEDC"/>
                </a:solidFill>
                <a:latin typeface="Nimbus Sans"/>
              </a:defRPr>
            </a:pPr>
            <a:r>
              <a:rPr sz="900"/>
              <a:t>GSC dan Analytics mengukur hal berbeda. Klik kontak/marketplace belum berarti ada pertanyaan masuk atau penjualan.</a:t>
            </a:r>
          </a:p>
        </p:txBody>
      </p:sp>
      <p:sp>
        <p:nvSpPr>
          <p:cNvPr id="11" name="TextBox 10"/>
          <p:cNvSpPr txBox="1"/>
          <p:nvPr/>
        </p:nvSpPr>
        <p:spPr>
          <a:xfrm>
            <a:off x="11091672" y="6391656"/>
            <a:ext cx="457200" cy="256032"/>
          </a:xfrm>
          <a:prstGeom prst="rect">
            <a:avLst/>
          </a:prstGeom>
          <a:noFill/>
          <a:effectLst/>
        </p:spPr>
        <p:txBody>
          <a:bodyPr wrap="square" tIns="0" bIns="0" lIns="0" rIns="0">
            <a:spAutoFit/>
          </a:bodyPr>
          <a:lstStyle/>
          <a:p>
            <a:pPr>
              <a:spcBef>
                <a:spcPts val="0"/>
              </a:spcBef>
              <a:spcAft>
                <a:spcPts val="600"/>
              </a:spcAft>
              <a:defRPr sz="1200" b="1">
                <a:solidFill>
                  <a:srgbClr val="FFFFFF"/>
                </a:solidFill>
                <a:latin typeface="Nimbus Sans"/>
              </a:defRPr>
            </a:pPr>
            <a:r>
              <a:t>22</a:t>
            </a:r>
          </a:p>
        </p:txBody>
      </p:sp>
      <p:sp>
        <p:nvSpPr>
          <p:cNvPr id="12" name="Rectangle 11"/>
          <p:cNvSpPr/>
          <p:nvPr/>
        </p:nvSpPr>
        <p:spPr>
          <a:xfrm>
            <a:off x="566928" y="6739128"/>
            <a:ext cx="1755648" cy="32004"/>
          </a:xfrm>
          <a:prstGeom prst="rect">
            <a:avLst/>
          </a:prstGeom>
          <a:solidFill>
            <a:srgbClr val="56716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2432304" y="6739128"/>
            <a:ext cx="1755648" cy="32004"/>
          </a:xfrm>
          <a:prstGeom prst="rect">
            <a:avLst/>
          </a:prstGeom>
          <a:solidFill>
            <a:srgbClr val="56716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297680" y="6739128"/>
            <a:ext cx="1755648" cy="32004"/>
          </a:xfrm>
          <a:prstGeom prst="rect">
            <a:avLst/>
          </a:prstGeom>
          <a:solidFill>
            <a:srgbClr val="56716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163056" y="6739128"/>
            <a:ext cx="1755648" cy="32004"/>
          </a:xfrm>
          <a:prstGeom prst="rect">
            <a:avLst/>
          </a:prstGeom>
          <a:solidFill>
            <a:srgbClr val="56716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8028431" y="6739128"/>
            <a:ext cx="1755648" cy="32004"/>
          </a:xfrm>
          <a:prstGeom prst="rect">
            <a:avLst/>
          </a:prstGeom>
          <a:solidFill>
            <a:srgbClr val="D2AB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893807" y="6739128"/>
            <a:ext cx="1755648" cy="32004"/>
          </a:xfrm>
          <a:prstGeom prst="rect">
            <a:avLst/>
          </a:prstGeom>
          <a:solidFill>
            <a:srgbClr val="56716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ounded Rectangle 33"/>
          <p:cNvSpPr/>
          <p:nvPr/>
        </p:nvSpPr>
        <p:spPr>
          <a:xfrm>
            <a:off x="594360" y="5833872"/>
            <a:ext cx="10972800" cy="484632"/>
          </a:xfrm>
          <a:prstGeom prst="roundRect">
            <a:avLst>
              <a:gd name="adj" fmla="val 3500"/>
            </a:avLst>
          </a:prstGeom>
          <a:solidFill>
            <a:srgbClr val="193E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777240" y="5943600"/>
            <a:ext cx="10607040" cy="283464"/>
          </a:xfrm>
          <a:prstGeom prst="rect">
            <a:avLst/>
          </a:prstGeom>
          <a:noFill/>
          <a:effectLst/>
        </p:spPr>
        <p:txBody>
          <a:bodyPr wrap="square" tIns="0" bIns="0" lIns="0" rIns="0">
            <a:spAutoFit/>
          </a:bodyPr>
          <a:lstStyle/>
          <a:p>
            <a:pPr>
              <a:spcBef>
                <a:spcPts val="0"/>
              </a:spcBef>
              <a:spcAft>
                <a:spcPts val="400"/>
              </a:spcAft>
              <a:defRPr sz="1200" b="0">
                <a:solidFill>
                  <a:srgbClr val="FFFFFF"/>
                </a:solidFill>
                <a:latin typeface="Nimbus Sans"/>
              </a:defRPr>
            </a:pPr>
            <a:r>
              <a:rPr sz="1200"/>
              <a:t>Contoh: klik tombol kontak dicatat sebagai interaksi. Pertanyaan yang masuk dinilai bersama tim Mecosin.</a:t>
            </a:r>
          </a:p>
        </p:txBody>
      </p:sp>
      <p:sp>
        <p:nvSpPr>
          <p:cNvPr id="38" name="Oval 37"/>
          <p:cNvSpPr/>
          <p:nvPr/>
        </p:nvSpPr>
        <p:spPr>
          <a:xfrm>
            <a:off x="822960" y="2651760"/>
            <a:ext cx="356616" cy="356616"/>
          </a:xfrm>
          <a:prstGeom prst="ellips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2960" y="2711196"/>
            <a:ext cx="356616" cy="210312"/>
          </a:xfrm>
          <a:prstGeom prst="rect">
            <a:avLst/>
          </a:prstGeom>
          <a:noFill/>
        </p:spPr>
        <p:txBody>
          <a:bodyPr wrap="square" lIns="0" rIns="0" tIns="0" bIns="0">
            <a:spAutoFit/>
          </a:bodyPr>
          <a:lstStyle/>
          <a:p>
            <a:pPr algn="ctr">
              <a:spcAft>
                <a:spcPts val="0"/>
              </a:spcAft>
            </a:pPr>
            <a:r>
              <a:rPr sz="1200" b="1">
                <a:solidFill>
                  <a:srgbClr val="FFFFFF"/>
                </a:solidFill>
                <a:latin typeface="Nimbus Sans"/>
              </a:rPr>
              <a:t>01</a:t>
            </a:r>
          </a:p>
        </p:txBody>
      </p:sp>
      <p:sp>
        <p:nvSpPr>
          <p:cNvPr id="40" name="Oval 39"/>
          <p:cNvSpPr/>
          <p:nvPr/>
        </p:nvSpPr>
        <p:spPr>
          <a:xfrm>
            <a:off x="1280160" y="3337560"/>
            <a:ext cx="676656" cy="676656"/>
          </a:xfrm>
          <a:prstGeom prst="ellipse">
            <a:avLst/>
          </a:prstGeom>
          <a:noFill/>
          <a:ln w="3048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a:off x="1841784" y="3899184"/>
            <a:ext cx="318028" cy="318028"/>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685800" y="4590288"/>
            <a:ext cx="2606040" cy="365760"/>
          </a:xfrm>
          <a:prstGeom prst="rect">
            <a:avLst/>
          </a:prstGeom>
          <a:noFill/>
        </p:spPr>
        <p:txBody>
          <a:bodyPr wrap="square" lIns="0" rIns="0" tIns="0" bIns="0">
            <a:spAutoFit/>
          </a:bodyPr>
          <a:lstStyle/>
          <a:p>
            <a:pPr algn="ctr">
              <a:spcAft>
                <a:spcPts val="0"/>
              </a:spcAft>
            </a:pPr>
            <a:r>
              <a:rPr sz="2400" b="1">
                <a:solidFill>
                  <a:srgbClr val="FFFFFF"/>
                </a:solidFill>
                <a:latin typeface="Nimbus Sans"/>
              </a:rPr>
              <a:t>Ditemukan</a:t>
            </a:r>
          </a:p>
        </p:txBody>
      </p:sp>
      <p:sp>
        <p:nvSpPr>
          <p:cNvPr id="43" name="TextBox 42"/>
          <p:cNvSpPr txBox="1"/>
          <p:nvPr/>
        </p:nvSpPr>
        <p:spPr>
          <a:xfrm>
            <a:off x="685800" y="5084064"/>
            <a:ext cx="2606040" cy="512064"/>
          </a:xfrm>
          <a:prstGeom prst="rect">
            <a:avLst/>
          </a:prstGeom>
          <a:noFill/>
        </p:spPr>
        <p:txBody>
          <a:bodyPr wrap="square" lIns="0" rIns="0" tIns="0" bIns="0">
            <a:spAutoFit/>
          </a:bodyPr>
          <a:lstStyle/>
          <a:p>
            <a:pPr algn="ctr">
              <a:spcAft>
                <a:spcPts val="0"/>
              </a:spcAft>
            </a:pPr>
            <a:r>
              <a:rPr sz="1600" b="0">
                <a:solidFill>
                  <a:srgbClr val="E4EEDC"/>
                </a:solidFill>
                <a:latin typeface="Nimbus Sans"/>
              </a:rPr>
              <a:t>Tayangan &amp;</a:t>
            </a:r>
          </a:p>
          <a:p>
            <a:pPr algn="ctr">
              <a:spcAft>
                <a:spcPts val="0"/>
              </a:spcAft>
            </a:pPr>
            <a:r>
              <a:rPr sz="1600" b="0">
                <a:solidFill>
                  <a:srgbClr val="E4EEDC"/>
                </a:solidFill>
                <a:latin typeface="Nimbus Sans"/>
              </a:rPr>
              <a:t>kata pencarian</a:t>
            </a:r>
          </a:p>
        </p:txBody>
      </p:sp>
      <p:cxnSp>
        <p:nvCxnSpPr>
          <p:cNvPr id="44" name="Connector 43"/>
          <p:cNvCxnSpPr/>
          <p:nvPr/>
        </p:nvCxnSpPr>
        <p:spPr>
          <a:xfrm>
            <a:off x="2688336" y="3794760"/>
            <a:ext cx="649224" cy="0"/>
          </a:xfrm>
          <a:prstGeom prst="line">
            <a:avLst/>
          </a:prstGeom>
          <a:ln w="25400">
            <a:solidFill>
              <a:srgbClr val="D2AB62"/>
            </a:solidFill>
            <a:tailEnd type="triangle"/>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3657600" y="2651760"/>
            <a:ext cx="356616" cy="356616"/>
          </a:xfrm>
          <a:prstGeom prst="ellips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57600" y="2711196"/>
            <a:ext cx="356616" cy="210312"/>
          </a:xfrm>
          <a:prstGeom prst="rect">
            <a:avLst/>
          </a:prstGeom>
          <a:noFill/>
        </p:spPr>
        <p:txBody>
          <a:bodyPr wrap="square" lIns="0" rIns="0" tIns="0" bIns="0">
            <a:spAutoFit/>
          </a:bodyPr>
          <a:lstStyle/>
          <a:p>
            <a:pPr algn="ctr">
              <a:spcAft>
                <a:spcPts val="0"/>
              </a:spcAft>
            </a:pPr>
            <a:r>
              <a:rPr sz="1200" b="1">
                <a:solidFill>
                  <a:srgbClr val="FFFFFF"/>
                </a:solidFill>
                <a:latin typeface="Nimbus Sans"/>
              </a:rPr>
              <a:t>02</a:t>
            </a:r>
          </a:p>
        </p:txBody>
      </p:sp>
      <p:sp>
        <p:nvSpPr>
          <p:cNvPr id="47" name="Right Triangle 46"/>
          <p:cNvSpPr/>
          <p:nvPr/>
        </p:nvSpPr>
        <p:spPr>
          <a:xfrm rot="19800000">
            <a:off x="4279392" y="3410712"/>
            <a:ext cx="594360" cy="777240"/>
          </a:xfrm>
          <a:prstGeom prst="rtTriangle">
            <a:avLst/>
          </a:prstGeom>
          <a:no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520440" y="4590288"/>
            <a:ext cx="2606040" cy="365760"/>
          </a:xfrm>
          <a:prstGeom prst="rect">
            <a:avLst/>
          </a:prstGeom>
          <a:noFill/>
        </p:spPr>
        <p:txBody>
          <a:bodyPr wrap="square" lIns="0" rIns="0" tIns="0" bIns="0">
            <a:spAutoFit/>
          </a:bodyPr>
          <a:lstStyle/>
          <a:p>
            <a:pPr algn="ctr">
              <a:spcAft>
                <a:spcPts val="0"/>
              </a:spcAft>
            </a:pPr>
            <a:r>
              <a:rPr sz="2400" b="1">
                <a:solidFill>
                  <a:srgbClr val="FFFFFF"/>
                </a:solidFill>
                <a:latin typeface="Nimbus Sans"/>
              </a:rPr>
              <a:t>Diklik</a:t>
            </a:r>
          </a:p>
        </p:txBody>
      </p:sp>
      <p:sp>
        <p:nvSpPr>
          <p:cNvPr id="49" name="TextBox 48"/>
          <p:cNvSpPr txBox="1"/>
          <p:nvPr/>
        </p:nvSpPr>
        <p:spPr>
          <a:xfrm>
            <a:off x="3520440" y="5084064"/>
            <a:ext cx="2606040" cy="512064"/>
          </a:xfrm>
          <a:prstGeom prst="rect">
            <a:avLst/>
          </a:prstGeom>
          <a:noFill/>
        </p:spPr>
        <p:txBody>
          <a:bodyPr wrap="square" lIns="0" rIns="0" tIns="0" bIns="0">
            <a:spAutoFit/>
          </a:bodyPr>
          <a:lstStyle/>
          <a:p>
            <a:pPr algn="ctr">
              <a:spcAft>
                <a:spcPts val="0"/>
              </a:spcAft>
            </a:pPr>
            <a:r>
              <a:rPr sz="1600" b="0">
                <a:solidFill>
                  <a:srgbClr val="E4EEDC"/>
                </a:solidFill>
                <a:latin typeface="Nimbus Sans"/>
              </a:rPr>
              <a:t>Klik, CTR &amp;</a:t>
            </a:r>
          </a:p>
          <a:p>
            <a:pPr algn="ctr">
              <a:spcAft>
                <a:spcPts val="0"/>
              </a:spcAft>
            </a:pPr>
            <a:r>
              <a:rPr sz="1600" b="0">
                <a:solidFill>
                  <a:srgbClr val="E4EEDC"/>
                </a:solidFill>
                <a:latin typeface="Nimbus Sans"/>
              </a:rPr>
              <a:t>kunjungan</a:t>
            </a:r>
          </a:p>
        </p:txBody>
      </p:sp>
      <p:cxnSp>
        <p:nvCxnSpPr>
          <p:cNvPr id="50" name="Connector 49"/>
          <p:cNvCxnSpPr/>
          <p:nvPr/>
        </p:nvCxnSpPr>
        <p:spPr>
          <a:xfrm>
            <a:off x="5522976" y="3794760"/>
            <a:ext cx="649224" cy="0"/>
          </a:xfrm>
          <a:prstGeom prst="line">
            <a:avLst/>
          </a:prstGeom>
          <a:ln w="25400">
            <a:solidFill>
              <a:srgbClr val="D2AB62"/>
            </a:solidFill>
            <a:tailEnd type="triangle"/>
          </a:ln>
        </p:spPr>
        <p:style>
          <a:lnRef idx="2">
            <a:schemeClr val="accent1"/>
          </a:lnRef>
          <a:fillRef idx="0">
            <a:schemeClr val="accent1"/>
          </a:fillRef>
          <a:effectRef idx="1">
            <a:schemeClr val="accent1"/>
          </a:effectRef>
          <a:fontRef idx="minor">
            <a:schemeClr val="tx1"/>
          </a:fontRef>
        </p:style>
      </p:cxnSp>
      <p:sp>
        <p:nvSpPr>
          <p:cNvPr id="51" name="Oval 50"/>
          <p:cNvSpPr/>
          <p:nvPr/>
        </p:nvSpPr>
        <p:spPr>
          <a:xfrm>
            <a:off x="6492240" y="2651760"/>
            <a:ext cx="356616" cy="356616"/>
          </a:xfrm>
          <a:prstGeom prst="ellips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92240" y="2711196"/>
            <a:ext cx="356616" cy="210312"/>
          </a:xfrm>
          <a:prstGeom prst="rect">
            <a:avLst/>
          </a:prstGeom>
          <a:noFill/>
        </p:spPr>
        <p:txBody>
          <a:bodyPr wrap="square" lIns="0" rIns="0" tIns="0" bIns="0">
            <a:spAutoFit/>
          </a:bodyPr>
          <a:lstStyle/>
          <a:p>
            <a:pPr algn="ctr">
              <a:spcAft>
                <a:spcPts val="0"/>
              </a:spcAft>
            </a:pPr>
            <a:r>
              <a:rPr sz="1200" b="1">
                <a:solidFill>
                  <a:srgbClr val="FFFFFF"/>
                </a:solidFill>
                <a:latin typeface="Nimbus Sans"/>
              </a:rPr>
              <a:t>03</a:t>
            </a:r>
          </a:p>
        </p:txBody>
      </p:sp>
      <p:sp>
        <p:nvSpPr>
          <p:cNvPr id="53" name="Rectangle 52"/>
          <p:cNvSpPr/>
          <p:nvPr/>
        </p:nvSpPr>
        <p:spPr>
          <a:xfrm>
            <a:off x="6949440" y="3227832"/>
            <a:ext cx="822960" cy="1069848"/>
          </a:xfrm>
          <a:prstGeom prst="rect">
            <a:avLst/>
          </a:prstGeom>
          <a:solidFill>
            <a:srgbClr val="FFFFFF"/>
          </a:solidFill>
          <a:ln w="2032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949440" y="3227832"/>
            <a:ext cx="822960" cy="137160"/>
          </a:xfrm>
          <a:prstGeom prst="rect">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5" name="Connector 54"/>
          <p:cNvCxnSpPr/>
          <p:nvPr/>
        </p:nvCxnSpPr>
        <p:spPr>
          <a:xfrm>
            <a:off x="7077455" y="3547872"/>
            <a:ext cx="423368"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7077455" y="3721608"/>
            <a:ext cx="423368"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077455" y="3895344"/>
            <a:ext cx="242316"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6355079" y="4590288"/>
            <a:ext cx="2606040" cy="365760"/>
          </a:xfrm>
          <a:prstGeom prst="rect">
            <a:avLst/>
          </a:prstGeom>
          <a:noFill/>
        </p:spPr>
        <p:txBody>
          <a:bodyPr wrap="square" lIns="0" rIns="0" tIns="0" bIns="0">
            <a:spAutoFit/>
          </a:bodyPr>
          <a:lstStyle/>
          <a:p>
            <a:pPr algn="ctr">
              <a:spcAft>
                <a:spcPts val="0"/>
              </a:spcAft>
            </a:pPr>
            <a:r>
              <a:rPr sz="2400" b="1">
                <a:solidFill>
                  <a:srgbClr val="FFFFFF"/>
                </a:solidFill>
                <a:latin typeface="Nimbus Sans"/>
              </a:rPr>
              <a:t>Digunakan</a:t>
            </a:r>
          </a:p>
        </p:txBody>
      </p:sp>
      <p:sp>
        <p:nvSpPr>
          <p:cNvPr id="59" name="TextBox 58"/>
          <p:cNvSpPr txBox="1"/>
          <p:nvPr/>
        </p:nvSpPr>
        <p:spPr>
          <a:xfrm>
            <a:off x="6355079" y="5084064"/>
            <a:ext cx="2606040" cy="512064"/>
          </a:xfrm>
          <a:prstGeom prst="rect">
            <a:avLst/>
          </a:prstGeom>
          <a:noFill/>
        </p:spPr>
        <p:txBody>
          <a:bodyPr wrap="square" lIns="0" rIns="0" tIns="0" bIns="0">
            <a:spAutoFit/>
          </a:bodyPr>
          <a:lstStyle/>
          <a:p>
            <a:pPr algn="ctr">
              <a:spcAft>
                <a:spcPts val="0"/>
              </a:spcAft>
            </a:pPr>
            <a:r>
              <a:rPr sz="1600" b="0">
                <a:solidFill>
                  <a:srgbClr val="E4EEDC"/>
                </a:solidFill>
                <a:latin typeface="Nimbus Sans"/>
              </a:rPr>
              <a:t>Membaca &amp;</a:t>
            </a:r>
          </a:p>
          <a:p>
            <a:pPr algn="ctr">
              <a:spcAft>
                <a:spcPts val="0"/>
              </a:spcAft>
            </a:pPr>
            <a:r>
              <a:rPr sz="1600" b="0">
                <a:solidFill>
                  <a:srgbClr val="E4EEDC"/>
                </a:solidFill>
                <a:latin typeface="Nimbus Sans"/>
              </a:rPr>
              <a:t>mengeklik tautan</a:t>
            </a:r>
          </a:p>
        </p:txBody>
      </p:sp>
      <p:cxnSp>
        <p:nvCxnSpPr>
          <p:cNvPr id="60" name="Connector 59"/>
          <p:cNvCxnSpPr/>
          <p:nvPr/>
        </p:nvCxnSpPr>
        <p:spPr>
          <a:xfrm>
            <a:off x="8357616" y="3794760"/>
            <a:ext cx="649224" cy="0"/>
          </a:xfrm>
          <a:prstGeom prst="line">
            <a:avLst/>
          </a:prstGeom>
          <a:ln w="25400">
            <a:solidFill>
              <a:srgbClr val="D2AB62"/>
            </a:solidFill>
            <a:tailEnd type="triangle"/>
          </a:ln>
        </p:spPr>
        <p:style>
          <a:lnRef idx="2">
            <a:schemeClr val="accent1"/>
          </a:lnRef>
          <a:fillRef idx="0">
            <a:schemeClr val="accent1"/>
          </a:fillRef>
          <a:effectRef idx="1">
            <a:schemeClr val="accent1"/>
          </a:effectRef>
          <a:fontRef idx="minor">
            <a:schemeClr val="tx1"/>
          </a:fontRef>
        </p:style>
      </p:cxnSp>
      <p:sp>
        <p:nvSpPr>
          <p:cNvPr id="61" name="Oval 60"/>
          <p:cNvSpPr/>
          <p:nvPr/>
        </p:nvSpPr>
        <p:spPr>
          <a:xfrm>
            <a:off x="9326880" y="2651760"/>
            <a:ext cx="356616" cy="356616"/>
          </a:xfrm>
          <a:prstGeom prst="ellips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326880" y="2711196"/>
            <a:ext cx="356616" cy="210312"/>
          </a:xfrm>
          <a:prstGeom prst="rect">
            <a:avLst/>
          </a:prstGeom>
          <a:noFill/>
        </p:spPr>
        <p:txBody>
          <a:bodyPr wrap="square" lIns="0" rIns="0" tIns="0" bIns="0">
            <a:spAutoFit/>
          </a:bodyPr>
          <a:lstStyle/>
          <a:p>
            <a:pPr algn="ctr">
              <a:spcAft>
                <a:spcPts val="0"/>
              </a:spcAft>
            </a:pPr>
            <a:r>
              <a:rPr sz="1200" b="1">
                <a:solidFill>
                  <a:srgbClr val="FFFFFF"/>
                </a:solidFill>
                <a:latin typeface="Nimbus Sans"/>
              </a:rPr>
              <a:t>04</a:t>
            </a:r>
          </a:p>
        </p:txBody>
      </p:sp>
      <p:sp>
        <p:nvSpPr>
          <p:cNvPr id="63" name="Rounded Rectangle 62"/>
          <p:cNvSpPr/>
          <p:nvPr/>
        </p:nvSpPr>
        <p:spPr>
          <a:xfrm>
            <a:off x="9646919" y="3337560"/>
            <a:ext cx="1097280" cy="658368"/>
          </a:xfrm>
          <a:prstGeom prst="roundRect">
            <a:avLst/>
          </a:prstGeom>
          <a:noFill/>
          <a:ln w="2032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flipH="1">
            <a:off x="9738359" y="3995928"/>
            <a:ext cx="91441" cy="201168"/>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65" name="Oval 64"/>
          <p:cNvSpPr/>
          <p:nvPr/>
        </p:nvSpPr>
        <p:spPr>
          <a:xfrm>
            <a:off x="9893807" y="3611880"/>
            <a:ext cx="73152" cy="7315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0168128" y="3611880"/>
            <a:ext cx="73152" cy="7315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0442448" y="3611880"/>
            <a:ext cx="73152" cy="7315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189719" y="4590288"/>
            <a:ext cx="2606040" cy="365760"/>
          </a:xfrm>
          <a:prstGeom prst="rect">
            <a:avLst/>
          </a:prstGeom>
          <a:noFill/>
        </p:spPr>
        <p:txBody>
          <a:bodyPr wrap="square" lIns="0" rIns="0" tIns="0" bIns="0">
            <a:spAutoFit/>
          </a:bodyPr>
          <a:lstStyle/>
          <a:p>
            <a:pPr algn="ctr">
              <a:spcAft>
                <a:spcPts val="0"/>
              </a:spcAft>
            </a:pPr>
            <a:r>
              <a:rPr sz="2400" b="1">
                <a:solidFill>
                  <a:srgbClr val="FFFFFF"/>
                </a:solidFill>
                <a:latin typeface="Nimbus Sans"/>
              </a:rPr>
              <a:t>Hasil bisnis</a:t>
            </a:r>
          </a:p>
        </p:txBody>
      </p:sp>
      <p:sp>
        <p:nvSpPr>
          <p:cNvPr id="69" name="TextBox 68"/>
          <p:cNvSpPr txBox="1"/>
          <p:nvPr/>
        </p:nvSpPr>
        <p:spPr>
          <a:xfrm>
            <a:off x="9189719" y="5084064"/>
            <a:ext cx="2606040" cy="512064"/>
          </a:xfrm>
          <a:prstGeom prst="rect">
            <a:avLst/>
          </a:prstGeom>
          <a:noFill/>
        </p:spPr>
        <p:txBody>
          <a:bodyPr wrap="square" lIns="0" rIns="0" tIns="0" bIns="0">
            <a:spAutoFit/>
          </a:bodyPr>
          <a:lstStyle/>
          <a:p>
            <a:pPr algn="ctr">
              <a:spcAft>
                <a:spcPts val="0"/>
              </a:spcAft>
            </a:pPr>
            <a:r>
              <a:rPr sz="1600" b="0">
                <a:solidFill>
                  <a:srgbClr val="E4EEDC"/>
                </a:solidFill>
                <a:latin typeface="Nimbus Sans"/>
              </a:rPr>
              <a:t>Pertanyaan relevan /</a:t>
            </a:r>
          </a:p>
          <a:p>
            <a:pPr algn="ctr">
              <a:spcAft>
                <a:spcPts val="0"/>
              </a:spcAft>
            </a:pPr>
            <a:r>
              <a:rPr sz="1600" b="0">
                <a:solidFill>
                  <a:srgbClr val="E4EEDC"/>
                </a:solidFill>
                <a:latin typeface="Nimbus Sans"/>
              </a:rPr>
              <a:t>pembelian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6F8F3"/>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1761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502920" y="210312"/>
            <a:ext cx="2395728" cy="448056"/>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image.png"/>
          <p:cNvPicPr>
            <a:picLocks noChangeAspect="1"/>
          </p:cNvPicPr>
          <p:nvPr/>
        </p:nvPicPr>
        <p:blipFill>
          <a:blip r:embed="rId5"/>
          <a:stretch>
            <a:fillRect/>
          </a:stretch>
        </p:blipFill>
        <p:spPr>
          <a:xfrm>
            <a:off x="603504" y="323088"/>
            <a:ext cx="585216" cy="195072"/>
          </a:xfrm>
          <a:prstGeom prst="rect">
            <a:avLst/>
          </a:prstGeom>
          <a:effectLst/>
        </p:spPr>
      </p:pic>
      <p:sp>
        <p:nvSpPr>
          <p:cNvPr id="5" name="TextBox 4"/>
          <p:cNvSpPr txBox="1"/>
          <p:nvPr/>
        </p:nvSpPr>
        <p:spPr>
          <a:xfrm>
            <a:off x="1271016" y="283464"/>
            <a:ext cx="164592" cy="228600"/>
          </a:xfrm>
          <a:prstGeom prst="rect">
            <a:avLst/>
          </a:prstGeom>
          <a:noFill/>
          <a:effectLst/>
        </p:spPr>
        <p:txBody>
          <a:bodyPr wrap="square" tIns="0" bIns="0" lIns="0" rIns="0">
            <a:spAutoFit/>
          </a:bodyPr>
          <a:lstStyle/>
          <a:p>
            <a:pPr>
              <a:spcBef>
                <a:spcPts val="0"/>
              </a:spcBef>
              <a:spcAft>
                <a:spcPts val="600"/>
              </a:spcAft>
              <a:defRPr sz="1200" b="0">
                <a:solidFill>
                  <a:srgbClr val="567168"/>
                </a:solidFill>
                <a:latin typeface="Nimbus Sans"/>
              </a:defRPr>
            </a:pPr>
            <a:r>
              <a:t>×</a:t>
            </a:r>
          </a:p>
        </p:txBody>
      </p:sp>
      <p:pic>
        <p:nvPicPr>
          <p:cNvPr id="28" name="Picture 27" descr="image.png"/>
          <p:cNvPicPr>
            <a:picLocks noChangeAspect="1"/>
          </p:cNvPicPr>
          <p:nvPr/>
        </p:nvPicPr>
        <p:blipFill>
          <a:blip r:embed="rId6"/>
          <a:stretch>
            <a:fillRect/>
          </a:stretch>
        </p:blipFill>
        <p:spPr>
          <a:xfrm>
            <a:off x="1536192" y="334792"/>
            <a:ext cx="1243584" cy="153375"/>
          </a:xfrm>
          <a:prstGeom prst="rect">
            <a:avLst/>
          </a:prstGeom>
          <a:effectLst/>
        </p:spPr>
      </p:pic>
      <p:sp>
        <p:nvSpPr>
          <p:cNvPr id="7" name="TextBox 6"/>
          <p:cNvSpPr txBox="1"/>
          <p:nvPr/>
        </p:nvSpPr>
        <p:spPr>
          <a:xfrm>
            <a:off x="5486400" y="356616"/>
            <a:ext cx="6062472" cy="237744"/>
          </a:xfrm>
          <a:prstGeom prst="rect">
            <a:avLst/>
          </a:prstGeom>
          <a:noFill/>
          <a:effectLst/>
        </p:spPr>
        <p:txBody>
          <a:bodyPr wrap="square" tIns="0" bIns="0" lIns="0" rIns="0">
            <a:spAutoFit/>
          </a:bodyPr>
          <a:lstStyle/>
          <a:p>
            <a:pPr algn="r">
              <a:spcBef>
                <a:spcPts val="0"/>
              </a:spcBef>
              <a:spcAft>
                <a:spcPts val="600"/>
              </a:spcAft>
              <a:defRPr sz="1000" b="1">
                <a:solidFill>
                  <a:srgbClr val="17613F"/>
                </a:solidFill>
                <a:latin typeface="Nimbus Sans"/>
              </a:defRPr>
            </a:pPr>
            <a:r>
              <a:t>05 / EVALUASI &amp; PENGELOLAAN</a:t>
            </a:r>
          </a:p>
        </p:txBody>
      </p:sp>
      <p:sp>
        <p:nvSpPr>
          <p:cNvPr id="8" name="TextBox 7"/>
          <p:cNvSpPr txBox="1"/>
          <p:nvPr/>
        </p:nvSpPr>
        <p:spPr>
          <a:xfrm>
            <a:off x="594360" y="960120"/>
            <a:ext cx="10972800" cy="822960"/>
          </a:xfrm>
          <a:prstGeom prst="rect">
            <a:avLst/>
          </a:prstGeom>
          <a:noFill/>
          <a:effectLst/>
        </p:spPr>
        <p:txBody>
          <a:bodyPr wrap="square" tIns="0" bIns="0" lIns="0" rIns="0">
            <a:spAutoFit/>
          </a:bodyPr>
          <a:lstStyle/>
          <a:p>
            <a:pPr>
              <a:spcBef>
                <a:spcPts val="0"/>
              </a:spcBef>
              <a:spcAft>
                <a:spcPts val="400"/>
              </a:spcAft>
              <a:defRPr sz="3100" b="1">
                <a:solidFill>
                  <a:srgbClr val="193E32"/>
                </a:solidFill>
                <a:latin typeface="Nimbus Sans"/>
              </a:defRPr>
            </a:pPr>
            <a:r>
              <a:rPr sz="3100"/>
              <a:t>Data membantu menentukan tindakan berikutnya</a:t>
            </a:r>
          </a:p>
        </p:txBody>
      </p:sp>
      <p:sp>
        <p:nvSpPr>
          <p:cNvPr id="9" name="TextBox 8"/>
          <p:cNvSpPr txBox="1"/>
          <p:nvPr/>
        </p:nvSpPr>
        <p:spPr>
          <a:xfrm>
            <a:off x="594360" y="1792224"/>
            <a:ext cx="10972800" cy="594360"/>
          </a:xfrm>
          <a:prstGeom prst="rect">
            <a:avLst/>
          </a:prstGeom>
          <a:noFill/>
          <a:effectLst/>
        </p:spPr>
        <p:txBody>
          <a:bodyPr wrap="square" tIns="0" bIns="0" lIns="0" rIns="0">
            <a:spAutoFit/>
          </a:bodyPr>
          <a:lstStyle/>
          <a:p>
            <a:pPr>
              <a:spcBef>
                <a:spcPts val="0"/>
              </a:spcBef>
              <a:spcAft>
                <a:spcPts val="400"/>
              </a:spcAft>
              <a:defRPr sz="1700" b="0">
                <a:solidFill>
                  <a:srgbClr val="567168"/>
                </a:solidFill>
                <a:latin typeface="Nimbus Sans"/>
              </a:defRPr>
            </a:pPr>
            <a:r>
              <a:rPr sz="1700"/>
              <a:t>Jangan menyimpulkan dari satu angka saja. Cari penyebabnya sebelum menentukan perbaikan.</a:t>
            </a:r>
          </a:p>
        </p:txBody>
      </p:sp>
      <p:sp>
        <p:nvSpPr>
          <p:cNvPr id="10" name="TextBox 9"/>
          <p:cNvSpPr txBox="1"/>
          <p:nvPr/>
        </p:nvSpPr>
        <p:spPr>
          <a:xfrm>
            <a:off x="594360" y="6437376"/>
            <a:ext cx="10287000" cy="219456"/>
          </a:xfrm>
          <a:prstGeom prst="rect">
            <a:avLst/>
          </a:prstGeom>
          <a:noFill/>
          <a:effectLst/>
        </p:spPr>
        <p:txBody>
          <a:bodyPr wrap="square" tIns="0" bIns="0" lIns="0" rIns="0">
            <a:spAutoFit/>
          </a:bodyPr>
          <a:lstStyle/>
          <a:p>
            <a:pPr>
              <a:spcBef>
                <a:spcPts val="0"/>
              </a:spcBef>
              <a:spcAft>
                <a:spcPts val="400"/>
              </a:spcAft>
              <a:defRPr sz="900" b="0">
                <a:solidFill>
                  <a:srgbClr val="567168"/>
                </a:solidFill>
                <a:latin typeface="Nimbus Sans"/>
              </a:defRPr>
            </a:pPr>
            <a:r>
              <a:rPr sz="900"/>
              <a:t>Contoh untuk penjelasan, bukan hasil audit Mecosin.</a:t>
            </a:r>
          </a:p>
        </p:txBody>
      </p:sp>
      <p:sp>
        <p:nvSpPr>
          <p:cNvPr id="11" name="TextBox 10"/>
          <p:cNvSpPr txBox="1"/>
          <p:nvPr/>
        </p:nvSpPr>
        <p:spPr>
          <a:xfrm>
            <a:off x="11091672" y="6391656"/>
            <a:ext cx="457200" cy="256032"/>
          </a:xfrm>
          <a:prstGeom prst="rect">
            <a:avLst/>
          </a:prstGeom>
          <a:noFill/>
          <a:effectLst/>
        </p:spPr>
        <p:txBody>
          <a:bodyPr wrap="square" tIns="0" bIns="0" lIns="0" rIns="0">
            <a:spAutoFit/>
          </a:bodyPr>
          <a:lstStyle/>
          <a:p>
            <a:pPr>
              <a:spcBef>
                <a:spcPts val="0"/>
              </a:spcBef>
              <a:spcAft>
                <a:spcPts val="600"/>
              </a:spcAft>
              <a:defRPr sz="1200" b="1">
                <a:solidFill>
                  <a:srgbClr val="17613F"/>
                </a:solidFill>
                <a:latin typeface="Nimbus Sans"/>
              </a:defRPr>
            </a:pPr>
            <a:r>
              <a:t>23</a:t>
            </a:r>
          </a:p>
        </p:txBody>
      </p:sp>
      <p:sp>
        <p:nvSpPr>
          <p:cNvPr id="12" name="Rectangle 11"/>
          <p:cNvSpPr/>
          <p:nvPr/>
        </p:nvSpPr>
        <p:spPr>
          <a:xfrm>
            <a:off x="566928"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2432304"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297680"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163056"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8028431" y="6739128"/>
            <a:ext cx="1755648" cy="32004"/>
          </a:xfrm>
          <a:prstGeom prst="rect">
            <a:avLst/>
          </a:prstGeom>
          <a:solidFill>
            <a:srgbClr val="D2AB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893807"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ounded Rectangle 24"/>
          <p:cNvSpPr/>
          <p:nvPr/>
        </p:nvSpPr>
        <p:spPr>
          <a:xfrm>
            <a:off x="594360" y="5833872"/>
            <a:ext cx="10972800" cy="484632"/>
          </a:xfrm>
          <a:prstGeom prst="roundRect">
            <a:avLst>
              <a:gd name="adj" fmla="val 3500"/>
            </a:avLst>
          </a:prstGeom>
          <a:solidFill>
            <a:srgbClr val="E4EE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777240" y="5943600"/>
            <a:ext cx="10607040" cy="283464"/>
          </a:xfrm>
          <a:prstGeom prst="rect">
            <a:avLst/>
          </a:prstGeom>
          <a:noFill/>
          <a:effectLst/>
        </p:spPr>
        <p:txBody>
          <a:bodyPr wrap="square" tIns="0" bIns="0" lIns="0" rIns="0">
            <a:spAutoFit/>
          </a:bodyPr>
          <a:lstStyle/>
          <a:p>
            <a:pPr>
              <a:spcBef>
                <a:spcPts val="0"/>
              </a:spcBef>
              <a:spcAft>
                <a:spcPts val="400"/>
              </a:spcAft>
              <a:defRPr sz="1200" b="0">
                <a:solidFill>
                  <a:srgbClr val="17613F"/>
                </a:solidFill>
                <a:latin typeface="Nimbus Sans"/>
              </a:defRPr>
            </a:pPr>
            <a:r>
              <a:rPr sz="1200"/>
              <a:t>Contoh cara membaca data. CTR rendah tidak selalu disebabkan oleh judul yang kurang tepat.</a:t>
            </a:r>
          </a:p>
        </p:txBody>
      </p:sp>
      <p:sp>
        <p:nvSpPr>
          <p:cNvPr id="29" name="Rectangle 28"/>
          <p:cNvSpPr/>
          <p:nvPr/>
        </p:nvSpPr>
        <p:spPr>
          <a:xfrm>
            <a:off x="804672" y="2788920"/>
            <a:ext cx="4800600" cy="2194560"/>
          </a:xfrm>
          <a:prstGeom prst="rect">
            <a:avLst/>
          </a:prstGeom>
          <a:solidFill>
            <a:srgbClr val="FFFFFF"/>
          </a:solidFill>
          <a:ln w="2032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804672" y="2999232"/>
            <a:ext cx="4800600" cy="0"/>
          </a:xfrm>
          <a:prstGeom prst="line">
            <a:avLst/>
          </a:prstGeom>
          <a:ln w="12700">
            <a:solidFill>
              <a:srgbClr val="17613F"/>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914400" y="2862072"/>
            <a:ext cx="41148" cy="41148"/>
          </a:xfrm>
          <a:prstGeom prst="ellips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1" y="2862072"/>
            <a:ext cx="41148" cy="41148"/>
          </a:xfrm>
          <a:prstGeom prst="ellips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152144" y="2862072"/>
            <a:ext cx="41148" cy="41148"/>
          </a:xfrm>
          <a:prstGeom prst="ellips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60704" y="3200400"/>
            <a:ext cx="4297680" cy="228600"/>
          </a:xfrm>
          <a:prstGeom prst="rect">
            <a:avLst/>
          </a:prstGeom>
          <a:noFill/>
        </p:spPr>
        <p:txBody>
          <a:bodyPr wrap="square" lIns="0" rIns="0" tIns="0" bIns="0">
            <a:spAutoFit/>
          </a:bodyPr>
          <a:lstStyle/>
          <a:p>
            <a:pPr algn="l">
              <a:spcAft>
                <a:spcPts val="0"/>
              </a:spcAft>
            </a:pPr>
            <a:r>
              <a:rPr sz="1300" b="0">
                <a:solidFill>
                  <a:srgbClr val="567168"/>
                </a:solidFill>
                <a:latin typeface="Nimbus Sans"/>
              </a:rPr>
              <a:t>mecosin.id</a:t>
            </a:r>
          </a:p>
        </p:txBody>
      </p:sp>
      <p:sp>
        <p:nvSpPr>
          <p:cNvPr id="35" name="TextBox 34"/>
          <p:cNvSpPr txBox="1"/>
          <p:nvPr/>
        </p:nvSpPr>
        <p:spPr>
          <a:xfrm>
            <a:off x="1060704" y="3621024"/>
            <a:ext cx="4297680" cy="365760"/>
          </a:xfrm>
          <a:prstGeom prst="rect">
            <a:avLst/>
          </a:prstGeom>
          <a:noFill/>
        </p:spPr>
        <p:txBody>
          <a:bodyPr wrap="square" lIns="0" rIns="0" tIns="0" bIns="0">
            <a:spAutoFit/>
          </a:bodyPr>
          <a:lstStyle/>
          <a:p>
            <a:pPr algn="l">
              <a:spcAft>
                <a:spcPts val="0"/>
              </a:spcAft>
            </a:pPr>
            <a:r>
              <a:rPr sz="2400" b="1">
                <a:solidFill>
                  <a:srgbClr val="247CA2"/>
                </a:solidFill>
                <a:latin typeface="Nimbus Sans"/>
              </a:rPr>
              <a:t>Judul halaman</a:t>
            </a:r>
          </a:p>
        </p:txBody>
      </p:sp>
      <p:sp>
        <p:nvSpPr>
          <p:cNvPr id="36" name="TextBox 35"/>
          <p:cNvSpPr txBox="1"/>
          <p:nvPr/>
        </p:nvSpPr>
        <p:spPr>
          <a:xfrm>
            <a:off x="1060704" y="4197096"/>
            <a:ext cx="4297680" cy="338328"/>
          </a:xfrm>
          <a:prstGeom prst="rect">
            <a:avLst/>
          </a:prstGeom>
          <a:noFill/>
        </p:spPr>
        <p:txBody>
          <a:bodyPr wrap="square" lIns="0" rIns="0" tIns="0" bIns="0">
            <a:spAutoFit/>
          </a:bodyPr>
          <a:lstStyle/>
          <a:p>
            <a:pPr algn="l">
              <a:spcAft>
                <a:spcPts val="0"/>
              </a:spcAft>
            </a:pPr>
            <a:r>
              <a:rPr sz="1700" b="0">
                <a:solidFill>
                  <a:srgbClr val="567168"/>
                </a:solidFill>
                <a:latin typeface="Nimbus Sans"/>
              </a:rPr>
              <a:t>Cuplikan isi halaman di Google</a:t>
            </a:r>
          </a:p>
        </p:txBody>
      </p:sp>
      <p:sp>
        <p:nvSpPr>
          <p:cNvPr id="37" name="TextBox 36"/>
          <p:cNvSpPr txBox="1"/>
          <p:nvPr/>
        </p:nvSpPr>
        <p:spPr>
          <a:xfrm>
            <a:off x="822960" y="5257800"/>
            <a:ext cx="4754880" cy="292608"/>
          </a:xfrm>
          <a:prstGeom prst="rect">
            <a:avLst/>
          </a:prstGeom>
          <a:noFill/>
        </p:spPr>
        <p:txBody>
          <a:bodyPr wrap="square" lIns="0" rIns="0" tIns="0" bIns="0">
            <a:spAutoFit/>
          </a:bodyPr>
          <a:lstStyle/>
          <a:p>
            <a:pPr algn="l">
              <a:spcAft>
                <a:spcPts val="0"/>
              </a:spcAft>
            </a:pPr>
            <a:r>
              <a:rPr sz="2100" b="1">
                <a:solidFill>
                  <a:srgbClr val="17613F"/>
                </a:solidFill>
                <a:latin typeface="Nimbus Sans"/>
              </a:rPr>
              <a:t>Sudah muncul, jarang diklik.</a:t>
            </a:r>
          </a:p>
        </p:txBody>
      </p:sp>
      <p:sp>
        <p:nvSpPr>
          <p:cNvPr id="38" name="Oval 37"/>
          <p:cNvSpPr/>
          <p:nvPr/>
        </p:nvSpPr>
        <p:spPr>
          <a:xfrm>
            <a:off x="6400800" y="2880360"/>
            <a:ext cx="228600" cy="228600"/>
          </a:xfrm>
          <a:prstGeom prst="ellipse">
            <a:avLst/>
          </a:prstGeom>
          <a:noFill/>
          <a:ln w="3048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6590538" y="3070098"/>
            <a:ext cx="107442" cy="107442"/>
          </a:xfrm>
          <a:prstGeom prst="line">
            <a:avLst/>
          </a:prstGeom>
          <a:ln w="38100">
            <a:solidFill>
              <a:srgbClr val="17613F"/>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995160" y="2898648"/>
            <a:ext cx="4297680" cy="365760"/>
          </a:xfrm>
          <a:prstGeom prst="rect">
            <a:avLst/>
          </a:prstGeom>
          <a:noFill/>
        </p:spPr>
        <p:txBody>
          <a:bodyPr wrap="square" lIns="0" rIns="0" tIns="0" bIns="0">
            <a:spAutoFit/>
          </a:bodyPr>
          <a:lstStyle/>
          <a:p>
            <a:pPr algn="l">
              <a:spcAft>
                <a:spcPts val="0"/>
              </a:spcAft>
            </a:pPr>
            <a:r>
              <a:rPr sz="2100" b="0">
                <a:solidFill>
                  <a:srgbClr val="193E32"/>
                </a:solidFill>
                <a:latin typeface="Nimbus Sans"/>
              </a:rPr>
              <a:t>Kata pencarian &amp; intent</a:t>
            </a:r>
          </a:p>
        </p:txBody>
      </p:sp>
      <p:sp>
        <p:nvSpPr>
          <p:cNvPr id="41" name="Oval 40"/>
          <p:cNvSpPr/>
          <p:nvPr/>
        </p:nvSpPr>
        <p:spPr>
          <a:xfrm>
            <a:off x="6400800" y="3520439"/>
            <a:ext cx="228600" cy="228600"/>
          </a:xfrm>
          <a:prstGeom prst="ellipse">
            <a:avLst/>
          </a:prstGeom>
          <a:noFill/>
          <a:ln w="3048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6590538" y="3710177"/>
            <a:ext cx="107442" cy="107443"/>
          </a:xfrm>
          <a:prstGeom prst="line">
            <a:avLst/>
          </a:prstGeom>
          <a:ln w="38100">
            <a:solidFill>
              <a:srgbClr val="17613F"/>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995160" y="3538727"/>
            <a:ext cx="4297680" cy="365760"/>
          </a:xfrm>
          <a:prstGeom prst="rect">
            <a:avLst/>
          </a:prstGeom>
          <a:noFill/>
        </p:spPr>
        <p:txBody>
          <a:bodyPr wrap="square" lIns="0" rIns="0" tIns="0" bIns="0">
            <a:spAutoFit/>
          </a:bodyPr>
          <a:lstStyle/>
          <a:p>
            <a:pPr algn="l">
              <a:spcAft>
                <a:spcPts val="0"/>
              </a:spcAft>
            </a:pPr>
            <a:r>
              <a:rPr sz="2100" b="0">
                <a:solidFill>
                  <a:srgbClr val="193E32"/>
                </a:solidFill>
                <a:latin typeface="Nimbus Sans"/>
              </a:rPr>
              <a:t>Posisi hasil pencarian</a:t>
            </a:r>
          </a:p>
        </p:txBody>
      </p:sp>
      <p:sp>
        <p:nvSpPr>
          <p:cNvPr id="44" name="Oval 43"/>
          <p:cNvSpPr/>
          <p:nvPr/>
        </p:nvSpPr>
        <p:spPr>
          <a:xfrm>
            <a:off x="6400800" y="4160520"/>
            <a:ext cx="228600" cy="228600"/>
          </a:xfrm>
          <a:prstGeom prst="ellipse">
            <a:avLst/>
          </a:prstGeom>
          <a:noFill/>
          <a:ln w="3048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6590538" y="4350257"/>
            <a:ext cx="107442" cy="107443"/>
          </a:xfrm>
          <a:prstGeom prst="line">
            <a:avLst/>
          </a:prstGeom>
          <a:ln w="38100">
            <a:solidFill>
              <a:srgbClr val="17613F"/>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6995160" y="4178807"/>
            <a:ext cx="4297680" cy="365760"/>
          </a:xfrm>
          <a:prstGeom prst="rect">
            <a:avLst/>
          </a:prstGeom>
          <a:noFill/>
        </p:spPr>
        <p:txBody>
          <a:bodyPr wrap="square" lIns="0" rIns="0" tIns="0" bIns="0">
            <a:spAutoFit/>
          </a:bodyPr>
          <a:lstStyle/>
          <a:p>
            <a:pPr algn="l">
              <a:spcAft>
                <a:spcPts val="0"/>
              </a:spcAft>
            </a:pPr>
            <a:r>
              <a:rPr sz="2100" b="0">
                <a:solidFill>
                  <a:srgbClr val="193E32"/>
                </a:solidFill>
                <a:latin typeface="Nimbus Sans"/>
              </a:rPr>
              <a:t>Judul &amp; tampilan di Google</a:t>
            </a:r>
          </a:p>
        </p:txBody>
      </p:sp>
      <p:cxnSp>
        <p:nvCxnSpPr>
          <p:cNvPr id="47" name="Connector 46"/>
          <p:cNvCxnSpPr/>
          <p:nvPr/>
        </p:nvCxnSpPr>
        <p:spPr>
          <a:xfrm>
            <a:off x="5742432" y="3895344"/>
            <a:ext cx="475488" cy="0"/>
          </a:xfrm>
          <a:prstGeom prst="line">
            <a:avLst/>
          </a:prstGeom>
          <a:ln w="25400">
            <a:solidFill>
              <a:srgbClr val="D2AB62"/>
            </a:solidFill>
            <a:tailEnd type="triangle"/>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6400800" y="5010912"/>
            <a:ext cx="4937760" cy="594360"/>
          </a:xfrm>
          <a:prstGeom prst="rect">
            <a:avLst/>
          </a:prstGeom>
          <a:noFill/>
        </p:spPr>
        <p:txBody>
          <a:bodyPr wrap="square" lIns="0" rIns="0" tIns="0" bIns="0">
            <a:spAutoFit/>
          </a:bodyPr>
          <a:lstStyle/>
          <a:p>
            <a:pPr algn="l">
              <a:spcAft>
                <a:spcPts val="0"/>
              </a:spcAft>
            </a:pPr>
            <a:r>
              <a:rPr sz="1900" b="1">
                <a:solidFill>
                  <a:srgbClr val="17613F"/>
                </a:solidFill>
                <a:latin typeface="Nimbus Sans"/>
              </a:rPr>
              <a:t>Cari penyebabnya, lalu perbaiki</a:t>
            </a:r>
          </a:p>
          <a:p>
            <a:pPr algn="l">
              <a:spcAft>
                <a:spcPts val="0"/>
              </a:spcAft>
            </a:pPr>
            <a:r>
              <a:rPr sz="1900" b="1">
                <a:solidFill>
                  <a:srgbClr val="17613F"/>
                </a:solidFill>
                <a:latin typeface="Nimbus Sans"/>
              </a:rPr>
              <a:t>metadata atau isi yang belum sesuai.</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6F8F3"/>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1761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502920" y="210312"/>
            <a:ext cx="2395728" cy="448056"/>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7" name="Picture 36" descr="image.png"/>
          <p:cNvPicPr>
            <a:picLocks noChangeAspect="1"/>
          </p:cNvPicPr>
          <p:nvPr/>
        </p:nvPicPr>
        <p:blipFill>
          <a:blip r:embed="rId5"/>
          <a:stretch>
            <a:fillRect/>
          </a:stretch>
        </p:blipFill>
        <p:spPr>
          <a:xfrm>
            <a:off x="603504" y="323088"/>
            <a:ext cx="585216" cy="195072"/>
          </a:xfrm>
          <a:prstGeom prst="rect">
            <a:avLst/>
          </a:prstGeom>
          <a:effectLst/>
        </p:spPr>
      </p:pic>
      <p:sp>
        <p:nvSpPr>
          <p:cNvPr id="5" name="TextBox 4"/>
          <p:cNvSpPr txBox="1"/>
          <p:nvPr/>
        </p:nvSpPr>
        <p:spPr>
          <a:xfrm>
            <a:off x="1271016" y="283464"/>
            <a:ext cx="164592" cy="228600"/>
          </a:xfrm>
          <a:prstGeom prst="rect">
            <a:avLst/>
          </a:prstGeom>
          <a:noFill/>
          <a:effectLst/>
        </p:spPr>
        <p:txBody>
          <a:bodyPr wrap="square" tIns="0" bIns="0" lIns="0" rIns="0">
            <a:spAutoFit/>
          </a:bodyPr>
          <a:lstStyle/>
          <a:p>
            <a:pPr>
              <a:spcBef>
                <a:spcPts val="0"/>
              </a:spcBef>
              <a:spcAft>
                <a:spcPts val="600"/>
              </a:spcAft>
              <a:defRPr sz="1200" b="0">
                <a:solidFill>
                  <a:srgbClr val="567168"/>
                </a:solidFill>
                <a:latin typeface="Nimbus Sans"/>
              </a:defRPr>
            </a:pPr>
            <a:r>
              <a:t>×</a:t>
            </a:r>
          </a:p>
        </p:txBody>
      </p:sp>
      <p:pic>
        <p:nvPicPr>
          <p:cNvPr id="38" name="Picture 37" descr="image.png"/>
          <p:cNvPicPr>
            <a:picLocks noChangeAspect="1"/>
          </p:cNvPicPr>
          <p:nvPr/>
        </p:nvPicPr>
        <p:blipFill>
          <a:blip r:embed="rId6"/>
          <a:stretch>
            <a:fillRect/>
          </a:stretch>
        </p:blipFill>
        <p:spPr>
          <a:xfrm>
            <a:off x="1536192" y="334792"/>
            <a:ext cx="1243584" cy="153375"/>
          </a:xfrm>
          <a:prstGeom prst="rect">
            <a:avLst/>
          </a:prstGeom>
          <a:effectLst/>
        </p:spPr>
      </p:pic>
      <p:sp>
        <p:nvSpPr>
          <p:cNvPr id="7" name="TextBox 6"/>
          <p:cNvSpPr txBox="1"/>
          <p:nvPr/>
        </p:nvSpPr>
        <p:spPr>
          <a:xfrm>
            <a:off x="5486400" y="356616"/>
            <a:ext cx="6062472" cy="237744"/>
          </a:xfrm>
          <a:prstGeom prst="rect">
            <a:avLst/>
          </a:prstGeom>
          <a:noFill/>
          <a:effectLst/>
        </p:spPr>
        <p:txBody>
          <a:bodyPr wrap="square" tIns="0" bIns="0" lIns="0" rIns="0">
            <a:spAutoFit/>
          </a:bodyPr>
          <a:lstStyle/>
          <a:p>
            <a:pPr algn="r">
              <a:spcBef>
                <a:spcPts val="0"/>
              </a:spcBef>
              <a:spcAft>
                <a:spcPts val="600"/>
              </a:spcAft>
              <a:defRPr sz="1000" b="1">
                <a:solidFill>
                  <a:srgbClr val="17613F"/>
                </a:solidFill>
                <a:latin typeface="Nimbus Sans"/>
              </a:defRPr>
            </a:pPr>
            <a:r>
              <a:t>05 / EVALUASI &amp; PENGELOLAAN</a:t>
            </a:r>
          </a:p>
        </p:txBody>
      </p:sp>
      <p:sp>
        <p:nvSpPr>
          <p:cNvPr id="8" name="TextBox 7"/>
          <p:cNvSpPr txBox="1"/>
          <p:nvPr/>
        </p:nvSpPr>
        <p:spPr>
          <a:xfrm>
            <a:off x="594360" y="960120"/>
            <a:ext cx="10972800" cy="822960"/>
          </a:xfrm>
          <a:prstGeom prst="rect">
            <a:avLst/>
          </a:prstGeom>
          <a:noFill/>
          <a:effectLst/>
        </p:spPr>
        <p:txBody>
          <a:bodyPr wrap="square" tIns="0" bIns="0" lIns="0" rIns="0">
            <a:spAutoFit/>
          </a:bodyPr>
          <a:lstStyle/>
          <a:p>
            <a:pPr>
              <a:spcBef>
                <a:spcPts val="0"/>
              </a:spcBef>
              <a:spcAft>
                <a:spcPts val="400"/>
              </a:spcAft>
              <a:defRPr sz="3100" b="1">
                <a:solidFill>
                  <a:srgbClr val="193E32"/>
                </a:solidFill>
                <a:latin typeface="Nimbus Sans"/>
              </a:defRPr>
            </a:pPr>
            <a:r>
              <a:rPr sz="3100"/>
              <a:t>Kenapa hasil SEO tidak langsung terlihat?</a:t>
            </a:r>
          </a:p>
        </p:txBody>
      </p:sp>
      <p:sp>
        <p:nvSpPr>
          <p:cNvPr id="9" name="TextBox 8"/>
          <p:cNvSpPr txBox="1"/>
          <p:nvPr/>
        </p:nvSpPr>
        <p:spPr>
          <a:xfrm>
            <a:off x="594360" y="1792224"/>
            <a:ext cx="10972800" cy="594360"/>
          </a:xfrm>
          <a:prstGeom prst="rect">
            <a:avLst/>
          </a:prstGeom>
          <a:noFill/>
          <a:effectLst/>
        </p:spPr>
        <p:txBody>
          <a:bodyPr wrap="square" tIns="0" bIns="0" lIns="0" rIns="0">
            <a:spAutoFit/>
          </a:bodyPr>
          <a:lstStyle/>
          <a:p>
            <a:pPr>
              <a:spcBef>
                <a:spcPts val="0"/>
              </a:spcBef>
              <a:spcAft>
                <a:spcPts val="400"/>
              </a:spcAft>
              <a:defRPr sz="1700" b="0">
                <a:solidFill>
                  <a:srgbClr val="567168"/>
                </a:solidFill>
                <a:latin typeface="Nimbus Sans"/>
              </a:defRPr>
            </a:pPr>
            <a:r>
              <a:rPr sz="1700"/>
              <a:t>Website bisa diperbarui hari ini. Google dan pengunjung membutuhkan waktu untuk merespons perubahan itu.</a:t>
            </a:r>
          </a:p>
        </p:txBody>
      </p:sp>
      <p:sp>
        <p:nvSpPr>
          <p:cNvPr id="10" name="TextBox 9"/>
          <p:cNvSpPr txBox="1"/>
          <p:nvPr/>
        </p:nvSpPr>
        <p:spPr>
          <a:xfrm>
            <a:off x="594360" y="6437376"/>
            <a:ext cx="10287000" cy="219456"/>
          </a:xfrm>
          <a:prstGeom prst="rect">
            <a:avLst/>
          </a:prstGeom>
          <a:noFill/>
          <a:effectLst/>
        </p:spPr>
        <p:txBody>
          <a:bodyPr wrap="square" tIns="0" bIns="0" lIns="0" rIns="0">
            <a:spAutoFit/>
          </a:bodyPr>
          <a:lstStyle/>
          <a:p>
            <a:pPr>
              <a:spcBef>
                <a:spcPts val="0"/>
              </a:spcBef>
              <a:spcAft>
                <a:spcPts val="400"/>
              </a:spcAft>
              <a:defRPr sz="900" b="0">
                <a:solidFill>
                  <a:srgbClr val="567168"/>
                </a:solidFill>
                <a:latin typeface="Nimbus Sans"/>
              </a:defRPr>
            </a:pPr>
            <a:r>
              <a:rPr sz="900"/>
              <a:t>Tidak ada jaminan waktu indexing, ranking, traffic, atau penjualan.</a:t>
            </a:r>
          </a:p>
        </p:txBody>
      </p:sp>
      <p:sp>
        <p:nvSpPr>
          <p:cNvPr id="11" name="TextBox 10"/>
          <p:cNvSpPr txBox="1"/>
          <p:nvPr/>
        </p:nvSpPr>
        <p:spPr>
          <a:xfrm>
            <a:off x="11091672" y="6391656"/>
            <a:ext cx="457200" cy="256032"/>
          </a:xfrm>
          <a:prstGeom prst="rect">
            <a:avLst/>
          </a:prstGeom>
          <a:noFill/>
          <a:effectLst/>
        </p:spPr>
        <p:txBody>
          <a:bodyPr wrap="square" tIns="0" bIns="0" lIns="0" rIns="0">
            <a:spAutoFit/>
          </a:bodyPr>
          <a:lstStyle/>
          <a:p>
            <a:pPr>
              <a:spcBef>
                <a:spcPts val="0"/>
              </a:spcBef>
              <a:spcAft>
                <a:spcPts val="600"/>
              </a:spcAft>
              <a:defRPr sz="1200" b="1">
                <a:solidFill>
                  <a:srgbClr val="17613F"/>
                </a:solidFill>
                <a:latin typeface="Nimbus Sans"/>
              </a:defRPr>
            </a:pPr>
            <a:r>
              <a:t>24</a:t>
            </a:r>
          </a:p>
        </p:txBody>
      </p:sp>
      <p:sp>
        <p:nvSpPr>
          <p:cNvPr id="12" name="Rectangle 11"/>
          <p:cNvSpPr/>
          <p:nvPr/>
        </p:nvSpPr>
        <p:spPr>
          <a:xfrm>
            <a:off x="566928"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2432304"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297680"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163056"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8028431" y="6739128"/>
            <a:ext cx="1755648" cy="32004"/>
          </a:xfrm>
          <a:prstGeom prst="rect">
            <a:avLst/>
          </a:prstGeom>
          <a:solidFill>
            <a:srgbClr val="D2AB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893807"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p:cNvCxnSpPr/>
          <p:nvPr/>
        </p:nvCxnSpPr>
        <p:spPr>
          <a:xfrm>
            <a:off x="891540" y="3140964"/>
            <a:ext cx="8394192" cy="0"/>
          </a:xfrm>
          <a:prstGeom prst="line">
            <a:avLst/>
          </a:prstGeom>
          <a:ln w="38100">
            <a:solidFill>
              <a:srgbClr val="17613F"/>
            </a:solidFill>
          </a:ln>
          <a:effectLst/>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594360" y="2843784"/>
            <a:ext cx="594360" cy="594360"/>
          </a:xfrm>
          <a:prstGeom prst="roundRect">
            <a:avLst>
              <a:gd name="adj" fmla="val 12000"/>
            </a:avLst>
          </a:prstGeom>
          <a:solidFill>
            <a:srgbClr val="1761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94360" y="2980944"/>
            <a:ext cx="594360" cy="274320"/>
          </a:xfrm>
          <a:prstGeom prst="rect">
            <a:avLst/>
          </a:prstGeom>
          <a:noFill/>
          <a:effectLst/>
        </p:spPr>
        <p:txBody>
          <a:bodyPr wrap="square" tIns="0" bIns="0" lIns="0" rIns="0">
            <a:spAutoFit/>
          </a:bodyPr>
          <a:lstStyle/>
          <a:p>
            <a:pPr algn="ctr">
              <a:spcBef>
                <a:spcPts val="0"/>
              </a:spcBef>
              <a:spcAft>
                <a:spcPts val="600"/>
              </a:spcAft>
              <a:defRPr sz="1800" b="1">
                <a:solidFill>
                  <a:srgbClr val="FFFFFF"/>
                </a:solidFill>
                <a:latin typeface="Nimbus Sans"/>
              </a:defRPr>
            </a:pPr>
            <a:r>
              <a:t>1</a:t>
            </a:r>
          </a:p>
        </p:txBody>
      </p:sp>
      <p:sp>
        <p:nvSpPr>
          <p:cNvPr id="21" name="TextBox 20"/>
          <p:cNvSpPr txBox="1"/>
          <p:nvPr/>
        </p:nvSpPr>
        <p:spPr>
          <a:xfrm>
            <a:off x="594360" y="3703320"/>
            <a:ext cx="2532888" cy="822960"/>
          </a:xfrm>
          <a:prstGeom prst="rect">
            <a:avLst/>
          </a:prstGeom>
          <a:noFill/>
          <a:effectLst/>
        </p:spPr>
        <p:txBody>
          <a:bodyPr wrap="square" tIns="0" bIns="0" lIns="0" rIns="0">
            <a:spAutoFit/>
          </a:bodyPr>
          <a:lstStyle/>
          <a:p>
            <a:pPr>
              <a:spcBef>
                <a:spcPts val="0"/>
              </a:spcBef>
              <a:spcAft>
                <a:spcPts val="600"/>
              </a:spcAft>
              <a:defRPr sz="2300" b="1">
                <a:solidFill>
                  <a:srgbClr val="193E32"/>
                </a:solidFill>
                <a:latin typeface="Nimbus Sans"/>
              </a:defRPr>
            </a:pPr>
            <a:r>
              <a:t>Perubahan diterapkan</a:t>
            </a:r>
          </a:p>
        </p:txBody>
      </p:sp>
      <p:sp>
        <p:nvSpPr>
          <p:cNvPr id="22" name="TextBox 21"/>
          <p:cNvSpPr txBox="1"/>
          <p:nvPr/>
        </p:nvSpPr>
        <p:spPr>
          <a:xfrm>
            <a:off x="594360" y="4626864"/>
            <a:ext cx="2532888" cy="777240"/>
          </a:xfrm>
          <a:prstGeom prst="rect">
            <a:avLst/>
          </a:prstGeom>
          <a:noFill/>
          <a:effectLst/>
        </p:spPr>
        <p:txBody>
          <a:bodyPr wrap="square" tIns="0" bIns="0" lIns="0" rIns="0">
            <a:spAutoFit/>
          </a:bodyPr>
          <a:lstStyle/>
          <a:p>
            <a:pPr>
              <a:spcBef>
                <a:spcPts val="0"/>
              </a:spcBef>
              <a:spcAft>
                <a:spcPts val="600"/>
              </a:spcAft>
              <a:defRPr sz="1600" b="0">
                <a:solidFill>
                  <a:srgbClr val="567168"/>
                </a:solidFill>
                <a:latin typeface="Nimbus Sans"/>
              </a:defRPr>
            </a:pPr>
            <a:r>
              <a:t>Contoh: metadata dan isi diperbaiki.</a:t>
            </a:r>
          </a:p>
        </p:txBody>
      </p:sp>
      <p:sp>
        <p:nvSpPr>
          <p:cNvPr id="23" name="Rounded Rectangle 22"/>
          <p:cNvSpPr/>
          <p:nvPr/>
        </p:nvSpPr>
        <p:spPr>
          <a:xfrm>
            <a:off x="3392424" y="2843784"/>
            <a:ext cx="594360" cy="594360"/>
          </a:xfrm>
          <a:prstGeom prst="roundRect">
            <a:avLst>
              <a:gd name="adj" fmla="val 12000"/>
            </a:avLst>
          </a:prstGeom>
          <a:solidFill>
            <a:srgbClr val="1761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3392424" y="2980944"/>
            <a:ext cx="594360" cy="274320"/>
          </a:xfrm>
          <a:prstGeom prst="rect">
            <a:avLst/>
          </a:prstGeom>
          <a:noFill/>
          <a:effectLst/>
        </p:spPr>
        <p:txBody>
          <a:bodyPr wrap="square" tIns="0" bIns="0" lIns="0" rIns="0">
            <a:spAutoFit/>
          </a:bodyPr>
          <a:lstStyle/>
          <a:p>
            <a:pPr algn="ctr">
              <a:spcBef>
                <a:spcPts val="0"/>
              </a:spcBef>
              <a:spcAft>
                <a:spcPts val="600"/>
              </a:spcAft>
              <a:defRPr sz="1800" b="1">
                <a:solidFill>
                  <a:srgbClr val="FFFFFF"/>
                </a:solidFill>
                <a:latin typeface="Nimbus Sans"/>
              </a:defRPr>
            </a:pPr>
            <a:r>
              <a:t>2</a:t>
            </a:r>
          </a:p>
        </p:txBody>
      </p:sp>
      <p:sp>
        <p:nvSpPr>
          <p:cNvPr id="25" name="TextBox 24"/>
          <p:cNvSpPr txBox="1"/>
          <p:nvPr/>
        </p:nvSpPr>
        <p:spPr>
          <a:xfrm>
            <a:off x="3392424" y="3703320"/>
            <a:ext cx="2532888" cy="822960"/>
          </a:xfrm>
          <a:prstGeom prst="rect">
            <a:avLst/>
          </a:prstGeom>
          <a:noFill/>
          <a:effectLst/>
        </p:spPr>
        <p:txBody>
          <a:bodyPr wrap="square" tIns="0" bIns="0" lIns="0" rIns="0">
            <a:spAutoFit/>
          </a:bodyPr>
          <a:lstStyle/>
          <a:p>
            <a:pPr>
              <a:spcBef>
                <a:spcPts val="0"/>
              </a:spcBef>
              <a:spcAft>
                <a:spcPts val="600"/>
              </a:spcAft>
              <a:defRPr sz="2300" b="1">
                <a:solidFill>
                  <a:srgbClr val="193E32"/>
                </a:solidFill>
                <a:latin typeface="Nimbus Sans"/>
              </a:defRPr>
            </a:pPr>
            <a:r>
              <a:t>Google memproses</a:t>
            </a:r>
          </a:p>
        </p:txBody>
      </p:sp>
      <p:sp>
        <p:nvSpPr>
          <p:cNvPr id="26" name="TextBox 25"/>
          <p:cNvSpPr txBox="1"/>
          <p:nvPr/>
        </p:nvSpPr>
        <p:spPr>
          <a:xfrm>
            <a:off x="3392424" y="4626864"/>
            <a:ext cx="2532888" cy="777240"/>
          </a:xfrm>
          <a:prstGeom prst="rect">
            <a:avLst/>
          </a:prstGeom>
          <a:noFill/>
          <a:effectLst/>
        </p:spPr>
        <p:txBody>
          <a:bodyPr wrap="square" tIns="0" bIns="0" lIns="0" rIns="0">
            <a:spAutoFit/>
          </a:bodyPr>
          <a:lstStyle/>
          <a:p>
            <a:pPr>
              <a:spcBef>
                <a:spcPts val="0"/>
              </a:spcBef>
              <a:spcAft>
                <a:spcPts val="600"/>
              </a:spcAft>
              <a:defRPr sz="1600" b="0">
                <a:solidFill>
                  <a:srgbClr val="567168"/>
                </a:solidFill>
                <a:latin typeface="Nimbus Sans"/>
              </a:defRPr>
            </a:pPr>
            <a:r>
              <a:t>Halaman perlu dikunjungi dan dinilai ulang.</a:t>
            </a:r>
          </a:p>
        </p:txBody>
      </p:sp>
      <p:sp>
        <p:nvSpPr>
          <p:cNvPr id="27" name="Rounded Rectangle 26"/>
          <p:cNvSpPr/>
          <p:nvPr/>
        </p:nvSpPr>
        <p:spPr>
          <a:xfrm>
            <a:off x="6190488" y="2843784"/>
            <a:ext cx="594360" cy="594360"/>
          </a:xfrm>
          <a:prstGeom prst="roundRect">
            <a:avLst>
              <a:gd name="adj" fmla="val 12000"/>
            </a:avLst>
          </a:prstGeom>
          <a:solidFill>
            <a:srgbClr val="1761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190488" y="2980944"/>
            <a:ext cx="594360" cy="274320"/>
          </a:xfrm>
          <a:prstGeom prst="rect">
            <a:avLst/>
          </a:prstGeom>
          <a:noFill/>
          <a:effectLst/>
        </p:spPr>
        <p:txBody>
          <a:bodyPr wrap="square" tIns="0" bIns="0" lIns="0" rIns="0">
            <a:spAutoFit/>
          </a:bodyPr>
          <a:lstStyle/>
          <a:p>
            <a:pPr algn="ctr">
              <a:spcBef>
                <a:spcPts val="0"/>
              </a:spcBef>
              <a:spcAft>
                <a:spcPts val="600"/>
              </a:spcAft>
              <a:defRPr sz="1800" b="1">
                <a:solidFill>
                  <a:srgbClr val="FFFFFF"/>
                </a:solidFill>
                <a:latin typeface="Nimbus Sans"/>
              </a:defRPr>
            </a:pPr>
            <a:r>
              <a:t>3</a:t>
            </a:r>
          </a:p>
        </p:txBody>
      </p:sp>
      <p:sp>
        <p:nvSpPr>
          <p:cNvPr id="29" name="TextBox 28"/>
          <p:cNvSpPr txBox="1"/>
          <p:nvPr/>
        </p:nvSpPr>
        <p:spPr>
          <a:xfrm>
            <a:off x="6190488" y="3703320"/>
            <a:ext cx="2532888" cy="822960"/>
          </a:xfrm>
          <a:prstGeom prst="rect">
            <a:avLst/>
          </a:prstGeom>
          <a:noFill/>
          <a:effectLst/>
        </p:spPr>
        <p:txBody>
          <a:bodyPr wrap="square" tIns="0" bIns="0" lIns="0" rIns="0">
            <a:spAutoFit/>
          </a:bodyPr>
          <a:lstStyle/>
          <a:p>
            <a:pPr>
              <a:spcBef>
                <a:spcPts val="0"/>
              </a:spcBef>
              <a:spcAft>
                <a:spcPts val="600"/>
              </a:spcAft>
              <a:defRPr sz="2300" b="1">
                <a:solidFill>
                  <a:srgbClr val="193E32"/>
                </a:solidFill>
                <a:latin typeface="Nimbus Sans"/>
              </a:defRPr>
            </a:pPr>
            <a:r>
              <a:t>Data terkumpul</a:t>
            </a:r>
          </a:p>
        </p:txBody>
      </p:sp>
      <p:sp>
        <p:nvSpPr>
          <p:cNvPr id="30" name="TextBox 29"/>
          <p:cNvSpPr txBox="1"/>
          <p:nvPr/>
        </p:nvSpPr>
        <p:spPr>
          <a:xfrm>
            <a:off x="6190488" y="4626864"/>
            <a:ext cx="2532888" cy="777240"/>
          </a:xfrm>
          <a:prstGeom prst="rect">
            <a:avLst/>
          </a:prstGeom>
          <a:noFill/>
          <a:effectLst/>
        </p:spPr>
        <p:txBody>
          <a:bodyPr wrap="square" tIns="0" bIns="0" lIns="0" rIns="0">
            <a:spAutoFit/>
          </a:bodyPr>
          <a:lstStyle/>
          <a:p>
            <a:pPr>
              <a:spcBef>
                <a:spcPts val="0"/>
              </a:spcBef>
              <a:spcAft>
                <a:spcPts val="600"/>
              </a:spcAft>
              <a:defRPr sz="1600" b="0">
                <a:solidFill>
                  <a:srgbClr val="567168"/>
                </a:solidFill>
                <a:latin typeface="Nimbus Sans"/>
              </a:defRPr>
            </a:pPr>
            <a:r>
              <a:t>Data pencarian dan interaksi dikumpulkan untuk perbandingan.</a:t>
            </a:r>
          </a:p>
        </p:txBody>
      </p:sp>
      <p:sp>
        <p:nvSpPr>
          <p:cNvPr id="31" name="Rounded Rectangle 30"/>
          <p:cNvSpPr/>
          <p:nvPr/>
        </p:nvSpPr>
        <p:spPr>
          <a:xfrm>
            <a:off x="8988552" y="2843784"/>
            <a:ext cx="594360" cy="594360"/>
          </a:xfrm>
          <a:prstGeom prst="roundRect">
            <a:avLst>
              <a:gd name="adj" fmla="val 12000"/>
            </a:avLst>
          </a:prstGeom>
          <a:solidFill>
            <a:srgbClr val="1761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8988552" y="2980944"/>
            <a:ext cx="594360" cy="274320"/>
          </a:xfrm>
          <a:prstGeom prst="rect">
            <a:avLst/>
          </a:prstGeom>
          <a:noFill/>
          <a:effectLst/>
        </p:spPr>
        <p:txBody>
          <a:bodyPr wrap="square" tIns="0" bIns="0" lIns="0" rIns="0">
            <a:spAutoFit/>
          </a:bodyPr>
          <a:lstStyle/>
          <a:p>
            <a:pPr algn="ctr">
              <a:spcBef>
                <a:spcPts val="0"/>
              </a:spcBef>
              <a:spcAft>
                <a:spcPts val="600"/>
              </a:spcAft>
              <a:defRPr sz="1800" b="1">
                <a:solidFill>
                  <a:srgbClr val="FFFFFF"/>
                </a:solidFill>
                <a:latin typeface="Nimbus Sans"/>
              </a:defRPr>
            </a:pPr>
            <a:r>
              <a:t>4</a:t>
            </a:r>
          </a:p>
        </p:txBody>
      </p:sp>
      <p:sp>
        <p:nvSpPr>
          <p:cNvPr id="33" name="TextBox 32"/>
          <p:cNvSpPr txBox="1"/>
          <p:nvPr/>
        </p:nvSpPr>
        <p:spPr>
          <a:xfrm>
            <a:off x="8988552" y="3703320"/>
            <a:ext cx="2532888" cy="822960"/>
          </a:xfrm>
          <a:prstGeom prst="rect">
            <a:avLst/>
          </a:prstGeom>
          <a:noFill/>
          <a:effectLst/>
        </p:spPr>
        <p:txBody>
          <a:bodyPr wrap="square" tIns="0" bIns="0" lIns="0" rIns="0">
            <a:spAutoFit/>
          </a:bodyPr>
          <a:lstStyle/>
          <a:p>
            <a:pPr>
              <a:spcBef>
                <a:spcPts val="0"/>
              </a:spcBef>
              <a:spcAft>
                <a:spcPts val="600"/>
              </a:spcAft>
              <a:defRPr sz="2300" b="1">
                <a:solidFill>
                  <a:srgbClr val="193E32"/>
                </a:solidFill>
                <a:latin typeface="Nimbus Sans"/>
              </a:defRPr>
            </a:pPr>
            <a:r>
              <a:t>Hasil dievaluasi</a:t>
            </a:r>
          </a:p>
        </p:txBody>
      </p:sp>
      <p:sp>
        <p:nvSpPr>
          <p:cNvPr id="34" name="TextBox 33"/>
          <p:cNvSpPr txBox="1"/>
          <p:nvPr/>
        </p:nvSpPr>
        <p:spPr>
          <a:xfrm>
            <a:off x="8988552" y="4626864"/>
            <a:ext cx="2532888" cy="777240"/>
          </a:xfrm>
          <a:prstGeom prst="rect">
            <a:avLst/>
          </a:prstGeom>
          <a:noFill/>
          <a:effectLst/>
        </p:spPr>
        <p:txBody>
          <a:bodyPr wrap="square" tIns="0" bIns="0" lIns="0" rIns="0">
            <a:spAutoFit/>
          </a:bodyPr>
          <a:lstStyle/>
          <a:p>
            <a:pPr>
              <a:spcBef>
                <a:spcPts val="0"/>
              </a:spcBef>
              <a:spcAft>
                <a:spcPts val="600"/>
              </a:spcAft>
              <a:defRPr sz="1600" b="0">
                <a:solidFill>
                  <a:srgbClr val="567168"/>
                </a:solidFill>
                <a:latin typeface="Nimbus Sans"/>
              </a:defRPr>
            </a:pPr>
            <a:r>
              <a:t>Tentukan langkah berikutnya setelah datanya cukup.</a:t>
            </a:r>
          </a:p>
        </p:txBody>
      </p:sp>
      <p:sp>
        <p:nvSpPr>
          <p:cNvPr id="35" name="Rounded Rectangle 34"/>
          <p:cNvSpPr/>
          <p:nvPr/>
        </p:nvSpPr>
        <p:spPr>
          <a:xfrm>
            <a:off x="594360" y="5833872"/>
            <a:ext cx="10972800" cy="484632"/>
          </a:xfrm>
          <a:prstGeom prst="roundRect">
            <a:avLst>
              <a:gd name="adj" fmla="val 3500"/>
            </a:avLst>
          </a:prstGeom>
          <a:solidFill>
            <a:srgbClr val="E4EE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777240" y="5943600"/>
            <a:ext cx="10607040" cy="283464"/>
          </a:xfrm>
          <a:prstGeom prst="rect">
            <a:avLst/>
          </a:prstGeom>
          <a:noFill/>
          <a:effectLst/>
        </p:spPr>
        <p:txBody>
          <a:bodyPr wrap="square" tIns="0" bIns="0" lIns="0" rIns="0">
            <a:spAutoFit/>
          </a:bodyPr>
          <a:lstStyle/>
          <a:p>
            <a:pPr>
              <a:spcBef>
                <a:spcPts val="0"/>
              </a:spcBef>
              <a:spcAft>
                <a:spcPts val="400"/>
              </a:spcAft>
              <a:defRPr sz="1200" b="0">
                <a:solidFill>
                  <a:srgbClr val="17613F"/>
                </a:solidFill>
                <a:latin typeface="Nimbus Sans"/>
              </a:defRPr>
            </a:pPr>
            <a:r>
              <a:rPr sz="1200"/>
              <a:t>Perbaikan teknis bisa langsung diuji. Dampaknya di Google perlu waktu untuk diproses dan diamati.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6F8F3"/>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1761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502920" y="210312"/>
            <a:ext cx="2395728" cy="448056"/>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6"/>
          <a:stretch>
            <a:fillRect/>
          </a:stretch>
        </p:blipFill>
        <p:spPr>
          <a:xfrm>
            <a:off x="603504" y="323088"/>
            <a:ext cx="585216" cy="195072"/>
          </a:xfrm>
          <a:prstGeom prst="rect">
            <a:avLst/>
          </a:prstGeom>
          <a:effectLst/>
        </p:spPr>
      </p:pic>
      <p:sp>
        <p:nvSpPr>
          <p:cNvPr id="5" name="TextBox 4"/>
          <p:cNvSpPr txBox="1"/>
          <p:nvPr/>
        </p:nvSpPr>
        <p:spPr>
          <a:xfrm>
            <a:off x="1271016" y="283464"/>
            <a:ext cx="164592" cy="228600"/>
          </a:xfrm>
          <a:prstGeom prst="rect">
            <a:avLst/>
          </a:prstGeom>
          <a:noFill/>
          <a:effectLst/>
        </p:spPr>
        <p:txBody>
          <a:bodyPr wrap="square" tIns="0" bIns="0" lIns="0" rIns="0">
            <a:spAutoFit/>
          </a:bodyPr>
          <a:lstStyle/>
          <a:p>
            <a:pPr>
              <a:spcBef>
                <a:spcPts val="0"/>
              </a:spcBef>
              <a:spcAft>
                <a:spcPts val="600"/>
              </a:spcAft>
              <a:defRPr sz="1200" b="0">
                <a:solidFill>
                  <a:srgbClr val="567168"/>
                </a:solidFill>
                <a:latin typeface="Nimbus Sans"/>
              </a:defRPr>
            </a:pPr>
            <a:r>
              <a:t>×</a:t>
            </a:r>
          </a:p>
        </p:txBody>
      </p:sp>
      <p:pic>
        <p:nvPicPr>
          <p:cNvPr id="43" name="Picture 42" descr="image.png"/>
          <p:cNvPicPr>
            <a:picLocks noChangeAspect="1"/>
          </p:cNvPicPr>
          <p:nvPr/>
        </p:nvPicPr>
        <p:blipFill>
          <a:blip r:embed="rId7"/>
          <a:stretch>
            <a:fillRect/>
          </a:stretch>
        </p:blipFill>
        <p:spPr>
          <a:xfrm>
            <a:off x="1536192" y="334792"/>
            <a:ext cx="1243584" cy="153375"/>
          </a:xfrm>
          <a:prstGeom prst="rect">
            <a:avLst/>
          </a:prstGeom>
          <a:effectLst/>
        </p:spPr>
      </p:pic>
      <p:sp>
        <p:nvSpPr>
          <p:cNvPr id="7" name="TextBox 6"/>
          <p:cNvSpPr txBox="1"/>
          <p:nvPr/>
        </p:nvSpPr>
        <p:spPr>
          <a:xfrm>
            <a:off x="5486400" y="356616"/>
            <a:ext cx="6062472" cy="237744"/>
          </a:xfrm>
          <a:prstGeom prst="rect">
            <a:avLst/>
          </a:prstGeom>
          <a:noFill/>
          <a:effectLst/>
        </p:spPr>
        <p:txBody>
          <a:bodyPr wrap="square" tIns="0" bIns="0" lIns="0" rIns="0">
            <a:spAutoFit/>
          </a:bodyPr>
          <a:lstStyle/>
          <a:p>
            <a:pPr algn="r">
              <a:spcBef>
                <a:spcPts val="0"/>
              </a:spcBef>
              <a:spcAft>
                <a:spcPts val="600"/>
              </a:spcAft>
              <a:defRPr sz="1000" b="1">
                <a:solidFill>
                  <a:srgbClr val="17613F"/>
                </a:solidFill>
                <a:latin typeface="Nimbus Sans"/>
              </a:defRPr>
            </a:pPr>
            <a:r>
              <a:t>05 / EVALUASI &amp; PENGELOLAAN</a:t>
            </a:r>
          </a:p>
        </p:txBody>
      </p:sp>
      <p:sp>
        <p:nvSpPr>
          <p:cNvPr id="8" name="TextBox 7"/>
          <p:cNvSpPr txBox="1"/>
          <p:nvPr/>
        </p:nvSpPr>
        <p:spPr>
          <a:xfrm>
            <a:off x="594360" y="960120"/>
            <a:ext cx="10972800" cy="822960"/>
          </a:xfrm>
          <a:prstGeom prst="rect">
            <a:avLst/>
          </a:prstGeom>
          <a:noFill/>
          <a:effectLst/>
        </p:spPr>
        <p:txBody>
          <a:bodyPr wrap="square" tIns="0" bIns="0" lIns="0" rIns="0">
            <a:spAutoFit/>
          </a:bodyPr>
          <a:lstStyle/>
          <a:p>
            <a:pPr>
              <a:spcBef>
                <a:spcPts val="0"/>
              </a:spcBef>
              <a:spcAft>
                <a:spcPts val="400"/>
              </a:spcAft>
              <a:defRPr sz="3100" b="1">
                <a:solidFill>
                  <a:srgbClr val="193E32"/>
                </a:solidFill>
                <a:latin typeface="Nimbus Sans"/>
              </a:defRPr>
            </a:pPr>
            <a:r>
              <a:rPr sz="3100"/>
              <a:t>SEO Manager menentukan prioritas dan memeriksa hasil</a:t>
            </a:r>
          </a:p>
        </p:txBody>
      </p:sp>
      <p:sp>
        <p:nvSpPr>
          <p:cNvPr id="9" name="TextBox 8"/>
          <p:cNvSpPr txBox="1"/>
          <p:nvPr/>
        </p:nvSpPr>
        <p:spPr>
          <a:xfrm>
            <a:off x="594360" y="1792224"/>
            <a:ext cx="10972800" cy="594360"/>
          </a:xfrm>
          <a:prstGeom prst="rect">
            <a:avLst/>
          </a:prstGeom>
          <a:noFill/>
          <a:effectLst/>
        </p:spPr>
        <p:txBody>
          <a:bodyPr wrap="square" tIns="0" bIns="0" lIns="0" rIns="0">
            <a:spAutoFit/>
          </a:bodyPr>
          <a:lstStyle/>
          <a:p>
            <a:pPr>
              <a:spcBef>
                <a:spcPts val="0"/>
              </a:spcBef>
              <a:spcAft>
                <a:spcPts val="400"/>
              </a:spcAft>
              <a:defRPr sz="1700" b="0">
                <a:solidFill>
                  <a:srgbClr val="567168"/>
                </a:solidFill>
                <a:latin typeface="Nimbus Sans"/>
              </a:defRPr>
            </a:pPr>
            <a:r>
              <a:rPr sz="1700"/>
              <a:t>Pengalaman membantu memilih langkah yang tepat dan mengurangi pekerjaan ulang. Peringkat tetap tidak dijamin.</a:t>
            </a:r>
          </a:p>
        </p:txBody>
      </p:sp>
      <p:sp>
        <p:nvSpPr>
          <p:cNvPr id="10" name="TextBox 9"/>
          <p:cNvSpPr txBox="1"/>
          <p:nvPr/>
        </p:nvSpPr>
        <p:spPr>
          <a:xfrm>
            <a:off x="594360" y="6437376"/>
            <a:ext cx="10287000" cy="219456"/>
          </a:xfrm>
          <a:prstGeom prst="rect">
            <a:avLst/>
          </a:prstGeom>
          <a:noFill/>
          <a:effectLst/>
        </p:spPr>
        <p:txBody>
          <a:bodyPr wrap="square" tIns="0" bIns="0" lIns="0" rIns="0">
            <a:spAutoFit/>
          </a:bodyPr>
          <a:lstStyle/>
          <a:p>
            <a:pPr>
              <a:spcBef>
                <a:spcPts val="0"/>
              </a:spcBef>
              <a:spcAft>
                <a:spcPts val="400"/>
              </a:spcAft>
              <a:defRPr sz="900" b="0">
                <a:solidFill>
                  <a:srgbClr val="567168"/>
                </a:solidFill>
                <a:latin typeface="Nimbus Sans"/>
              </a:defRPr>
            </a:pPr>
            <a:r>
              <a:rPr sz="900"/>
              <a:t>Contoh untuk penjelasan, bukan hasil audit Mecosin.</a:t>
            </a:r>
          </a:p>
        </p:txBody>
      </p:sp>
      <p:sp>
        <p:nvSpPr>
          <p:cNvPr id="11" name="TextBox 10"/>
          <p:cNvSpPr txBox="1"/>
          <p:nvPr/>
        </p:nvSpPr>
        <p:spPr>
          <a:xfrm>
            <a:off x="11091672" y="6391656"/>
            <a:ext cx="457200" cy="256032"/>
          </a:xfrm>
          <a:prstGeom prst="rect">
            <a:avLst/>
          </a:prstGeom>
          <a:noFill/>
          <a:effectLst/>
        </p:spPr>
        <p:txBody>
          <a:bodyPr wrap="square" tIns="0" bIns="0" lIns="0" rIns="0">
            <a:spAutoFit/>
          </a:bodyPr>
          <a:lstStyle/>
          <a:p>
            <a:pPr>
              <a:spcBef>
                <a:spcPts val="0"/>
              </a:spcBef>
              <a:spcAft>
                <a:spcPts val="600"/>
              </a:spcAft>
              <a:defRPr sz="1200" b="1">
                <a:solidFill>
                  <a:srgbClr val="17613F"/>
                </a:solidFill>
                <a:latin typeface="Nimbus Sans"/>
              </a:defRPr>
            </a:pPr>
            <a:r>
              <a:t>25</a:t>
            </a:r>
          </a:p>
        </p:txBody>
      </p:sp>
      <p:sp>
        <p:nvSpPr>
          <p:cNvPr id="12" name="Rectangle 11"/>
          <p:cNvSpPr/>
          <p:nvPr/>
        </p:nvSpPr>
        <p:spPr>
          <a:xfrm>
            <a:off x="566928"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2432304"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297680"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163056"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8028431" y="6739128"/>
            <a:ext cx="1755648" cy="32004"/>
          </a:xfrm>
          <a:prstGeom prst="rect">
            <a:avLst/>
          </a:prstGeom>
          <a:solidFill>
            <a:srgbClr val="D2AB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893807"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594360" y="5833872"/>
            <a:ext cx="10972800" cy="484632"/>
          </a:xfrm>
          <a:prstGeom prst="roundRect">
            <a:avLst>
              <a:gd name="adj" fmla="val 3500"/>
            </a:avLst>
          </a:prstGeom>
          <a:solidFill>
            <a:srgbClr val="E4EE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777240" y="5943600"/>
            <a:ext cx="10607040" cy="283464"/>
          </a:xfrm>
          <a:prstGeom prst="rect">
            <a:avLst/>
          </a:prstGeom>
          <a:noFill/>
          <a:effectLst/>
        </p:spPr>
        <p:txBody>
          <a:bodyPr wrap="square" tIns="0" bIns="0" lIns="0" rIns="0">
            <a:spAutoFit/>
          </a:bodyPr>
          <a:lstStyle/>
          <a:p>
            <a:pPr>
              <a:spcBef>
                <a:spcPts val="0"/>
              </a:spcBef>
              <a:spcAft>
                <a:spcPts val="400"/>
              </a:spcAft>
              <a:defRPr sz="1200" b="0">
                <a:solidFill>
                  <a:srgbClr val="17613F"/>
                </a:solidFill>
                <a:latin typeface="Nimbus Sans"/>
              </a:defRPr>
            </a:pPr>
            <a:r>
              <a:rPr sz="1200"/>
              <a:t>Contoh: perbaiki akses halaman produk yang penting sebelum menambah artikel jika Google belum bisa membacanya.</a:t>
            </a:r>
          </a:p>
        </p:txBody>
      </p:sp>
      <p:cxnSp>
        <p:nvCxnSpPr>
          <p:cNvPr id="44" name="Connector 43"/>
          <p:cNvCxnSpPr/>
          <p:nvPr/>
        </p:nvCxnSpPr>
        <p:spPr>
          <a:xfrm>
            <a:off x="1069848" y="2880360"/>
            <a:ext cx="0" cy="2258568"/>
          </a:xfrm>
          <a:prstGeom prst="line">
            <a:avLst/>
          </a:prstGeom>
          <a:ln w="38100">
            <a:solidFill>
              <a:srgbClr val="CCD9CE"/>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896112" y="2743200"/>
            <a:ext cx="356616" cy="356616"/>
          </a:xfrm>
          <a:prstGeom prst="ellips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6112" y="2802636"/>
            <a:ext cx="356616" cy="210312"/>
          </a:xfrm>
          <a:prstGeom prst="rect">
            <a:avLst/>
          </a:prstGeom>
          <a:noFill/>
        </p:spPr>
        <p:txBody>
          <a:bodyPr wrap="square" lIns="0" rIns="0" tIns="0" bIns="0">
            <a:spAutoFit/>
          </a:bodyPr>
          <a:lstStyle/>
          <a:p>
            <a:pPr algn="ctr">
              <a:spcAft>
                <a:spcPts val="0"/>
              </a:spcAft>
            </a:pPr>
            <a:r>
              <a:rPr sz="1200" b="1">
                <a:solidFill>
                  <a:srgbClr val="FFFFFF"/>
                </a:solidFill>
                <a:latin typeface="Nimbus Sans"/>
              </a:rPr>
              <a:t>01</a:t>
            </a:r>
          </a:p>
        </p:txBody>
      </p:sp>
      <p:sp>
        <p:nvSpPr>
          <p:cNvPr id="47" name="&quot;No&quot; Symbol 46"/>
          <p:cNvSpPr/>
          <p:nvPr/>
        </p:nvSpPr>
        <p:spPr>
          <a:xfrm>
            <a:off x="1792224" y="2697480"/>
            <a:ext cx="502920" cy="502920"/>
          </a:xfrm>
          <a:prstGeom prst="noSmoking">
            <a:avLst/>
          </a:prstGeom>
          <a:noFill/>
          <a:ln w="2032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651760" y="2770632"/>
            <a:ext cx="3931920" cy="384048"/>
          </a:xfrm>
          <a:prstGeom prst="rect">
            <a:avLst/>
          </a:prstGeom>
          <a:noFill/>
        </p:spPr>
        <p:txBody>
          <a:bodyPr wrap="square" lIns="0" rIns="0" tIns="0" bIns="0">
            <a:spAutoFit/>
          </a:bodyPr>
          <a:lstStyle/>
          <a:p>
            <a:pPr algn="l">
              <a:spcAft>
                <a:spcPts val="0"/>
              </a:spcAft>
            </a:pPr>
            <a:r>
              <a:rPr sz="2400" b="1">
                <a:solidFill>
                  <a:srgbClr val="17613F"/>
                </a:solidFill>
                <a:latin typeface="Nimbus Sans"/>
              </a:rPr>
              <a:t>Halaman terblokir</a:t>
            </a:r>
          </a:p>
        </p:txBody>
      </p:sp>
      <p:cxnSp>
        <p:nvCxnSpPr>
          <p:cNvPr id="49" name="Connector 48"/>
          <p:cNvCxnSpPr/>
          <p:nvPr/>
        </p:nvCxnSpPr>
        <p:spPr>
          <a:xfrm>
            <a:off x="6629400" y="2944368"/>
            <a:ext cx="685800" cy="0"/>
          </a:xfrm>
          <a:prstGeom prst="line">
            <a:avLst/>
          </a:prstGeom>
          <a:ln w="25400">
            <a:solidFill>
              <a:srgbClr val="D2AB62"/>
            </a:solidFill>
            <a:tailEnd type="triangle"/>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7589520" y="2752344"/>
            <a:ext cx="3749039" cy="594360"/>
          </a:xfrm>
          <a:prstGeom prst="rect">
            <a:avLst/>
          </a:prstGeom>
          <a:noFill/>
        </p:spPr>
        <p:txBody>
          <a:bodyPr wrap="square" lIns="0" rIns="0" tIns="0" bIns="0">
            <a:spAutoFit/>
          </a:bodyPr>
          <a:lstStyle/>
          <a:p>
            <a:pPr algn="l">
              <a:spcAft>
                <a:spcPts val="0"/>
              </a:spcAft>
            </a:pPr>
            <a:r>
              <a:rPr sz="2000" b="0">
                <a:solidFill>
                  <a:srgbClr val="193E32"/>
                </a:solidFill>
                <a:latin typeface="Nimbus Sans"/>
              </a:rPr>
              <a:t>Periksa akses lebih dulu.</a:t>
            </a:r>
          </a:p>
        </p:txBody>
      </p:sp>
      <p:sp>
        <p:nvSpPr>
          <p:cNvPr id="51" name="Oval 50"/>
          <p:cNvSpPr/>
          <p:nvPr/>
        </p:nvSpPr>
        <p:spPr>
          <a:xfrm>
            <a:off x="896112" y="3657600"/>
            <a:ext cx="356616" cy="356616"/>
          </a:xfrm>
          <a:prstGeom prst="ellips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96112" y="3717036"/>
            <a:ext cx="356616" cy="210312"/>
          </a:xfrm>
          <a:prstGeom prst="rect">
            <a:avLst/>
          </a:prstGeom>
          <a:noFill/>
        </p:spPr>
        <p:txBody>
          <a:bodyPr wrap="square" lIns="0" rIns="0" tIns="0" bIns="0">
            <a:spAutoFit/>
          </a:bodyPr>
          <a:lstStyle/>
          <a:p>
            <a:pPr algn="ctr">
              <a:spcAft>
                <a:spcPts val="0"/>
              </a:spcAft>
            </a:pPr>
            <a:r>
              <a:rPr sz="1200" b="1">
                <a:solidFill>
                  <a:srgbClr val="FFFFFF"/>
                </a:solidFill>
                <a:latin typeface="Nimbus Sans"/>
              </a:rPr>
              <a:t>02</a:t>
            </a:r>
          </a:p>
        </p:txBody>
      </p:sp>
      <p:sp>
        <p:nvSpPr>
          <p:cNvPr id="53" name="Rectangle 52"/>
          <p:cNvSpPr/>
          <p:nvPr/>
        </p:nvSpPr>
        <p:spPr>
          <a:xfrm>
            <a:off x="1856231" y="3566160"/>
            <a:ext cx="384048" cy="594360"/>
          </a:xfrm>
          <a:prstGeom prst="rect">
            <a:avLst/>
          </a:prstGeom>
          <a:solidFill>
            <a:srgbClr val="FFFFFF"/>
          </a:solidFill>
          <a:ln w="2032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a:off x="1929384" y="3749039"/>
            <a:ext cx="237744" cy="0"/>
          </a:xfrm>
          <a:prstGeom prst="line">
            <a:avLst/>
          </a:prstGeom>
          <a:ln w="1397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929384" y="3877056"/>
            <a:ext cx="237744" cy="0"/>
          </a:xfrm>
          <a:prstGeom prst="line">
            <a:avLst/>
          </a:prstGeom>
          <a:ln w="1397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929384" y="4005072"/>
            <a:ext cx="237744" cy="0"/>
          </a:xfrm>
          <a:prstGeom prst="line">
            <a:avLst/>
          </a:prstGeom>
          <a:ln w="13970">
            <a:solidFill>
              <a:srgbClr val="17613F"/>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2651760" y="3685032"/>
            <a:ext cx="3931920" cy="384048"/>
          </a:xfrm>
          <a:prstGeom prst="rect">
            <a:avLst/>
          </a:prstGeom>
          <a:noFill/>
        </p:spPr>
        <p:txBody>
          <a:bodyPr wrap="square" lIns="0" rIns="0" tIns="0" bIns="0">
            <a:spAutoFit/>
          </a:bodyPr>
          <a:lstStyle/>
          <a:p>
            <a:pPr algn="l">
              <a:spcAft>
                <a:spcPts val="0"/>
              </a:spcAft>
            </a:pPr>
            <a:r>
              <a:rPr sz="2400" b="1">
                <a:solidFill>
                  <a:srgbClr val="17613F"/>
                </a:solidFill>
                <a:latin typeface="Nimbus Sans"/>
              </a:rPr>
              <a:t>Informasi belum lengkap</a:t>
            </a:r>
          </a:p>
        </p:txBody>
      </p:sp>
      <p:cxnSp>
        <p:nvCxnSpPr>
          <p:cNvPr id="58" name="Connector 57"/>
          <p:cNvCxnSpPr/>
          <p:nvPr/>
        </p:nvCxnSpPr>
        <p:spPr>
          <a:xfrm>
            <a:off x="6629400" y="3858768"/>
            <a:ext cx="685800" cy="0"/>
          </a:xfrm>
          <a:prstGeom prst="line">
            <a:avLst/>
          </a:prstGeom>
          <a:ln w="25400">
            <a:solidFill>
              <a:srgbClr val="D2AB62"/>
            </a:solidFill>
            <a:tailEnd type="triangle"/>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7589520" y="3666744"/>
            <a:ext cx="3749039" cy="594360"/>
          </a:xfrm>
          <a:prstGeom prst="rect">
            <a:avLst/>
          </a:prstGeom>
          <a:noFill/>
        </p:spPr>
        <p:txBody>
          <a:bodyPr wrap="square" lIns="0" rIns="0" tIns="0" bIns="0">
            <a:spAutoFit/>
          </a:bodyPr>
          <a:lstStyle/>
          <a:p>
            <a:pPr algn="l">
              <a:spcAft>
                <a:spcPts val="0"/>
              </a:spcAft>
            </a:pPr>
            <a:r>
              <a:rPr sz="2000" b="0">
                <a:solidFill>
                  <a:srgbClr val="193E32"/>
                </a:solidFill>
                <a:latin typeface="Nimbus Sans"/>
              </a:rPr>
              <a:t>Lengkapi informasi produk.</a:t>
            </a:r>
          </a:p>
        </p:txBody>
      </p:sp>
      <p:sp>
        <p:nvSpPr>
          <p:cNvPr id="60" name="Oval 59"/>
          <p:cNvSpPr/>
          <p:nvPr/>
        </p:nvSpPr>
        <p:spPr>
          <a:xfrm>
            <a:off x="896112" y="4572000"/>
            <a:ext cx="356616" cy="356616"/>
          </a:xfrm>
          <a:prstGeom prst="ellips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96112" y="4631436"/>
            <a:ext cx="356616" cy="210312"/>
          </a:xfrm>
          <a:prstGeom prst="rect">
            <a:avLst/>
          </a:prstGeom>
          <a:noFill/>
        </p:spPr>
        <p:txBody>
          <a:bodyPr wrap="square" lIns="0" rIns="0" tIns="0" bIns="0">
            <a:spAutoFit/>
          </a:bodyPr>
          <a:lstStyle/>
          <a:p>
            <a:pPr algn="ctr">
              <a:spcAft>
                <a:spcPts val="0"/>
              </a:spcAft>
            </a:pPr>
            <a:r>
              <a:rPr sz="1200" b="1">
                <a:solidFill>
                  <a:srgbClr val="FFFFFF"/>
                </a:solidFill>
                <a:latin typeface="Nimbus Sans"/>
              </a:rPr>
              <a:t>03</a:t>
            </a:r>
          </a:p>
        </p:txBody>
      </p:sp>
      <p:sp>
        <p:nvSpPr>
          <p:cNvPr id="62" name="Oval 61"/>
          <p:cNvSpPr/>
          <p:nvPr/>
        </p:nvSpPr>
        <p:spPr>
          <a:xfrm>
            <a:off x="1856231" y="4572000"/>
            <a:ext cx="320040" cy="320040"/>
          </a:xfrm>
          <a:prstGeom prst="ellipse">
            <a:avLst/>
          </a:prstGeom>
          <a:noFill/>
          <a:ln w="3048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 name="Connector 62"/>
          <p:cNvCxnSpPr/>
          <p:nvPr/>
        </p:nvCxnSpPr>
        <p:spPr>
          <a:xfrm>
            <a:off x="2121865" y="4837633"/>
            <a:ext cx="150419" cy="150419"/>
          </a:xfrm>
          <a:prstGeom prst="line">
            <a:avLst/>
          </a:prstGeom>
          <a:ln w="38100">
            <a:solidFill>
              <a:srgbClr val="17613F"/>
            </a:solidFill>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2651760" y="4599432"/>
            <a:ext cx="3931920" cy="384048"/>
          </a:xfrm>
          <a:prstGeom prst="rect">
            <a:avLst/>
          </a:prstGeom>
          <a:noFill/>
        </p:spPr>
        <p:txBody>
          <a:bodyPr wrap="square" lIns="0" rIns="0" tIns="0" bIns="0">
            <a:spAutoFit/>
          </a:bodyPr>
          <a:lstStyle/>
          <a:p>
            <a:pPr algn="l">
              <a:spcAft>
                <a:spcPts val="0"/>
              </a:spcAft>
            </a:pPr>
            <a:r>
              <a:rPr sz="2400" b="1">
                <a:solidFill>
                  <a:srgbClr val="17613F"/>
                </a:solidFill>
                <a:latin typeface="Nimbus Sans"/>
              </a:rPr>
              <a:t>Peluang artikel baru</a:t>
            </a:r>
          </a:p>
        </p:txBody>
      </p:sp>
      <p:cxnSp>
        <p:nvCxnSpPr>
          <p:cNvPr id="65" name="Connector 64"/>
          <p:cNvCxnSpPr/>
          <p:nvPr/>
        </p:nvCxnSpPr>
        <p:spPr>
          <a:xfrm>
            <a:off x="6629400" y="4773168"/>
            <a:ext cx="685800" cy="0"/>
          </a:xfrm>
          <a:prstGeom prst="line">
            <a:avLst/>
          </a:prstGeom>
          <a:ln w="25400">
            <a:solidFill>
              <a:srgbClr val="D2AB62"/>
            </a:solidFill>
            <a:tailEnd type="triangle"/>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7589520" y="4581144"/>
            <a:ext cx="3749039" cy="594360"/>
          </a:xfrm>
          <a:prstGeom prst="rect">
            <a:avLst/>
          </a:prstGeom>
          <a:noFill/>
        </p:spPr>
        <p:txBody>
          <a:bodyPr wrap="square" lIns="0" rIns="0" tIns="0" bIns="0">
            <a:spAutoFit/>
          </a:bodyPr>
          <a:lstStyle/>
          <a:p>
            <a:pPr algn="l">
              <a:spcAft>
                <a:spcPts val="0"/>
              </a:spcAft>
            </a:pPr>
            <a:r>
              <a:rPr sz="2000" b="0">
                <a:solidFill>
                  <a:srgbClr val="193E32"/>
                </a:solidFill>
                <a:latin typeface="Nimbus Sans"/>
              </a:rPr>
              <a:t>Tulis artikel yang paling dibutuhkan.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6F8F3"/>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1761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502920" y="210312"/>
            <a:ext cx="2395728" cy="448056"/>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5"/>
          <a:stretch>
            <a:fillRect/>
          </a:stretch>
        </p:blipFill>
        <p:spPr>
          <a:xfrm>
            <a:off x="603504" y="323088"/>
            <a:ext cx="585216" cy="195072"/>
          </a:xfrm>
          <a:prstGeom prst="rect">
            <a:avLst/>
          </a:prstGeom>
          <a:effectLst/>
        </p:spPr>
      </p:pic>
      <p:sp>
        <p:nvSpPr>
          <p:cNvPr id="5" name="TextBox 4"/>
          <p:cNvSpPr txBox="1"/>
          <p:nvPr/>
        </p:nvSpPr>
        <p:spPr>
          <a:xfrm>
            <a:off x="1271016" y="283464"/>
            <a:ext cx="164592" cy="228600"/>
          </a:xfrm>
          <a:prstGeom prst="rect">
            <a:avLst/>
          </a:prstGeom>
          <a:noFill/>
          <a:effectLst/>
        </p:spPr>
        <p:txBody>
          <a:bodyPr wrap="square" tIns="0" bIns="0" lIns="0" rIns="0">
            <a:spAutoFit/>
          </a:bodyPr>
          <a:lstStyle/>
          <a:p>
            <a:pPr>
              <a:spcBef>
                <a:spcPts val="0"/>
              </a:spcBef>
              <a:spcAft>
                <a:spcPts val="600"/>
              </a:spcAft>
              <a:defRPr sz="1200" b="0">
                <a:solidFill>
                  <a:srgbClr val="567168"/>
                </a:solidFill>
                <a:latin typeface="Nimbus Sans"/>
              </a:defRPr>
            </a:pPr>
            <a:r>
              <a:t>×</a:t>
            </a:r>
          </a:p>
        </p:txBody>
      </p:sp>
      <p:pic>
        <p:nvPicPr>
          <p:cNvPr id="33" name="Picture 32" descr="image.png"/>
          <p:cNvPicPr>
            <a:picLocks noChangeAspect="1"/>
          </p:cNvPicPr>
          <p:nvPr/>
        </p:nvPicPr>
        <p:blipFill>
          <a:blip r:embed="rId6"/>
          <a:stretch>
            <a:fillRect/>
          </a:stretch>
        </p:blipFill>
        <p:spPr>
          <a:xfrm>
            <a:off x="1536192" y="334792"/>
            <a:ext cx="1243584" cy="153375"/>
          </a:xfrm>
          <a:prstGeom prst="rect">
            <a:avLst/>
          </a:prstGeom>
          <a:effectLst/>
        </p:spPr>
      </p:pic>
      <p:sp>
        <p:nvSpPr>
          <p:cNvPr id="7" name="TextBox 6"/>
          <p:cNvSpPr txBox="1"/>
          <p:nvPr/>
        </p:nvSpPr>
        <p:spPr>
          <a:xfrm>
            <a:off x="5486400" y="356616"/>
            <a:ext cx="6062472" cy="237744"/>
          </a:xfrm>
          <a:prstGeom prst="rect">
            <a:avLst/>
          </a:prstGeom>
          <a:noFill/>
          <a:effectLst/>
        </p:spPr>
        <p:txBody>
          <a:bodyPr wrap="square" tIns="0" bIns="0" lIns="0" rIns="0">
            <a:spAutoFit/>
          </a:bodyPr>
          <a:lstStyle/>
          <a:p>
            <a:pPr algn="r">
              <a:spcBef>
                <a:spcPts val="0"/>
              </a:spcBef>
              <a:spcAft>
                <a:spcPts val="600"/>
              </a:spcAft>
              <a:defRPr sz="1000" b="1">
                <a:solidFill>
                  <a:srgbClr val="17613F"/>
                </a:solidFill>
                <a:latin typeface="Nimbus Sans"/>
              </a:defRPr>
            </a:pPr>
            <a:r>
              <a:t>05 / EVALUASI &amp; PENGELOLAAN</a:t>
            </a:r>
          </a:p>
        </p:txBody>
      </p:sp>
      <p:sp>
        <p:nvSpPr>
          <p:cNvPr id="8" name="TextBox 7"/>
          <p:cNvSpPr txBox="1"/>
          <p:nvPr/>
        </p:nvSpPr>
        <p:spPr>
          <a:xfrm>
            <a:off x="594360" y="960120"/>
            <a:ext cx="10972800" cy="822960"/>
          </a:xfrm>
          <a:prstGeom prst="rect">
            <a:avLst/>
          </a:prstGeom>
          <a:noFill/>
          <a:effectLst/>
        </p:spPr>
        <p:txBody>
          <a:bodyPr wrap="square" tIns="0" bIns="0" lIns="0" rIns="0">
            <a:spAutoFit/>
          </a:bodyPr>
          <a:lstStyle/>
          <a:p>
            <a:pPr>
              <a:spcBef>
                <a:spcPts val="0"/>
              </a:spcBef>
              <a:spcAft>
                <a:spcPts val="400"/>
              </a:spcAft>
              <a:defRPr sz="3100" b="1">
                <a:solidFill>
                  <a:srgbClr val="193E32"/>
                </a:solidFill>
                <a:latin typeface="Nimbus Sans"/>
              </a:defRPr>
            </a:pPr>
            <a:r>
              <a:rPr sz="3100"/>
              <a:t>Alur kerja setiap bulan</a:t>
            </a:r>
          </a:p>
        </p:txBody>
      </p:sp>
      <p:sp>
        <p:nvSpPr>
          <p:cNvPr id="9" name="TextBox 8"/>
          <p:cNvSpPr txBox="1"/>
          <p:nvPr/>
        </p:nvSpPr>
        <p:spPr>
          <a:xfrm>
            <a:off x="594360" y="1792224"/>
            <a:ext cx="10972800" cy="594360"/>
          </a:xfrm>
          <a:prstGeom prst="rect">
            <a:avLst/>
          </a:prstGeom>
          <a:noFill/>
          <a:effectLst/>
        </p:spPr>
        <p:txBody>
          <a:bodyPr wrap="square" tIns="0" bIns="0" lIns="0" rIns="0">
            <a:spAutoFit/>
          </a:bodyPr>
          <a:lstStyle/>
          <a:p>
            <a:pPr>
              <a:spcBef>
                <a:spcPts val="0"/>
              </a:spcBef>
              <a:spcAft>
                <a:spcPts val="400"/>
              </a:spcAft>
              <a:defRPr sz="1700" b="0">
                <a:solidFill>
                  <a:srgbClr val="567168"/>
                </a:solidFill>
                <a:latin typeface="Nimbus Sans"/>
              </a:defRPr>
            </a:pPr>
            <a:r>
              <a:rPr sz="1700"/>
              <a:t>Pekerjaan mengikuti kondisi website dan kebutuhan bisnis. Tidak semua halaman harus diubah setiap bulan.</a:t>
            </a:r>
          </a:p>
        </p:txBody>
      </p:sp>
      <p:sp>
        <p:nvSpPr>
          <p:cNvPr id="10" name="TextBox 9"/>
          <p:cNvSpPr txBox="1"/>
          <p:nvPr/>
        </p:nvSpPr>
        <p:spPr>
          <a:xfrm>
            <a:off x="594360" y="6437376"/>
            <a:ext cx="10287000" cy="219456"/>
          </a:xfrm>
          <a:prstGeom prst="rect">
            <a:avLst/>
          </a:prstGeom>
          <a:noFill/>
          <a:effectLst/>
        </p:spPr>
        <p:txBody>
          <a:bodyPr wrap="square" tIns="0" bIns="0" lIns="0" rIns="0">
            <a:spAutoFit/>
          </a:bodyPr>
          <a:lstStyle/>
          <a:p>
            <a:pPr>
              <a:spcBef>
                <a:spcPts val="0"/>
              </a:spcBef>
              <a:spcAft>
                <a:spcPts val="400"/>
              </a:spcAft>
              <a:defRPr sz="900" b="0">
                <a:solidFill>
                  <a:srgbClr val="567168"/>
                </a:solidFill>
                <a:latin typeface="Nimbus Sans"/>
              </a:defRPr>
            </a:pPr>
            <a:r>
              <a:rPr sz="900"/>
              <a:t>Prioritas mengikuti data. Hasil SEO tidak dijamin selalu meningkat setiap bulan.</a:t>
            </a:r>
          </a:p>
        </p:txBody>
      </p:sp>
      <p:sp>
        <p:nvSpPr>
          <p:cNvPr id="11" name="TextBox 10"/>
          <p:cNvSpPr txBox="1"/>
          <p:nvPr/>
        </p:nvSpPr>
        <p:spPr>
          <a:xfrm>
            <a:off x="11091672" y="6391656"/>
            <a:ext cx="457200" cy="256032"/>
          </a:xfrm>
          <a:prstGeom prst="rect">
            <a:avLst/>
          </a:prstGeom>
          <a:noFill/>
          <a:effectLst/>
        </p:spPr>
        <p:txBody>
          <a:bodyPr wrap="square" tIns="0" bIns="0" lIns="0" rIns="0">
            <a:spAutoFit/>
          </a:bodyPr>
          <a:lstStyle/>
          <a:p>
            <a:pPr>
              <a:spcBef>
                <a:spcPts val="0"/>
              </a:spcBef>
              <a:spcAft>
                <a:spcPts val="600"/>
              </a:spcAft>
              <a:defRPr sz="1200" b="1">
                <a:solidFill>
                  <a:srgbClr val="17613F"/>
                </a:solidFill>
                <a:latin typeface="Nimbus Sans"/>
              </a:defRPr>
            </a:pPr>
            <a:r>
              <a:t>26</a:t>
            </a:r>
          </a:p>
        </p:txBody>
      </p:sp>
      <p:sp>
        <p:nvSpPr>
          <p:cNvPr id="12" name="Rectangle 11"/>
          <p:cNvSpPr/>
          <p:nvPr/>
        </p:nvSpPr>
        <p:spPr>
          <a:xfrm>
            <a:off x="566928"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2432304"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297680"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163056"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8028431" y="6739128"/>
            <a:ext cx="1755648" cy="32004"/>
          </a:xfrm>
          <a:prstGeom prst="rect">
            <a:avLst/>
          </a:prstGeom>
          <a:solidFill>
            <a:srgbClr val="D2AB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893807"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594360" y="5833872"/>
            <a:ext cx="10972800" cy="484632"/>
          </a:xfrm>
          <a:prstGeom prst="roundRect">
            <a:avLst>
              <a:gd name="adj" fmla="val 3500"/>
            </a:avLst>
          </a:prstGeom>
          <a:solidFill>
            <a:srgbClr val="E4EE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777240" y="5943600"/>
            <a:ext cx="10607040" cy="283464"/>
          </a:xfrm>
          <a:prstGeom prst="rect">
            <a:avLst/>
          </a:prstGeom>
          <a:noFill/>
          <a:effectLst/>
        </p:spPr>
        <p:txBody>
          <a:bodyPr wrap="square" tIns="0" bIns="0" lIns="0" rIns="0">
            <a:spAutoFit/>
          </a:bodyPr>
          <a:lstStyle/>
          <a:p>
            <a:pPr>
              <a:spcBef>
                <a:spcPts val="0"/>
              </a:spcBef>
              <a:spcAft>
                <a:spcPts val="400"/>
              </a:spcAft>
              <a:defRPr sz="1200" b="0">
                <a:solidFill>
                  <a:srgbClr val="17613F"/>
                </a:solidFill>
                <a:latin typeface="Nimbus Sans"/>
              </a:defRPr>
            </a:pPr>
            <a:r>
              <a:rPr sz="1200"/>
              <a:t>Contoh: saat informasi kemasan berubah, perbarui halaman terkait, periksa hasilnya, lalu tentukan langkah berikutnya.</a:t>
            </a:r>
          </a:p>
        </p:txBody>
      </p:sp>
      <p:cxnSp>
        <p:nvCxnSpPr>
          <p:cNvPr id="34" name="Connector 33"/>
          <p:cNvCxnSpPr/>
          <p:nvPr/>
        </p:nvCxnSpPr>
        <p:spPr>
          <a:xfrm>
            <a:off x="6578236" y="3023169"/>
            <a:ext cx="87740" cy="45674"/>
          </a:xfrm>
          <a:prstGeom prst="line">
            <a:avLst/>
          </a:prstGeom>
          <a:ln w="38100">
            <a:solidFill>
              <a:srgbClr val="D2AB62"/>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665976" y="3068843"/>
            <a:ext cx="83425" cy="53148"/>
          </a:xfrm>
          <a:prstGeom prst="line">
            <a:avLst/>
          </a:prstGeom>
          <a:ln w="38100">
            <a:solidFill>
              <a:srgbClr val="D2AB62"/>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749401" y="3121991"/>
            <a:ext cx="78475" cy="60216"/>
          </a:xfrm>
          <a:prstGeom prst="line">
            <a:avLst/>
          </a:prstGeom>
          <a:ln w="38100">
            <a:solidFill>
              <a:srgbClr val="D2AB62"/>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827876" y="3182207"/>
            <a:ext cx="72929" cy="66827"/>
          </a:xfrm>
          <a:prstGeom prst="line">
            <a:avLst/>
          </a:prstGeom>
          <a:ln w="38100">
            <a:solidFill>
              <a:srgbClr val="D2AB62"/>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900805" y="3249034"/>
            <a:ext cx="66827" cy="72929"/>
          </a:xfrm>
          <a:prstGeom prst="line">
            <a:avLst/>
          </a:prstGeom>
          <a:ln w="38100">
            <a:solidFill>
              <a:srgbClr val="D2AB62"/>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967632" y="3321963"/>
            <a:ext cx="60216" cy="78475"/>
          </a:xfrm>
          <a:prstGeom prst="line">
            <a:avLst/>
          </a:prstGeom>
          <a:ln w="38100">
            <a:solidFill>
              <a:srgbClr val="D2AB62"/>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027848" y="3400438"/>
            <a:ext cx="53148" cy="83425"/>
          </a:xfrm>
          <a:prstGeom prst="line">
            <a:avLst/>
          </a:prstGeom>
          <a:ln w="38100">
            <a:solidFill>
              <a:srgbClr val="D2AB62"/>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7080996" y="3483863"/>
            <a:ext cx="45674" cy="87740"/>
          </a:xfrm>
          <a:prstGeom prst="line">
            <a:avLst/>
          </a:prstGeom>
          <a:ln w="38100">
            <a:solidFill>
              <a:srgbClr val="D2AB62"/>
            </a:solidFill>
            <a:tailEnd type="triangle"/>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7080996" y="4529980"/>
            <a:ext cx="45674" cy="87740"/>
          </a:xfrm>
          <a:prstGeom prst="line">
            <a:avLst/>
          </a:prstGeom>
          <a:ln w="38100">
            <a:solidFill>
              <a:srgbClr val="D2AB62"/>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7027848" y="4617720"/>
            <a:ext cx="53148" cy="83425"/>
          </a:xfrm>
          <a:prstGeom prst="line">
            <a:avLst/>
          </a:prstGeom>
          <a:ln w="38100">
            <a:solidFill>
              <a:srgbClr val="D2AB62"/>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6967632" y="4701145"/>
            <a:ext cx="60216" cy="78475"/>
          </a:xfrm>
          <a:prstGeom prst="line">
            <a:avLst/>
          </a:prstGeom>
          <a:ln w="38100">
            <a:solidFill>
              <a:srgbClr val="D2AB62"/>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6900805" y="4779620"/>
            <a:ext cx="66827" cy="72929"/>
          </a:xfrm>
          <a:prstGeom prst="line">
            <a:avLst/>
          </a:prstGeom>
          <a:ln w="38100">
            <a:solidFill>
              <a:srgbClr val="D2AB62"/>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6827876" y="4852549"/>
            <a:ext cx="72929" cy="66827"/>
          </a:xfrm>
          <a:prstGeom prst="line">
            <a:avLst/>
          </a:prstGeom>
          <a:ln w="38100">
            <a:solidFill>
              <a:srgbClr val="D2AB62"/>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6749401" y="4919376"/>
            <a:ext cx="78475" cy="60216"/>
          </a:xfrm>
          <a:prstGeom prst="line">
            <a:avLst/>
          </a:prstGeom>
          <a:ln w="38100">
            <a:solidFill>
              <a:srgbClr val="D2AB62"/>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6665976" y="4979592"/>
            <a:ext cx="83425" cy="53148"/>
          </a:xfrm>
          <a:prstGeom prst="line">
            <a:avLst/>
          </a:prstGeom>
          <a:ln w="38100">
            <a:solidFill>
              <a:srgbClr val="D2AB62"/>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6578236" y="5032740"/>
            <a:ext cx="87740" cy="45674"/>
          </a:xfrm>
          <a:prstGeom prst="line">
            <a:avLst/>
          </a:prstGeom>
          <a:ln w="38100">
            <a:solidFill>
              <a:srgbClr val="D2AB62"/>
            </a:solidFill>
            <a:tailEnd type="triangle"/>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5532120" y="5032740"/>
            <a:ext cx="87739" cy="45674"/>
          </a:xfrm>
          <a:prstGeom prst="line">
            <a:avLst/>
          </a:prstGeom>
          <a:ln w="38100">
            <a:solidFill>
              <a:srgbClr val="D2AB62"/>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5448694" y="4979592"/>
            <a:ext cx="83426" cy="53148"/>
          </a:xfrm>
          <a:prstGeom prst="line">
            <a:avLst/>
          </a:prstGeom>
          <a:ln w="38100">
            <a:solidFill>
              <a:srgbClr val="D2AB62"/>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5370219" y="4919376"/>
            <a:ext cx="78475" cy="60216"/>
          </a:xfrm>
          <a:prstGeom prst="line">
            <a:avLst/>
          </a:prstGeom>
          <a:ln w="38100">
            <a:solidFill>
              <a:srgbClr val="D2AB62"/>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5297290" y="4852549"/>
            <a:ext cx="72929" cy="66827"/>
          </a:xfrm>
          <a:prstGeom prst="line">
            <a:avLst/>
          </a:prstGeom>
          <a:ln w="38100">
            <a:solidFill>
              <a:srgbClr val="D2AB62"/>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5230463" y="4779620"/>
            <a:ext cx="66827" cy="72929"/>
          </a:xfrm>
          <a:prstGeom prst="line">
            <a:avLst/>
          </a:prstGeom>
          <a:ln w="38100">
            <a:solidFill>
              <a:srgbClr val="D2AB62"/>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5170247" y="4701145"/>
            <a:ext cx="60216" cy="78475"/>
          </a:xfrm>
          <a:prstGeom prst="line">
            <a:avLst/>
          </a:prstGeom>
          <a:ln w="38100">
            <a:solidFill>
              <a:srgbClr val="D2AB62"/>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5117099" y="4617720"/>
            <a:ext cx="53148" cy="83425"/>
          </a:xfrm>
          <a:prstGeom prst="line">
            <a:avLst/>
          </a:prstGeom>
          <a:ln w="38100">
            <a:solidFill>
              <a:srgbClr val="D2AB62"/>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5071425" y="4529980"/>
            <a:ext cx="45674" cy="87740"/>
          </a:xfrm>
          <a:prstGeom prst="line">
            <a:avLst/>
          </a:prstGeom>
          <a:ln w="38100">
            <a:solidFill>
              <a:srgbClr val="D2AB62"/>
            </a:solidFill>
            <a:tailEnd type="triangle"/>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5071425" y="3483863"/>
            <a:ext cx="45674" cy="87740"/>
          </a:xfrm>
          <a:prstGeom prst="line">
            <a:avLst/>
          </a:prstGeom>
          <a:ln w="38100">
            <a:solidFill>
              <a:srgbClr val="D2AB62"/>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5117099" y="3400438"/>
            <a:ext cx="53148" cy="83425"/>
          </a:xfrm>
          <a:prstGeom prst="line">
            <a:avLst/>
          </a:prstGeom>
          <a:ln w="38100">
            <a:solidFill>
              <a:srgbClr val="D2AB62"/>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5170247" y="3321963"/>
            <a:ext cx="60216" cy="78475"/>
          </a:xfrm>
          <a:prstGeom prst="line">
            <a:avLst/>
          </a:prstGeom>
          <a:ln w="38100">
            <a:solidFill>
              <a:srgbClr val="D2AB62"/>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5230463" y="3249034"/>
            <a:ext cx="66827" cy="72929"/>
          </a:xfrm>
          <a:prstGeom prst="line">
            <a:avLst/>
          </a:prstGeom>
          <a:ln w="38100">
            <a:solidFill>
              <a:srgbClr val="D2AB62"/>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5297290" y="3182207"/>
            <a:ext cx="72929" cy="66827"/>
          </a:xfrm>
          <a:prstGeom prst="line">
            <a:avLst/>
          </a:prstGeom>
          <a:ln w="38100">
            <a:solidFill>
              <a:srgbClr val="D2AB62"/>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370219" y="3121991"/>
            <a:ext cx="78475" cy="60216"/>
          </a:xfrm>
          <a:prstGeom prst="line">
            <a:avLst/>
          </a:prstGeom>
          <a:ln w="38100">
            <a:solidFill>
              <a:srgbClr val="D2AB62"/>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5448694" y="3068843"/>
            <a:ext cx="83425" cy="53148"/>
          </a:xfrm>
          <a:prstGeom prst="line">
            <a:avLst/>
          </a:prstGeom>
          <a:ln w="38100">
            <a:solidFill>
              <a:srgbClr val="D2AB62"/>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5532119" y="3023169"/>
            <a:ext cx="87740" cy="45674"/>
          </a:xfrm>
          <a:prstGeom prst="line">
            <a:avLst/>
          </a:prstGeom>
          <a:ln w="38100">
            <a:solidFill>
              <a:srgbClr val="D2AB62"/>
            </a:solidFill>
            <a:tailEnd type="triangle"/>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5321808" y="3703320"/>
            <a:ext cx="1554480" cy="365760"/>
          </a:xfrm>
          <a:prstGeom prst="rect">
            <a:avLst/>
          </a:prstGeom>
          <a:noFill/>
        </p:spPr>
        <p:txBody>
          <a:bodyPr wrap="square" lIns="0" rIns="0" tIns="0" bIns="0">
            <a:spAutoFit/>
          </a:bodyPr>
          <a:lstStyle/>
          <a:p>
            <a:pPr algn="ctr">
              <a:spcAft>
                <a:spcPts val="0"/>
              </a:spcAft>
            </a:pPr>
            <a:r>
              <a:rPr sz="2400" b="1">
                <a:solidFill>
                  <a:srgbClr val="17613F"/>
                </a:solidFill>
                <a:latin typeface="Nimbus Sans"/>
              </a:rPr>
              <a:t>Siklus</a:t>
            </a:r>
          </a:p>
        </p:txBody>
      </p:sp>
      <p:sp>
        <p:nvSpPr>
          <p:cNvPr id="67" name="TextBox 66"/>
          <p:cNvSpPr txBox="1"/>
          <p:nvPr/>
        </p:nvSpPr>
        <p:spPr>
          <a:xfrm>
            <a:off x="5321808" y="4096512"/>
            <a:ext cx="1554480" cy="320040"/>
          </a:xfrm>
          <a:prstGeom prst="rect">
            <a:avLst/>
          </a:prstGeom>
          <a:noFill/>
        </p:spPr>
        <p:txBody>
          <a:bodyPr wrap="square" lIns="0" rIns="0" tIns="0" bIns="0">
            <a:spAutoFit/>
          </a:bodyPr>
          <a:lstStyle/>
          <a:p>
            <a:pPr algn="ctr">
              <a:spcAft>
                <a:spcPts val="0"/>
              </a:spcAft>
            </a:pPr>
            <a:r>
              <a:rPr sz="2000" b="0">
                <a:solidFill>
                  <a:srgbClr val="17613F"/>
                </a:solidFill>
                <a:latin typeface="Nimbus Sans"/>
              </a:rPr>
              <a:t>bulanan</a:t>
            </a:r>
          </a:p>
        </p:txBody>
      </p:sp>
      <p:sp>
        <p:nvSpPr>
          <p:cNvPr id="68" name="Rectangle 67"/>
          <p:cNvSpPr/>
          <p:nvPr/>
        </p:nvSpPr>
        <p:spPr>
          <a:xfrm>
            <a:off x="5769864" y="2587752"/>
            <a:ext cx="658368" cy="566928"/>
          </a:xfrm>
          <a:prstGeom prst="rect">
            <a:avLst/>
          </a:prstGeom>
          <a:solidFill>
            <a:srgbClr val="FFFFFF"/>
          </a:solidFill>
          <a:ln w="2540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Connector 68"/>
          <p:cNvCxnSpPr/>
          <p:nvPr/>
        </p:nvCxnSpPr>
        <p:spPr>
          <a:xfrm>
            <a:off x="5769864" y="2761488"/>
            <a:ext cx="658368" cy="0"/>
          </a:xfrm>
          <a:prstGeom prst="line">
            <a:avLst/>
          </a:prstGeom>
          <a:ln w="25400">
            <a:solidFill>
              <a:srgbClr val="17613F"/>
            </a:solidFill>
          </a:ln>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5907024" y="2862072"/>
            <a:ext cx="91440" cy="64008"/>
          </a:xfrm>
          <a:prstGeom prst="rect">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5907024" y="3008376"/>
            <a:ext cx="91440" cy="64008"/>
          </a:xfrm>
          <a:prstGeom prst="rect">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190488" y="2862072"/>
            <a:ext cx="91440" cy="64008"/>
          </a:xfrm>
          <a:prstGeom prst="rect">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190488" y="3008376"/>
            <a:ext cx="91440" cy="64008"/>
          </a:xfrm>
          <a:prstGeom prst="rect">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4" name="Connector 73"/>
          <p:cNvCxnSpPr/>
          <p:nvPr/>
        </p:nvCxnSpPr>
        <p:spPr>
          <a:xfrm>
            <a:off x="5916168" y="2514600"/>
            <a:ext cx="0" cy="164592"/>
          </a:xfrm>
          <a:prstGeom prst="line">
            <a:avLst/>
          </a:prstGeom>
          <a:ln w="2540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6272784" y="2514600"/>
            <a:ext cx="0" cy="164592"/>
          </a:xfrm>
          <a:prstGeom prst="line">
            <a:avLst/>
          </a:prstGeom>
          <a:ln w="25400">
            <a:solidFill>
              <a:srgbClr val="17613F"/>
            </a:solidFill>
          </a:ln>
        </p:spPr>
        <p:style>
          <a:lnRef idx="2">
            <a:schemeClr val="accent1"/>
          </a:lnRef>
          <a:fillRef idx="0">
            <a:schemeClr val="accent1"/>
          </a:fillRef>
          <a:effectRef idx="1">
            <a:schemeClr val="accent1"/>
          </a:effectRef>
          <a:fontRef idx="minor">
            <a:schemeClr val="tx1"/>
          </a:fontRef>
        </p:style>
      </p:cxnSp>
      <p:sp>
        <p:nvSpPr>
          <p:cNvPr id="76" name="Parallelogram 75"/>
          <p:cNvSpPr/>
          <p:nvPr/>
        </p:nvSpPr>
        <p:spPr>
          <a:xfrm rot="18900000">
            <a:off x="6949440" y="3758184"/>
            <a:ext cx="521207" cy="201168"/>
          </a:xfrm>
          <a:prstGeom prst="parallelogram">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Isosceles Triangle 76"/>
          <p:cNvSpPr/>
          <p:nvPr/>
        </p:nvSpPr>
        <p:spPr>
          <a:xfrm rot="13500000">
            <a:off x="6894576" y="4050791"/>
            <a:ext cx="164592" cy="192024"/>
          </a:xfrm>
          <a:prstGeom prst="triangl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5824728" y="4919472"/>
            <a:ext cx="365760" cy="365760"/>
          </a:xfrm>
          <a:prstGeom prst="ellipse">
            <a:avLst/>
          </a:prstGeom>
          <a:noFill/>
          <a:ln w="3048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9" name="Connector 78"/>
          <p:cNvCxnSpPr/>
          <p:nvPr/>
        </p:nvCxnSpPr>
        <p:spPr>
          <a:xfrm>
            <a:off x="6128308" y="5223052"/>
            <a:ext cx="171908" cy="171908"/>
          </a:xfrm>
          <a:prstGeom prst="line">
            <a:avLst/>
          </a:prstGeom>
          <a:ln w="3810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4654296" y="3822191"/>
            <a:ext cx="402336" cy="0"/>
          </a:xfrm>
          <a:prstGeom prst="line">
            <a:avLst/>
          </a:prstGeom>
          <a:ln w="25400">
            <a:solidFill>
              <a:srgbClr val="17613F"/>
            </a:solidFill>
            <a:tailEnd type="triangle"/>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5056632" y="3822191"/>
            <a:ext cx="0" cy="374905"/>
          </a:xfrm>
          <a:prstGeom prst="line">
            <a:avLst/>
          </a:prstGeom>
          <a:ln w="2540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a:off x="4654296" y="4197096"/>
            <a:ext cx="402336" cy="0"/>
          </a:xfrm>
          <a:prstGeom prst="line">
            <a:avLst/>
          </a:prstGeom>
          <a:ln w="25400">
            <a:solidFill>
              <a:srgbClr val="17613F"/>
            </a:solidFill>
            <a:tailEnd type="triangle"/>
          </a:ln>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7955279" y="2724912"/>
            <a:ext cx="3200400" cy="274320"/>
          </a:xfrm>
          <a:prstGeom prst="rect">
            <a:avLst/>
          </a:prstGeom>
          <a:noFill/>
        </p:spPr>
        <p:txBody>
          <a:bodyPr wrap="square" lIns="0" rIns="0" tIns="0" bIns="0">
            <a:spAutoFit/>
          </a:bodyPr>
          <a:lstStyle/>
          <a:p>
            <a:pPr algn="l">
              <a:spcAft>
                <a:spcPts val="0"/>
              </a:spcAft>
            </a:pPr>
            <a:r>
              <a:rPr sz="1600" b="1">
                <a:solidFill>
                  <a:srgbClr val="17613F"/>
                </a:solidFill>
                <a:latin typeface="Nimbus Sans"/>
              </a:rPr>
              <a:t>01 / RENCANAKAN</a:t>
            </a:r>
          </a:p>
        </p:txBody>
      </p:sp>
      <p:sp>
        <p:nvSpPr>
          <p:cNvPr id="84" name="TextBox 83"/>
          <p:cNvSpPr txBox="1"/>
          <p:nvPr/>
        </p:nvSpPr>
        <p:spPr>
          <a:xfrm>
            <a:off x="7955279" y="3118104"/>
            <a:ext cx="3200400" cy="493776"/>
          </a:xfrm>
          <a:prstGeom prst="rect">
            <a:avLst/>
          </a:prstGeom>
          <a:noFill/>
        </p:spPr>
        <p:txBody>
          <a:bodyPr wrap="square" lIns="0" rIns="0" tIns="0" bIns="0">
            <a:spAutoFit/>
          </a:bodyPr>
          <a:lstStyle/>
          <a:p>
            <a:pPr algn="l">
              <a:spcAft>
                <a:spcPts val="0"/>
              </a:spcAft>
            </a:pPr>
            <a:r>
              <a:rPr sz="1900" b="0">
                <a:solidFill>
                  <a:srgbClr val="193E32"/>
                </a:solidFill>
                <a:latin typeface="Nimbus Sans"/>
              </a:rPr>
              <a:t>Topik &amp; halaman prioritas</a:t>
            </a:r>
          </a:p>
        </p:txBody>
      </p:sp>
      <p:sp>
        <p:nvSpPr>
          <p:cNvPr id="85" name="TextBox 84"/>
          <p:cNvSpPr txBox="1"/>
          <p:nvPr/>
        </p:nvSpPr>
        <p:spPr>
          <a:xfrm>
            <a:off x="8229600" y="3904487"/>
            <a:ext cx="3200400" cy="274320"/>
          </a:xfrm>
          <a:prstGeom prst="rect">
            <a:avLst/>
          </a:prstGeom>
          <a:noFill/>
        </p:spPr>
        <p:txBody>
          <a:bodyPr wrap="square" lIns="0" rIns="0" tIns="0" bIns="0">
            <a:spAutoFit/>
          </a:bodyPr>
          <a:lstStyle/>
          <a:p>
            <a:pPr algn="l">
              <a:spcAft>
                <a:spcPts val="0"/>
              </a:spcAft>
            </a:pPr>
            <a:r>
              <a:rPr sz="1600" b="1">
                <a:solidFill>
                  <a:srgbClr val="17613F"/>
                </a:solidFill>
                <a:latin typeface="Nimbus Sans"/>
              </a:rPr>
              <a:t>02 / KERJAKAN</a:t>
            </a:r>
          </a:p>
        </p:txBody>
      </p:sp>
      <p:sp>
        <p:nvSpPr>
          <p:cNvPr id="86" name="TextBox 85"/>
          <p:cNvSpPr txBox="1"/>
          <p:nvPr/>
        </p:nvSpPr>
        <p:spPr>
          <a:xfrm>
            <a:off x="8229600" y="4297679"/>
            <a:ext cx="3200400" cy="493776"/>
          </a:xfrm>
          <a:prstGeom prst="rect">
            <a:avLst/>
          </a:prstGeom>
          <a:noFill/>
        </p:spPr>
        <p:txBody>
          <a:bodyPr wrap="square" lIns="0" rIns="0" tIns="0" bIns="0">
            <a:spAutoFit/>
          </a:bodyPr>
          <a:lstStyle/>
          <a:p>
            <a:pPr algn="l">
              <a:spcAft>
                <a:spcPts val="0"/>
              </a:spcAft>
            </a:pPr>
            <a:r>
              <a:rPr sz="1900" b="0">
                <a:solidFill>
                  <a:srgbClr val="193E32"/>
                </a:solidFill>
                <a:latin typeface="Nimbus Sans"/>
              </a:rPr>
              <a:t>Artikel &amp; catatan perubahan</a:t>
            </a:r>
          </a:p>
        </p:txBody>
      </p:sp>
      <p:sp>
        <p:nvSpPr>
          <p:cNvPr id="87" name="TextBox 86"/>
          <p:cNvSpPr txBox="1"/>
          <p:nvPr/>
        </p:nvSpPr>
        <p:spPr>
          <a:xfrm>
            <a:off x="914400" y="4782312"/>
            <a:ext cx="3200400" cy="274320"/>
          </a:xfrm>
          <a:prstGeom prst="rect">
            <a:avLst/>
          </a:prstGeom>
          <a:noFill/>
        </p:spPr>
        <p:txBody>
          <a:bodyPr wrap="square" lIns="0" rIns="0" tIns="0" bIns="0">
            <a:spAutoFit/>
          </a:bodyPr>
          <a:lstStyle/>
          <a:p>
            <a:pPr algn="l">
              <a:spcAft>
                <a:spcPts val="0"/>
              </a:spcAft>
            </a:pPr>
            <a:r>
              <a:rPr sz="1600" b="1">
                <a:solidFill>
                  <a:srgbClr val="17613F"/>
                </a:solidFill>
                <a:latin typeface="Nimbus Sans"/>
              </a:rPr>
              <a:t>03 / EVALUASI</a:t>
            </a:r>
          </a:p>
        </p:txBody>
      </p:sp>
      <p:sp>
        <p:nvSpPr>
          <p:cNvPr id="88" name="TextBox 87"/>
          <p:cNvSpPr txBox="1"/>
          <p:nvPr/>
        </p:nvSpPr>
        <p:spPr>
          <a:xfrm>
            <a:off x="914400" y="5175504"/>
            <a:ext cx="3200400" cy="493776"/>
          </a:xfrm>
          <a:prstGeom prst="rect">
            <a:avLst/>
          </a:prstGeom>
          <a:noFill/>
        </p:spPr>
        <p:txBody>
          <a:bodyPr wrap="square" lIns="0" rIns="0" tIns="0" bIns="0">
            <a:spAutoFit/>
          </a:bodyPr>
          <a:lstStyle/>
          <a:p>
            <a:pPr algn="l">
              <a:spcAft>
                <a:spcPts val="0"/>
              </a:spcAft>
            </a:pPr>
            <a:r>
              <a:rPr sz="1900" b="0">
                <a:solidFill>
                  <a:srgbClr val="193E32"/>
                </a:solidFill>
                <a:latin typeface="Nimbus Sans"/>
              </a:rPr>
              <a:t>Laporan hasil &amp; kendala</a:t>
            </a:r>
          </a:p>
        </p:txBody>
      </p:sp>
      <p:sp>
        <p:nvSpPr>
          <p:cNvPr id="89" name="TextBox 88"/>
          <p:cNvSpPr txBox="1"/>
          <p:nvPr/>
        </p:nvSpPr>
        <p:spPr>
          <a:xfrm>
            <a:off x="731520" y="3474720"/>
            <a:ext cx="3200400" cy="274320"/>
          </a:xfrm>
          <a:prstGeom prst="rect">
            <a:avLst/>
          </a:prstGeom>
          <a:noFill/>
        </p:spPr>
        <p:txBody>
          <a:bodyPr wrap="square" lIns="0" rIns="0" tIns="0" bIns="0">
            <a:spAutoFit/>
          </a:bodyPr>
          <a:lstStyle/>
          <a:p>
            <a:pPr algn="l">
              <a:spcAft>
                <a:spcPts val="0"/>
              </a:spcAft>
            </a:pPr>
            <a:r>
              <a:rPr sz="1600" b="1">
                <a:solidFill>
                  <a:srgbClr val="17613F"/>
                </a:solidFill>
                <a:latin typeface="Nimbus Sans"/>
              </a:rPr>
              <a:t>04 / SESUAIKAN</a:t>
            </a:r>
          </a:p>
        </p:txBody>
      </p:sp>
      <p:sp>
        <p:nvSpPr>
          <p:cNvPr id="90" name="TextBox 89"/>
          <p:cNvSpPr txBox="1"/>
          <p:nvPr/>
        </p:nvSpPr>
        <p:spPr>
          <a:xfrm>
            <a:off x="731520" y="3867911"/>
            <a:ext cx="3200400" cy="493776"/>
          </a:xfrm>
          <a:prstGeom prst="rect">
            <a:avLst/>
          </a:prstGeom>
          <a:noFill/>
        </p:spPr>
        <p:txBody>
          <a:bodyPr wrap="square" lIns="0" rIns="0" tIns="0" bIns="0">
            <a:spAutoFit/>
          </a:bodyPr>
          <a:lstStyle/>
          <a:p>
            <a:pPr algn="l">
              <a:spcAft>
                <a:spcPts val="0"/>
              </a:spcAft>
            </a:pPr>
            <a:r>
              <a:rPr sz="1900" b="0">
                <a:solidFill>
                  <a:srgbClr val="193E32"/>
                </a:solidFill>
                <a:latin typeface="Nimbus Sans"/>
              </a:rPr>
              <a:t>Rencana bulan berikutnya</a:t>
            </a:r>
          </a:p>
        </p:txBody>
      </p:sp>
      <p:cxnSp>
        <p:nvCxnSpPr>
          <p:cNvPr id="91" name="Connector 90"/>
          <p:cNvCxnSpPr/>
          <p:nvPr/>
        </p:nvCxnSpPr>
        <p:spPr>
          <a:xfrm>
            <a:off x="6565392" y="2862072"/>
            <a:ext cx="1188720" cy="0"/>
          </a:xfrm>
          <a:prstGeom prst="line">
            <a:avLst/>
          </a:prstGeom>
          <a:ln w="16510">
            <a:solidFill>
              <a:srgbClr val="A7BBA9"/>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7552944" y="4050791"/>
            <a:ext cx="493776" cy="0"/>
          </a:xfrm>
          <a:prstGeom prst="line">
            <a:avLst/>
          </a:prstGeom>
          <a:ln w="16510">
            <a:solidFill>
              <a:srgbClr val="A7BBA9"/>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4215384" y="5148072"/>
            <a:ext cx="1380744" cy="0"/>
          </a:xfrm>
          <a:prstGeom prst="line">
            <a:avLst/>
          </a:prstGeom>
          <a:ln w="16510">
            <a:solidFill>
              <a:srgbClr val="A7BBA9"/>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4133087" y="3849624"/>
            <a:ext cx="374905" cy="0"/>
          </a:xfrm>
          <a:prstGeom prst="line">
            <a:avLst/>
          </a:prstGeom>
          <a:ln w="16510">
            <a:solidFill>
              <a:srgbClr val="A7BBA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6F8F3"/>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1761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502920" y="210312"/>
            <a:ext cx="2395728" cy="448056"/>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9" name="Picture 28" descr="image.png"/>
          <p:cNvPicPr>
            <a:picLocks noChangeAspect="1"/>
          </p:cNvPicPr>
          <p:nvPr/>
        </p:nvPicPr>
        <p:blipFill>
          <a:blip r:embed="rId6"/>
          <a:stretch>
            <a:fillRect/>
          </a:stretch>
        </p:blipFill>
        <p:spPr>
          <a:xfrm>
            <a:off x="603504" y="323088"/>
            <a:ext cx="585216" cy="195072"/>
          </a:xfrm>
          <a:prstGeom prst="rect">
            <a:avLst/>
          </a:prstGeom>
          <a:effectLst/>
        </p:spPr>
      </p:pic>
      <p:sp>
        <p:nvSpPr>
          <p:cNvPr id="5" name="TextBox 4"/>
          <p:cNvSpPr txBox="1"/>
          <p:nvPr/>
        </p:nvSpPr>
        <p:spPr>
          <a:xfrm>
            <a:off x="1271016" y="283464"/>
            <a:ext cx="164592" cy="228600"/>
          </a:xfrm>
          <a:prstGeom prst="rect">
            <a:avLst/>
          </a:prstGeom>
          <a:noFill/>
          <a:effectLst/>
        </p:spPr>
        <p:txBody>
          <a:bodyPr wrap="square" tIns="0" bIns="0" lIns="0" rIns="0">
            <a:spAutoFit/>
          </a:bodyPr>
          <a:lstStyle/>
          <a:p>
            <a:pPr>
              <a:spcBef>
                <a:spcPts val="0"/>
              </a:spcBef>
              <a:spcAft>
                <a:spcPts val="600"/>
              </a:spcAft>
              <a:defRPr sz="1200" b="0">
                <a:solidFill>
                  <a:srgbClr val="567168"/>
                </a:solidFill>
                <a:latin typeface="Nimbus Sans"/>
              </a:defRPr>
            </a:pPr>
            <a:r>
              <a:t>×</a:t>
            </a:r>
          </a:p>
        </p:txBody>
      </p:sp>
      <p:pic>
        <p:nvPicPr>
          <p:cNvPr id="30" name="Picture 29" descr="image.png"/>
          <p:cNvPicPr>
            <a:picLocks noChangeAspect="1"/>
          </p:cNvPicPr>
          <p:nvPr/>
        </p:nvPicPr>
        <p:blipFill>
          <a:blip r:embed="rId7"/>
          <a:stretch>
            <a:fillRect/>
          </a:stretch>
        </p:blipFill>
        <p:spPr>
          <a:xfrm>
            <a:off x="1536192" y="334792"/>
            <a:ext cx="1243584" cy="153375"/>
          </a:xfrm>
          <a:prstGeom prst="rect">
            <a:avLst/>
          </a:prstGeom>
          <a:effectLst/>
        </p:spPr>
      </p:pic>
      <p:sp>
        <p:nvSpPr>
          <p:cNvPr id="7" name="TextBox 6"/>
          <p:cNvSpPr txBox="1"/>
          <p:nvPr/>
        </p:nvSpPr>
        <p:spPr>
          <a:xfrm>
            <a:off x="5486400" y="356616"/>
            <a:ext cx="6062472" cy="237744"/>
          </a:xfrm>
          <a:prstGeom prst="rect">
            <a:avLst/>
          </a:prstGeom>
          <a:noFill/>
          <a:effectLst/>
        </p:spPr>
        <p:txBody>
          <a:bodyPr wrap="square" tIns="0" bIns="0" lIns="0" rIns="0">
            <a:spAutoFit/>
          </a:bodyPr>
          <a:lstStyle/>
          <a:p>
            <a:pPr algn="r">
              <a:spcBef>
                <a:spcPts val="0"/>
              </a:spcBef>
              <a:spcAft>
                <a:spcPts val="600"/>
              </a:spcAft>
              <a:defRPr sz="1000" b="1">
                <a:solidFill>
                  <a:srgbClr val="17613F"/>
                </a:solidFill>
                <a:latin typeface="Nimbus Sans"/>
              </a:defRPr>
            </a:pPr>
            <a:r>
              <a:t>05 / EVALUASI &amp; PENGELOLAAN</a:t>
            </a:r>
          </a:p>
        </p:txBody>
      </p:sp>
      <p:sp>
        <p:nvSpPr>
          <p:cNvPr id="8" name="TextBox 7"/>
          <p:cNvSpPr txBox="1"/>
          <p:nvPr/>
        </p:nvSpPr>
        <p:spPr>
          <a:xfrm>
            <a:off x="594360" y="960120"/>
            <a:ext cx="10972800" cy="822960"/>
          </a:xfrm>
          <a:prstGeom prst="rect">
            <a:avLst/>
          </a:prstGeom>
          <a:noFill/>
          <a:effectLst/>
        </p:spPr>
        <p:txBody>
          <a:bodyPr wrap="square" tIns="0" bIns="0" lIns="0" rIns="0">
            <a:spAutoFit/>
          </a:bodyPr>
          <a:lstStyle/>
          <a:p>
            <a:pPr>
              <a:spcBef>
                <a:spcPts val="0"/>
              </a:spcBef>
              <a:spcAft>
                <a:spcPts val="400"/>
              </a:spcAft>
              <a:defRPr sz="3100" b="1">
                <a:solidFill>
                  <a:srgbClr val="193E32"/>
                </a:solidFill>
                <a:latin typeface="Nimbus Sans"/>
              </a:defRPr>
            </a:pPr>
            <a:r>
              <a:rPr sz="3100"/>
              <a:t>Saramin: contoh hasil perbaikan SEO bertahap</a:t>
            </a:r>
          </a:p>
        </p:txBody>
      </p:sp>
      <p:sp>
        <p:nvSpPr>
          <p:cNvPr id="9" name="TextBox 8"/>
          <p:cNvSpPr txBox="1"/>
          <p:nvPr/>
        </p:nvSpPr>
        <p:spPr>
          <a:xfrm>
            <a:off x="594360" y="1792224"/>
            <a:ext cx="10972800" cy="594360"/>
          </a:xfrm>
          <a:prstGeom prst="rect">
            <a:avLst/>
          </a:prstGeom>
          <a:noFill/>
          <a:effectLst/>
        </p:spPr>
        <p:txBody>
          <a:bodyPr wrap="square" tIns="0" bIns="0" lIns="0" rIns="0">
            <a:spAutoFit/>
          </a:bodyPr>
          <a:lstStyle/>
          <a:p>
            <a:pPr>
              <a:spcBef>
                <a:spcPts val="0"/>
              </a:spcBef>
              <a:spcAft>
                <a:spcPts val="400"/>
              </a:spcAft>
              <a:defRPr sz="1700" b="0">
                <a:solidFill>
                  <a:srgbClr val="567168"/>
                </a:solidFill>
                <a:latin typeface="Nimbus Sans"/>
              </a:defRPr>
            </a:pPr>
            <a:r>
              <a:rPr sz="1700"/>
              <a:t>Situs lowongan kerja Korea ini memperbaiki akses Google, konten duplikat, canonical, dan structured data secara bertahap.</a:t>
            </a:r>
          </a:p>
        </p:txBody>
      </p:sp>
      <p:sp>
        <p:nvSpPr>
          <p:cNvPr id="10" name="TextBox 9"/>
          <p:cNvSpPr txBox="1"/>
          <p:nvPr/>
        </p:nvSpPr>
        <p:spPr>
          <a:xfrm>
            <a:off x="594360" y="6437376"/>
            <a:ext cx="10287000" cy="219456"/>
          </a:xfrm>
          <a:prstGeom prst="rect">
            <a:avLst/>
          </a:prstGeom>
          <a:noFill/>
          <a:effectLst/>
        </p:spPr>
        <p:txBody>
          <a:bodyPr wrap="square" tIns="0" bIns="0" lIns="0" rIns="0">
            <a:spAutoFit/>
          </a:bodyPr>
          <a:lstStyle/>
          <a:p>
            <a:pPr>
              <a:spcBef>
                <a:spcPts val="0"/>
              </a:spcBef>
              <a:spcAft>
                <a:spcPts val="400"/>
              </a:spcAft>
              <a:defRPr sz="900" b="0">
                <a:solidFill>
                  <a:srgbClr val="567168"/>
                </a:solidFill>
                <a:latin typeface="Nimbus Sans"/>
              </a:defRPr>
            </a:pPr>
            <a:r>
              <a:rPr sz="900"/>
              <a:t>Sumber: Google Search Central, 8 April 2020 · Hasil Saramin, bukan proyeksi Mecosin.</a:t>
            </a:r>
          </a:p>
        </p:txBody>
      </p:sp>
      <p:sp>
        <p:nvSpPr>
          <p:cNvPr id="11" name="TextBox 10"/>
          <p:cNvSpPr txBox="1"/>
          <p:nvPr/>
        </p:nvSpPr>
        <p:spPr>
          <a:xfrm>
            <a:off x="11091672" y="6391656"/>
            <a:ext cx="457200" cy="256032"/>
          </a:xfrm>
          <a:prstGeom prst="rect">
            <a:avLst/>
          </a:prstGeom>
          <a:noFill/>
          <a:effectLst/>
        </p:spPr>
        <p:txBody>
          <a:bodyPr wrap="square" tIns="0" bIns="0" lIns="0" rIns="0">
            <a:spAutoFit/>
          </a:bodyPr>
          <a:lstStyle/>
          <a:p>
            <a:pPr>
              <a:spcBef>
                <a:spcPts val="0"/>
              </a:spcBef>
              <a:spcAft>
                <a:spcPts val="600"/>
              </a:spcAft>
              <a:defRPr sz="1200" b="1">
                <a:solidFill>
                  <a:srgbClr val="17613F"/>
                </a:solidFill>
                <a:latin typeface="Nimbus Sans"/>
              </a:defRPr>
            </a:pPr>
            <a:r>
              <a:t>27</a:t>
            </a:r>
          </a:p>
        </p:txBody>
      </p:sp>
      <p:sp>
        <p:nvSpPr>
          <p:cNvPr id="12" name="Rectangle 11"/>
          <p:cNvSpPr/>
          <p:nvPr/>
        </p:nvSpPr>
        <p:spPr>
          <a:xfrm>
            <a:off x="566928"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2432304"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297680"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163056"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8028431" y="6739128"/>
            <a:ext cx="1755648" cy="32004"/>
          </a:xfrm>
          <a:prstGeom prst="rect">
            <a:avLst/>
          </a:prstGeom>
          <a:solidFill>
            <a:srgbClr val="D2AB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893807"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ounded Rectangle 17"/>
          <p:cNvSpPr/>
          <p:nvPr/>
        </p:nvSpPr>
        <p:spPr>
          <a:xfrm>
            <a:off x="594360" y="2596896"/>
            <a:ext cx="5760720" cy="2889504"/>
          </a:xfrm>
          <a:prstGeom prst="roundRect">
            <a:avLst>
              <a:gd name="adj" fmla="val 35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77824" y="2852927"/>
            <a:ext cx="5212080" cy="237744"/>
          </a:xfrm>
          <a:prstGeom prst="rect">
            <a:avLst/>
          </a:prstGeom>
          <a:noFill/>
          <a:effectLst/>
        </p:spPr>
        <p:txBody>
          <a:bodyPr wrap="square" tIns="0" bIns="0" lIns="0" rIns="0">
            <a:spAutoFit/>
          </a:bodyPr>
          <a:lstStyle/>
          <a:p>
            <a:pPr>
              <a:spcBef>
                <a:spcPts val="0"/>
              </a:spcBef>
              <a:spcAft>
                <a:spcPts val="600"/>
              </a:spcAft>
              <a:defRPr sz="1000" b="1">
                <a:solidFill>
                  <a:srgbClr val="17613F"/>
                </a:solidFill>
                <a:latin typeface="Nimbus Sans"/>
              </a:defRPr>
            </a:pPr>
            <a:r>
              <a:t>KUTIPAN SUMBER / GOOGLE SEARCH CENTRAL</a:t>
            </a:r>
          </a:p>
        </p:txBody>
      </p:sp>
      <p:sp>
        <p:nvSpPr>
          <p:cNvPr id="20" name="TextBox 19"/>
          <p:cNvSpPr txBox="1"/>
          <p:nvPr/>
        </p:nvSpPr>
        <p:spPr>
          <a:xfrm>
            <a:off x="877824" y="3355848"/>
            <a:ext cx="5166360" cy="932688"/>
          </a:xfrm>
          <a:prstGeom prst="rect">
            <a:avLst/>
          </a:prstGeom>
          <a:noFill/>
          <a:effectLst/>
        </p:spPr>
        <p:txBody>
          <a:bodyPr wrap="square" tIns="0" bIns="0" lIns="0" rIns="0">
            <a:spAutoFit/>
          </a:bodyPr>
          <a:lstStyle/>
          <a:p>
            <a:pPr algn="l">
              <a:spcBef>
                <a:spcPts val="0"/>
              </a:spcBef>
              <a:spcAft>
                <a:spcPts val="400"/>
              </a:spcAft>
              <a:defRPr sz="2700" b="1">
                <a:solidFill>
                  <a:srgbClr val="193E32"/>
                </a:solidFill>
                <a:latin typeface="Nimbus Sans"/>
              </a:defRPr>
            </a:pPr>
            <a:r>
              <a:rPr sz="2500" b="1">
                <a:solidFill>
                  <a:srgbClr val="193E32"/>
                </a:solidFill>
                <a:latin typeface="Nimbus Sans"/>
              </a:rPr>
              <a:t>“They used canonical URLs and removed duplicate content.”</a:t>
            </a:r>
          </a:p>
        </p:txBody>
      </p:sp>
      <p:sp>
        <p:nvSpPr>
          <p:cNvPr id="21" name="TextBox 20"/>
          <p:cNvSpPr txBox="1"/>
          <p:nvPr/>
        </p:nvSpPr>
        <p:spPr>
          <a:xfrm>
            <a:off x="877824" y="4544568"/>
            <a:ext cx="5166360" cy="457200"/>
          </a:xfrm>
          <a:prstGeom prst="rect">
            <a:avLst/>
          </a:prstGeom>
          <a:noFill/>
          <a:effectLst/>
        </p:spPr>
        <p:txBody>
          <a:bodyPr wrap="square" tIns="0" bIns="0" lIns="0" rIns="0">
            <a:spAutoFit/>
          </a:bodyPr>
          <a:lstStyle/>
          <a:p>
            <a:pPr algn="l">
              <a:spcBef>
                <a:spcPts val="0"/>
              </a:spcBef>
              <a:spcAft>
                <a:spcPts val="400"/>
              </a:spcAft>
              <a:defRPr sz="1600" b="0">
                <a:solidFill>
                  <a:srgbClr val="567168"/>
                </a:solidFill>
                <a:latin typeface="Nimbus Sans"/>
              </a:defRPr>
            </a:pPr>
            <a:r>
              <a:rPr sz="1500" b="0">
                <a:solidFill>
                  <a:srgbClr val="567168"/>
                </a:solidFill>
                <a:latin typeface="Nimbus Sans"/>
              </a:rPr>
              <a:t>Saramin melakukan beberapa perbaikan. Hasilnya tidak berasal dari satu perubahan saja.</a:t>
            </a:r>
          </a:p>
        </p:txBody>
      </p:sp>
      <p:sp>
        <p:nvSpPr>
          <p:cNvPr id="22" name="TextBox 21"/>
          <p:cNvSpPr txBox="1"/>
          <p:nvPr/>
        </p:nvSpPr>
        <p:spPr>
          <a:xfrm>
            <a:off x="877824" y="5138928"/>
            <a:ext cx="5166360" cy="228600"/>
          </a:xfrm>
          <a:prstGeom prst="rect">
            <a:avLst/>
          </a:prstGeom>
          <a:noFill/>
          <a:effectLst/>
        </p:spPr>
        <p:txBody>
          <a:bodyPr wrap="square" tIns="0" bIns="0" lIns="0" rIns="0">
            <a:spAutoFit/>
          </a:bodyPr>
          <a:lstStyle/>
          <a:p>
            <a:pPr>
              <a:spcBef>
                <a:spcPts val="0"/>
              </a:spcBef>
              <a:spcAft>
                <a:spcPts val="600"/>
              </a:spcAft>
              <a:defRPr sz="1200" b="0">
                <a:solidFill>
                  <a:srgbClr val="247CA2"/>
                </a:solidFill>
                <a:latin typeface="Nimbus Sans"/>
              </a:defRPr>
            </a:pPr>
            <a:r>
              <a:rPr>
                <a:hlinkClick r:id="rId5"/>
              </a:rPr>
              <a:t>Baca studi kasus Saramin</a:t>
            </a:r>
          </a:p>
        </p:txBody>
      </p:sp>
      <p:sp>
        <p:nvSpPr>
          <p:cNvPr id="23" name="TextBox 22"/>
          <p:cNvSpPr txBox="1"/>
          <p:nvPr/>
        </p:nvSpPr>
        <p:spPr>
          <a:xfrm>
            <a:off x="6876288" y="2596896"/>
            <a:ext cx="4297680" cy="758952"/>
          </a:xfrm>
          <a:prstGeom prst="rect">
            <a:avLst/>
          </a:prstGeom>
          <a:noFill/>
          <a:effectLst/>
        </p:spPr>
        <p:txBody>
          <a:bodyPr wrap="square" tIns="0" bIns="0" lIns="0" rIns="0">
            <a:spAutoFit/>
          </a:bodyPr>
          <a:lstStyle/>
          <a:p>
            <a:pPr>
              <a:spcBef>
                <a:spcPts val="0"/>
              </a:spcBef>
              <a:spcAft>
                <a:spcPts val="600"/>
              </a:spcAft>
              <a:defRPr sz="4900" b="1">
                <a:solidFill>
                  <a:srgbClr val="17613F"/>
                </a:solidFill>
                <a:latin typeface="Nimbus Sans"/>
              </a:defRPr>
            </a:pPr>
            <a:r>
              <a:t>+15%</a:t>
            </a:r>
          </a:p>
        </p:txBody>
      </p:sp>
      <p:sp>
        <p:nvSpPr>
          <p:cNvPr id="24" name="TextBox 23"/>
          <p:cNvSpPr txBox="1"/>
          <p:nvPr/>
        </p:nvSpPr>
        <p:spPr>
          <a:xfrm>
            <a:off x="6903720" y="3456432"/>
            <a:ext cx="4389120" cy="594360"/>
          </a:xfrm>
          <a:prstGeom prst="rect">
            <a:avLst/>
          </a:prstGeom>
          <a:noFill/>
          <a:effectLst/>
        </p:spPr>
        <p:txBody>
          <a:bodyPr wrap="square" tIns="0" bIns="0" lIns="0" rIns="0">
            <a:spAutoFit/>
          </a:bodyPr>
          <a:lstStyle/>
          <a:p>
            <a:pPr>
              <a:spcBef>
                <a:spcPts val="0"/>
              </a:spcBef>
              <a:spcAft>
                <a:spcPts val="600"/>
              </a:spcAft>
              <a:defRPr sz="1700" b="0">
                <a:solidFill>
                  <a:srgbClr val="567168"/>
                </a:solidFill>
                <a:latin typeface="Nimbus Sans"/>
              </a:defRPr>
            </a:pPr>
            <a:r>
              <a:t>Kunjungan organik setelah tahap awal</a:t>
            </a:r>
          </a:p>
          <a:p>
            <a:pPr>
              <a:spcBef>
                <a:spcPts val="0"/>
              </a:spcBef>
              <a:spcAft>
                <a:spcPts val="600"/>
              </a:spcAft>
              <a:defRPr sz="1700" b="0">
                <a:solidFill>
                  <a:srgbClr val="567168"/>
                </a:solidFill>
                <a:latin typeface="Nimbus Sans"/>
              </a:defRPr>
            </a:pPr>
            <a:r>
              <a:t>perbaikan crawl error.</a:t>
            </a:r>
          </a:p>
        </p:txBody>
      </p:sp>
      <p:sp>
        <p:nvSpPr>
          <p:cNvPr id="25" name="TextBox 24"/>
          <p:cNvSpPr txBox="1"/>
          <p:nvPr/>
        </p:nvSpPr>
        <p:spPr>
          <a:xfrm>
            <a:off x="6876288" y="4206240"/>
            <a:ext cx="4297680" cy="658368"/>
          </a:xfrm>
          <a:prstGeom prst="rect">
            <a:avLst/>
          </a:prstGeom>
          <a:noFill/>
          <a:effectLst/>
        </p:spPr>
        <p:txBody>
          <a:bodyPr wrap="square" tIns="0" bIns="0" lIns="0" rIns="0">
            <a:spAutoFit/>
          </a:bodyPr>
          <a:lstStyle/>
          <a:p>
            <a:pPr>
              <a:spcBef>
                <a:spcPts val="0"/>
              </a:spcBef>
              <a:spcAft>
                <a:spcPts val="600"/>
              </a:spcAft>
              <a:defRPr sz="3900" b="1">
                <a:solidFill>
                  <a:srgbClr val="17613F"/>
                </a:solidFill>
                <a:latin typeface="Nimbus Sans"/>
              </a:defRPr>
            </a:pPr>
            <a:r>
              <a:t>+102% YoY</a:t>
            </a:r>
          </a:p>
        </p:txBody>
      </p:sp>
      <p:sp>
        <p:nvSpPr>
          <p:cNvPr id="26" name="TextBox 25"/>
          <p:cNvSpPr txBox="1"/>
          <p:nvPr/>
        </p:nvSpPr>
        <p:spPr>
          <a:xfrm>
            <a:off x="6903720" y="4901184"/>
            <a:ext cx="4389120" cy="566928"/>
          </a:xfrm>
          <a:prstGeom prst="rect">
            <a:avLst/>
          </a:prstGeom>
          <a:noFill/>
          <a:effectLst/>
        </p:spPr>
        <p:txBody>
          <a:bodyPr wrap="square" tIns="0" bIns="0" lIns="0" rIns="0">
            <a:spAutoFit/>
          </a:bodyPr>
          <a:lstStyle/>
          <a:p>
            <a:pPr>
              <a:spcBef>
                <a:spcPts val="0"/>
              </a:spcBef>
              <a:spcAft>
                <a:spcPts val="600"/>
              </a:spcAft>
              <a:defRPr sz="1600" b="0">
                <a:solidFill>
                  <a:srgbClr val="567168"/>
                </a:solidFill>
                <a:latin typeface="Nimbus Sans"/>
              </a:defRPr>
            </a:pPr>
            <a:r>
              <a:t>Kunjungan organik dari Google Search,</a:t>
            </a:r>
          </a:p>
          <a:p>
            <a:pPr>
              <a:spcBef>
                <a:spcPts val="0"/>
              </a:spcBef>
              <a:spcAft>
                <a:spcPts val="600"/>
              </a:spcAft>
              <a:defRPr sz="1600" b="0">
                <a:solidFill>
                  <a:srgbClr val="567168"/>
                </a:solidFill>
                <a:latin typeface="Nimbus Sans"/>
              </a:defRPr>
            </a:pPr>
            <a:r>
              <a:t>musim rekrutmen September 2019.</a:t>
            </a:r>
          </a:p>
        </p:txBody>
      </p:sp>
      <p:sp>
        <p:nvSpPr>
          <p:cNvPr id="27" name="Rounded Rectangle 26"/>
          <p:cNvSpPr/>
          <p:nvPr/>
        </p:nvSpPr>
        <p:spPr>
          <a:xfrm>
            <a:off x="594360" y="5833872"/>
            <a:ext cx="10972800" cy="484632"/>
          </a:xfrm>
          <a:prstGeom prst="roundRect">
            <a:avLst>
              <a:gd name="adj" fmla="val 3500"/>
            </a:avLst>
          </a:prstGeom>
          <a:solidFill>
            <a:srgbClr val="E4EE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77240" y="5943600"/>
            <a:ext cx="10607040" cy="283464"/>
          </a:xfrm>
          <a:prstGeom prst="rect">
            <a:avLst/>
          </a:prstGeom>
          <a:noFill/>
          <a:effectLst/>
        </p:spPr>
        <p:txBody>
          <a:bodyPr wrap="square" tIns="0" bIns="0" lIns="0" rIns="0">
            <a:spAutoFit/>
          </a:bodyPr>
          <a:lstStyle/>
          <a:p>
            <a:pPr>
              <a:spcBef>
                <a:spcPts val="0"/>
              </a:spcBef>
              <a:spcAft>
                <a:spcPts val="400"/>
              </a:spcAft>
              <a:defRPr sz="1200" b="0">
                <a:solidFill>
                  <a:srgbClr val="17613F"/>
                </a:solidFill>
                <a:latin typeface="Nimbus Sans"/>
              </a:defRPr>
            </a:pPr>
            <a:r>
              <a:rPr sz="1200"/>
              <a:t>Hasil ini dilaporkan setelah beberapa perbaikan. Tidak bisa dianggap sebagai dampak dari satu tindakan saja.</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7613F"/>
        </a:solidFill>
        <a:effectLst/>
      </p:bgPr>
    </p:bg>
    <p:spTree>
      <p:nvGrpSpPr>
        <p:cNvPr id="1" name=""/>
        <p:cNvGrpSpPr/>
        <p:nvPr/>
      </p:nvGrpSpPr>
      <p:grpSpPr/>
      <p:sp>
        <p:nvSpPr>
          <p:cNvPr id="30" name="Rectangle 29"/>
          <p:cNvSpPr/>
          <p:nvPr/>
        </p:nvSpPr>
        <p:spPr>
          <a:xfrm>
            <a:off x="6821424" y="2606040"/>
            <a:ext cx="4389120" cy="2724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931152" y="2697480"/>
            <a:ext cx="4389120" cy="2724912"/>
          </a:xfrm>
          <a:prstGeom prst="rect">
            <a:avLst/>
          </a:prstGeom>
          <a:solidFill>
            <a:srgbClr val="DDE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1"/>
          <p:cNvSpPr/>
          <p:nvPr/>
        </p:nvSpPr>
        <p:spPr>
          <a:xfrm>
            <a:off x="0" y="0"/>
            <a:ext cx="12191695" cy="59436"/>
          </a:xfrm>
          <a:prstGeom prst="rect">
            <a:avLst/>
          </a:prstGeom>
          <a:solidFill>
            <a:srgbClr val="D2AB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502920" y="210312"/>
            <a:ext cx="2395728" cy="448056"/>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image.png"/>
          <p:cNvPicPr>
            <a:picLocks noChangeAspect="1"/>
          </p:cNvPicPr>
          <p:nvPr/>
        </p:nvPicPr>
        <p:blipFill>
          <a:blip r:embed="rId5"/>
          <a:stretch>
            <a:fillRect/>
          </a:stretch>
        </p:blipFill>
        <p:spPr>
          <a:xfrm>
            <a:off x="603504" y="323088"/>
            <a:ext cx="585216" cy="195072"/>
          </a:xfrm>
          <a:prstGeom prst="rect">
            <a:avLst/>
          </a:prstGeom>
          <a:effectLst/>
        </p:spPr>
      </p:pic>
      <p:sp>
        <p:nvSpPr>
          <p:cNvPr id="5" name="TextBox 4"/>
          <p:cNvSpPr txBox="1"/>
          <p:nvPr/>
        </p:nvSpPr>
        <p:spPr>
          <a:xfrm>
            <a:off x="1271016" y="283464"/>
            <a:ext cx="164592" cy="228600"/>
          </a:xfrm>
          <a:prstGeom prst="rect">
            <a:avLst/>
          </a:prstGeom>
          <a:noFill/>
          <a:effectLst/>
        </p:spPr>
        <p:txBody>
          <a:bodyPr wrap="square" tIns="0" bIns="0" lIns="0" rIns="0">
            <a:spAutoFit/>
          </a:bodyPr>
          <a:lstStyle/>
          <a:p>
            <a:pPr>
              <a:spcBef>
                <a:spcPts val="0"/>
              </a:spcBef>
              <a:spcAft>
                <a:spcPts val="600"/>
              </a:spcAft>
              <a:defRPr sz="1200" b="0">
                <a:solidFill>
                  <a:srgbClr val="567168"/>
                </a:solidFill>
                <a:latin typeface="Nimbus Sans"/>
              </a:defRPr>
            </a:pPr>
            <a:r>
              <a:t>×</a:t>
            </a:r>
          </a:p>
        </p:txBody>
      </p:sp>
      <p:pic>
        <p:nvPicPr>
          <p:cNvPr id="28" name="Picture 27" descr="image.png"/>
          <p:cNvPicPr>
            <a:picLocks noChangeAspect="1"/>
          </p:cNvPicPr>
          <p:nvPr/>
        </p:nvPicPr>
        <p:blipFill>
          <a:blip r:embed="rId6"/>
          <a:stretch>
            <a:fillRect/>
          </a:stretch>
        </p:blipFill>
        <p:spPr>
          <a:xfrm>
            <a:off x="1536192" y="334792"/>
            <a:ext cx="1243584" cy="153375"/>
          </a:xfrm>
          <a:prstGeom prst="rect">
            <a:avLst/>
          </a:prstGeom>
          <a:effectLst/>
        </p:spPr>
      </p:pic>
      <p:sp>
        <p:nvSpPr>
          <p:cNvPr id="7" name="TextBox 6"/>
          <p:cNvSpPr txBox="1"/>
          <p:nvPr/>
        </p:nvSpPr>
        <p:spPr>
          <a:xfrm>
            <a:off x="5486400" y="356616"/>
            <a:ext cx="6062472" cy="237744"/>
          </a:xfrm>
          <a:prstGeom prst="rect">
            <a:avLst/>
          </a:prstGeom>
          <a:noFill/>
          <a:effectLst/>
        </p:spPr>
        <p:txBody>
          <a:bodyPr wrap="square" tIns="0" bIns="0" lIns="0" rIns="0">
            <a:spAutoFit/>
          </a:bodyPr>
          <a:lstStyle/>
          <a:p>
            <a:pPr algn="r">
              <a:spcBef>
                <a:spcPts val="0"/>
              </a:spcBef>
              <a:spcAft>
                <a:spcPts val="600"/>
              </a:spcAft>
              <a:defRPr sz="1000" b="1">
                <a:solidFill>
                  <a:srgbClr val="E4EEDC"/>
                </a:solidFill>
                <a:latin typeface="Nimbus Sans"/>
              </a:defRPr>
            </a:pPr>
            <a:r>
              <a:t>06 / PAKET &amp; KERJA SAMA</a:t>
            </a:r>
          </a:p>
        </p:txBody>
      </p:sp>
      <p:sp>
        <p:nvSpPr>
          <p:cNvPr id="8" name="TextBox 7"/>
          <p:cNvSpPr txBox="1"/>
          <p:nvPr/>
        </p:nvSpPr>
        <p:spPr>
          <a:xfrm>
            <a:off x="594360" y="960120"/>
            <a:ext cx="10972800" cy="822960"/>
          </a:xfrm>
          <a:prstGeom prst="rect">
            <a:avLst/>
          </a:prstGeom>
          <a:noFill/>
          <a:effectLst/>
        </p:spPr>
        <p:txBody>
          <a:bodyPr wrap="square" tIns="0" bIns="0" lIns="0" rIns="0">
            <a:spAutoFit/>
          </a:bodyPr>
          <a:lstStyle/>
          <a:p>
            <a:pPr>
              <a:spcBef>
                <a:spcPts val="0"/>
              </a:spcBef>
              <a:spcAft>
                <a:spcPts val="400"/>
              </a:spcAft>
              <a:defRPr sz="3100" b="1">
                <a:solidFill>
                  <a:srgbClr val="FFFFFF"/>
                </a:solidFill>
                <a:latin typeface="Nimbus Sans"/>
              </a:defRPr>
            </a:pPr>
            <a:r>
              <a:rPr sz="3100"/>
              <a:t>Paket SEO Management Mecosin</a:t>
            </a:r>
          </a:p>
        </p:txBody>
      </p:sp>
      <p:sp>
        <p:nvSpPr>
          <p:cNvPr id="9" name="TextBox 8"/>
          <p:cNvSpPr txBox="1"/>
          <p:nvPr/>
        </p:nvSpPr>
        <p:spPr>
          <a:xfrm>
            <a:off x="594360" y="1792224"/>
            <a:ext cx="10972800" cy="594360"/>
          </a:xfrm>
          <a:prstGeom prst="rect">
            <a:avLst/>
          </a:prstGeom>
          <a:noFill/>
          <a:effectLst/>
        </p:spPr>
        <p:txBody>
          <a:bodyPr wrap="square" tIns="0" bIns="0" lIns="0" rIns="0">
            <a:spAutoFit/>
          </a:bodyPr>
          <a:lstStyle/>
          <a:p>
            <a:pPr>
              <a:spcBef>
                <a:spcPts val="0"/>
              </a:spcBef>
              <a:spcAft>
                <a:spcPts val="400"/>
              </a:spcAft>
              <a:defRPr sz="1700" b="0">
                <a:solidFill>
                  <a:srgbClr val="E4EEDC"/>
                </a:solidFill>
                <a:latin typeface="Nimbus Sans"/>
              </a:defRPr>
            </a:pPr>
            <a:r>
              <a:rPr sz="1700"/>
              <a:t>Pengelolaan bulanan mencakup strategi, pembuatan konten, perbaikan halaman, dan evaluasi.</a:t>
            </a:r>
          </a:p>
        </p:txBody>
      </p:sp>
      <p:sp>
        <p:nvSpPr>
          <p:cNvPr id="10" name="TextBox 9"/>
          <p:cNvSpPr txBox="1"/>
          <p:nvPr/>
        </p:nvSpPr>
        <p:spPr>
          <a:xfrm>
            <a:off x="594360" y="6437376"/>
            <a:ext cx="10287000" cy="219456"/>
          </a:xfrm>
          <a:prstGeom prst="rect">
            <a:avLst/>
          </a:prstGeom>
          <a:noFill/>
          <a:effectLst/>
        </p:spPr>
        <p:txBody>
          <a:bodyPr wrap="square" tIns="0" bIns="0" lIns="0" rIns="0">
            <a:spAutoFit/>
          </a:bodyPr>
          <a:lstStyle/>
          <a:p>
            <a:pPr>
              <a:spcBef>
                <a:spcPts val="0"/>
              </a:spcBef>
              <a:spcAft>
                <a:spcPts val="400"/>
              </a:spcAft>
              <a:defRPr sz="900" b="0">
                <a:solidFill>
                  <a:srgbClr val="E4EEDC"/>
                </a:solidFill>
                <a:latin typeface="Nimbus Sans"/>
              </a:defRPr>
            </a:pPr>
            <a:r>
              <a:rPr sz="900"/>
              <a:t>Konten tayang setelah disetujui Mecosin. Peringkat, jumlah kunjungan, dan penjualan tidak dijamin.</a:t>
            </a:r>
          </a:p>
        </p:txBody>
      </p:sp>
      <p:sp>
        <p:nvSpPr>
          <p:cNvPr id="11" name="TextBox 10"/>
          <p:cNvSpPr txBox="1"/>
          <p:nvPr/>
        </p:nvSpPr>
        <p:spPr>
          <a:xfrm>
            <a:off x="11091672" y="6391656"/>
            <a:ext cx="457200" cy="256032"/>
          </a:xfrm>
          <a:prstGeom prst="rect">
            <a:avLst/>
          </a:prstGeom>
          <a:noFill/>
          <a:effectLst/>
        </p:spPr>
        <p:txBody>
          <a:bodyPr wrap="square" tIns="0" bIns="0" lIns="0" rIns="0">
            <a:spAutoFit/>
          </a:bodyPr>
          <a:lstStyle/>
          <a:p>
            <a:pPr>
              <a:spcBef>
                <a:spcPts val="0"/>
              </a:spcBef>
              <a:spcAft>
                <a:spcPts val="600"/>
              </a:spcAft>
              <a:defRPr sz="1200" b="1">
                <a:solidFill>
                  <a:srgbClr val="FFFFFF"/>
                </a:solidFill>
                <a:latin typeface="Nimbus Sans"/>
              </a:defRPr>
            </a:pPr>
            <a:r>
              <a:t>28</a:t>
            </a:r>
          </a:p>
        </p:txBody>
      </p:sp>
      <p:sp>
        <p:nvSpPr>
          <p:cNvPr id="12" name="Rectangle 11"/>
          <p:cNvSpPr/>
          <p:nvPr/>
        </p:nvSpPr>
        <p:spPr>
          <a:xfrm>
            <a:off x="566928" y="6739128"/>
            <a:ext cx="1755648" cy="32004"/>
          </a:xfrm>
          <a:prstGeom prst="rect">
            <a:avLst/>
          </a:prstGeom>
          <a:solidFill>
            <a:srgbClr val="56716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2432304" y="6739128"/>
            <a:ext cx="1755648" cy="32004"/>
          </a:xfrm>
          <a:prstGeom prst="rect">
            <a:avLst/>
          </a:prstGeom>
          <a:solidFill>
            <a:srgbClr val="56716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297680" y="6739128"/>
            <a:ext cx="1755648" cy="32004"/>
          </a:xfrm>
          <a:prstGeom prst="rect">
            <a:avLst/>
          </a:prstGeom>
          <a:solidFill>
            <a:srgbClr val="56716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163056" y="6739128"/>
            <a:ext cx="1755648" cy="32004"/>
          </a:xfrm>
          <a:prstGeom prst="rect">
            <a:avLst/>
          </a:prstGeom>
          <a:solidFill>
            <a:srgbClr val="56716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8028431" y="6739128"/>
            <a:ext cx="1755648" cy="32004"/>
          </a:xfrm>
          <a:prstGeom prst="rect">
            <a:avLst/>
          </a:prstGeom>
          <a:solidFill>
            <a:srgbClr val="56716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893807" y="6739128"/>
            <a:ext cx="1755648" cy="32004"/>
          </a:xfrm>
          <a:prstGeom prst="rect">
            <a:avLst/>
          </a:prstGeom>
          <a:solidFill>
            <a:srgbClr val="D2AB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58368" y="2596896"/>
            <a:ext cx="5577840" cy="941832"/>
          </a:xfrm>
          <a:prstGeom prst="rect">
            <a:avLst/>
          </a:prstGeom>
          <a:noFill/>
          <a:effectLst/>
        </p:spPr>
        <p:txBody>
          <a:bodyPr wrap="square" tIns="0" bIns="0" lIns="0" rIns="0">
            <a:spAutoFit/>
          </a:bodyPr>
          <a:lstStyle/>
          <a:p>
            <a:pPr>
              <a:spcBef>
                <a:spcPts val="0"/>
              </a:spcBef>
              <a:spcAft>
                <a:spcPts val="600"/>
              </a:spcAft>
              <a:defRPr sz="5700" b="1">
                <a:solidFill>
                  <a:srgbClr val="FFFFFF"/>
                </a:solidFill>
                <a:latin typeface="Nimbus Sans"/>
              </a:defRPr>
            </a:pPr>
            <a:r>
              <a:t>Rp15 juta</a:t>
            </a:r>
          </a:p>
        </p:txBody>
      </p:sp>
      <p:sp>
        <p:nvSpPr>
          <p:cNvPr id="19" name="TextBox 18"/>
          <p:cNvSpPr txBox="1"/>
          <p:nvPr/>
        </p:nvSpPr>
        <p:spPr>
          <a:xfrm>
            <a:off x="704088" y="3675888"/>
            <a:ext cx="5303520" cy="411480"/>
          </a:xfrm>
          <a:prstGeom prst="rect">
            <a:avLst/>
          </a:prstGeom>
          <a:noFill/>
          <a:effectLst/>
        </p:spPr>
        <p:txBody>
          <a:bodyPr wrap="square" tIns="0" bIns="0" lIns="0" rIns="0">
            <a:spAutoFit/>
          </a:bodyPr>
          <a:lstStyle/>
          <a:p>
            <a:pPr>
              <a:spcBef>
                <a:spcPts val="0"/>
              </a:spcBef>
              <a:spcAft>
                <a:spcPts val="600"/>
              </a:spcAft>
              <a:defRPr sz="2500" b="0">
                <a:solidFill>
                  <a:srgbClr val="E4EEDC"/>
                </a:solidFill>
                <a:latin typeface="Nimbus Sans"/>
              </a:defRPr>
            </a:pPr>
            <a:r>
              <a:t>per bulan</a:t>
            </a:r>
          </a:p>
        </p:txBody>
      </p:sp>
      <p:sp>
        <p:nvSpPr>
          <p:cNvPr id="21" name="TextBox 20"/>
          <p:cNvSpPr txBox="1"/>
          <p:nvPr/>
        </p:nvSpPr>
        <p:spPr>
          <a:xfrm>
            <a:off x="7150608" y="2852927"/>
            <a:ext cx="4023360" cy="822960"/>
          </a:xfrm>
          <a:prstGeom prst="rect">
            <a:avLst/>
          </a:prstGeom>
          <a:noFill/>
          <a:effectLst/>
        </p:spPr>
        <p:txBody>
          <a:bodyPr wrap="square" tIns="0" bIns="0" lIns="0" rIns="0">
            <a:spAutoFit/>
          </a:bodyPr>
          <a:lstStyle/>
          <a:p>
            <a:pPr algn="ctr">
              <a:spcBef>
                <a:spcPts val="0"/>
              </a:spcBef>
              <a:spcAft>
                <a:spcPts val="600"/>
              </a:spcAft>
              <a:defRPr sz="5400" b="1">
                <a:solidFill>
                  <a:srgbClr val="17613F"/>
                </a:solidFill>
                <a:latin typeface="Nimbus Sans"/>
              </a:defRPr>
            </a:pPr>
            <a:r>
              <a:t>15</a:t>
            </a:r>
          </a:p>
        </p:txBody>
      </p:sp>
      <p:sp>
        <p:nvSpPr>
          <p:cNvPr id="22" name="TextBox 21"/>
          <p:cNvSpPr txBox="1"/>
          <p:nvPr/>
        </p:nvSpPr>
        <p:spPr>
          <a:xfrm>
            <a:off x="7150608" y="3831336"/>
            <a:ext cx="4023360" cy="429768"/>
          </a:xfrm>
          <a:prstGeom prst="rect">
            <a:avLst/>
          </a:prstGeom>
          <a:noFill/>
          <a:effectLst/>
        </p:spPr>
        <p:txBody>
          <a:bodyPr wrap="square" tIns="0" bIns="0" lIns="0" rIns="0">
            <a:spAutoFit/>
          </a:bodyPr>
          <a:lstStyle/>
          <a:p>
            <a:pPr algn="ctr">
              <a:spcBef>
                <a:spcPts val="0"/>
              </a:spcBef>
              <a:spcAft>
                <a:spcPts val="600"/>
              </a:spcAft>
              <a:defRPr sz="2400" b="1">
                <a:solidFill>
                  <a:srgbClr val="193E32"/>
                </a:solidFill>
                <a:latin typeface="Nimbus Sans"/>
              </a:defRPr>
            </a:pPr>
            <a:r>
              <a:t>artikel SEO per bulan</a:t>
            </a:r>
          </a:p>
        </p:txBody>
      </p:sp>
      <p:sp>
        <p:nvSpPr>
          <p:cNvPr id="23" name="TextBox 22"/>
          <p:cNvSpPr txBox="1"/>
          <p:nvPr/>
        </p:nvSpPr>
        <p:spPr>
          <a:xfrm>
            <a:off x="7150608" y="4315968"/>
            <a:ext cx="4023360" cy="777240"/>
          </a:xfrm>
          <a:prstGeom prst="rect">
            <a:avLst/>
          </a:prstGeom>
          <a:noFill/>
          <a:effectLst/>
        </p:spPr>
        <p:txBody>
          <a:bodyPr wrap="square" tIns="0" bIns="0" lIns="0" rIns="0">
            <a:spAutoFit/>
          </a:bodyPr>
          <a:lstStyle/>
          <a:p>
            <a:pPr algn="ctr">
              <a:spcBef>
                <a:spcPts val="0"/>
              </a:spcBef>
              <a:spcAft>
                <a:spcPts val="600"/>
              </a:spcAft>
              <a:defRPr sz="1700" b="0">
                <a:solidFill>
                  <a:srgbClr val="567168"/>
                </a:solidFill>
                <a:latin typeface="Nimbus Sans"/>
              </a:defRPr>
            </a:pPr>
            <a:r>
              <a:t>Riset, brief, penulisan, penyuntingan, optimasi, dan penayangan setelah disetujui.</a:t>
            </a:r>
          </a:p>
        </p:txBody>
      </p:sp>
      <p:sp>
        <p:nvSpPr>
          <p:cNvPr id="24" name="TextBox 23"/>
          <p:cNvSpPr txBox="1"/>
          <p:nvPr/>
        </p:nvSpPr>
        <p:spPr>
          <a:xfrm>
            <a:off x="704088" y="4443984"/>
            <a:ext cx="5577840" cy="914400"/>
          </a:xfrm>
          <a:prstGeom prst="rect">
            <a:avLst/>
          </a:prstGeom>
          <a:noFill/>
          <a:effectLst/>
        </p:spPr>
        <p:txBody>
          <a:bodyPr wrap="square" tIns="0" bIns="0" lIns="0" rIns="0">
            <a:spAutoFit/>
          </a:bodyPr>
          <a:lstStyle/>
          <a:p>
            <a:pPr>
              <a:spcBef>
                <a:spcPts val="0"/>
              </a:spcBef>
              <a:spcAft>
                <a:spcPts val="600"/>
              </a:spcAft>
              <a:defRPr sz="2200" b="0">
                <a:solidFill>
                  <a:srgbClr val="FFFFFF"/>
                </a:solidFill>
                <a:latin typeface="Nimbus Sans"/>
              </a:defRPr>
            </a:pPr>
            <a:r>
              <a:t>+ Optimasi on-page &amp; technical SEO</a:t>
            </a:r>
          </a:p>
          <a:p>
            <a:pPr>
              <a:spcBef>
                <a:spcPts val="0"/>
              </a:spcBef>
              <a:spcAft>
                <a:spcPts val="600"/>
              </a:spcAft>
              <a:defRPr sz="2200" b="0">
                <a:solidFill>
                  <a:srgbClr val="FFFFFF"/>
                </a:solidFill>
                <a:latin typeface="Nimbus Sans"/>
              </a:defRPr>
            </a:pPr>
            <a:r>
              <a:t>+ Pemantauan &amp; laporan</a:t>
            </a:r>
          </a:p>
        </p:txBody>
      </p:sp>
      <p:sp>
        <p:nvSpPr>
          <p:cNvPr id="25" name="Rounded Rectangle 24"/>
          <p:cNvSpPr/>
          <p:nvPr/>
        </p:nvSpPr>
        <p:spPr>
          <a:xfrm>
            <a:off x="594360" y="5833872"/>
            <a:ext cx="10972800" cy="484632"/>
          </a:xfrm>
          <a:prstGeom prst="roundRect">
            <a:avLst>
              <a:gd name="adj" fmla="val 3500"/>
            </a:avLst>
          </a:prstGeom>
          <a:solidFill>
            <a:srgbClr val="193E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777240" y="5943600"/>
            <a:ext cx="10607040" cy="283464"/>
          </a:xfrm>
          <a:prstGeom prst="rect">
            <a:avLst/>
          </a:prstGeom>
          <a:noFill/>
          <a:effectLst/>
        </p:spPr>
        <p:txBody>
          <a:bodyPr wrap="square" tIns="0" bIns="0" lIns="0" rIns="0">
            <a:spAutoFit/>
          </a:bodyPr>
          <a:lstStyle/>
          <a:p>
            <a:pPr>
              <a:spcBef>
                <a:spcPts val="0"/>
              </a:spcBef>
              <a:spcAft>
                <a:spcPts val="400"/>
              </a:spcAft>
              <a:defRPr sz="1200" b="0">
                <a:solidFill>
                  <a:srgbClr val="FFFFFF"/>
                </a:solidFill>
                <a:latin typeface="Nimbus Sans"/>
              </a:defRPr>
            </a:pPr>
            <a:r>
              <a:rPr sz="1200"/>
              <a:t>Backlink sesuai permintaan dikenakan biaya terpisah. Pengembangan besar dan pemeriksaan medis/hukum di luar paket.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6F8F3"/>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1761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502920" y="210312"/>
            <a:ext cx="2395728" cy="448056"/>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5"/>
          <a:stretch>
            <a:fillRect/>
          </a:stretch>
        </p:blipFill>
        <p:spPr>
          <a:xfrm>
            <a:off x="603504" y="323088"/>
            <a:ext cx="585216" cy="195072"/>
          </a:xfrm>
          <a:prstGeom prst="rect">
            <a:avLst/>
          </a:prstGeom>
          <a:effectLst/>
        </p:spPr>
      </p:pic>
      <p:sp>
        <p:nvSpPr>
          <p:cNvPr id="5" name="TextBox 4"/>
          <p:cNvSpPr txBox="1"/>
          <p:nvPr/>
        </p:nvSpPr>
        <p:spPr>
          <a:xfrm>
            <a:off x="1271016" y="283464"/>
            <a:ext cx="164592" cy="228600"/>
          </a:xfrm>
          <a:prstGeom prst="rect">
            <a:avLst/>
          </a:prstGeom>
          <a:noFill/>
          <a:effectLst/>
        </p:spPr>
        <p:txBody>
          <a:bodyPr wrap="square" tIns="0" bIns="0" lIns="0" rIns="0">
            <a:spAutoFit/>
          </a:bodyPr>
          <a:lstStyle/>
          <a:p>
            <a:pPr>
              <a:spcBef>
                <a:spcPts val="0"/>
              </a:spcBef>
              <a:spcAft>
                <a:spcPts val="600"/>
              </a:spcAft>
              <a:defRPr sz="1200" b="0">
                <a:solidFill>
                  <a:srgbClr val="567168"/>
                </a:solidFill>
                <a:latin typeface="Nimbus Sans"/>
              </a:defRPr>
            </a:pPr>
            <a:r>
              <a:t>×</a:t>
            </a:r>
          </a:p>
        </p:txBody>
      </p:sp>
      <p:pic>
        <p:nvPicPr>
          <p:cNvPr id="33" name="Picture 32" descr="image.png"/>
          <p:cNvPicPr>
            <a:picLocks noChangeAspect="1"/>
          </p:cNvPicPr>
          <p:nvPr/>
        </p:nvPicPr>
        <p:blipFill>
          <a:blip r:embed="rId6"/>
          <a:stretch>
            <a:fillRect/>
          </a:stretch>
        </p:blipFill>
        <p:spPr>
          <a:xfrm>
            <a:off x="1536192" y="334792"/>
            <a:ext cx="1243584" cy="153375"/>
          </a:xfrm>
          <a:prstGeom prst="rect">
            <a:avLst/>
          </a:prstGeom>
          <a:effectLst/>
        </p:spPr>
      </p:pic>
      <p:sp>
        <p:nvSpPr>
          <p:cNvPr id="7" name="TextBox 6"/>
          <p:cNvSpPr txBox="1"/>
          <p:nvPr/>
        </p:nvSpPr>
        <p:spPr>
          <a:xfrm>
            <a:off x="5486400" y="356616"/>
            <a:ext cx="6062472" cy="237744"/>
          </a:xfrm>
          <a:prstGeom prst="rect">
            <a:avLst/>
          </a:prstGeom>
          <a:noFill/>
          <a:effectLst/>
        </p:spPr>
        <p:txBody>
          <a:bodyPr wrap="square" tIns="0" bIns="0" lIns="0" rIns="0">
            <a:spAutoFit/>
          </a:bodyPr>
          <a:lstStyle/>
          <a:p>
            <a:pPr algn="r">
              <a:spcBef>
                <a:spcPts val="0"/>
              </a:spcBef>
              <a:spcAft>
                <a:spcPts val="600"/>
              </a:spcAft>
              <a:defRPr sz="1000" b="1">
                <a:solidFill>
                  <a:srgbClr val="17613F"/>
                </a:solidFill>
                <a:latin typeface="Nimbus Sans"/>
              </a:defRPr>
            </a:pPr>
            <a:r>
              <a:t>06 / PAKET &amp; KERJA SAMA</a:t>
            </a:r>
          </a:p>
        </p:txBody>
      </p:sp>
      <p:sp>
        <p:nvSpPr>
          <p:cNvPr id="8" name="TextBox 7"/>
          <p:cNvSpPr txBox="1"/>
          <p:nvPr/>
        </p:nvSpPr>
        <p:spPr>
          <a:xfrm>
            <a:off x="594360" y="960120"/>
            <a:ext cx="10972800" cy="822960"/>
          </a:xfrm>
          <a:prstGeom prst="rect">
            <a:avLst/>
          </a:prstGeom>
          <a:noFill/>
          <a:effectLst/>
        </p:spPr>
        <p:txBody>
          <a:bodyPr wrap="square" tIns="0" bIns="0" lIns="0" rIns="0">
            <a:spAutoFit/>
          </a:bodyPr>
          <a:lstStyle/>
          <a:p>
            <a:pPr>
              <a:spcBef>
                <a:spcPts val="0"/>
              </a:spcBef>
              <a:spcAft>
                <a:spcPts val="400"/>
              </a:spcAft>
              <a:defRPr sz="3100" b="1">
                <a:solidFill>
                  <a:srgbClr val="193E32"/>
                </a:solidFill>
                <a:latin typeface="Nimbus Sans"/>
              </a:defRPr>
            </a:pPr>
            <a:r>
              <a:rPr sz="3100"/>
              <a:t>Apa yang diterima Mecosin setiap bulan?</a:t>
            </a:r>
          </a:p>
        </p:txBody>
      </p:sp>
      <p:sp>
        <p:nvSpPr>
          <p:cNvPr id="9" name="TextBox 8"/>
          <p:cNvSpPr txBox="1"/>
          <p:nvPr/>
        </p:nvSpPr>
        <p:spPr>
          <a:xfrm>
            <a:off x="594360" y="1792224"/>
            <a:ext cx="10972800" cy="594360"/>
          </a:xfrm>
          <a:prstGeom prst="rect">
            <a:avLst/>
          </a:prstGeom>
          <a:noFill/>
          <a:effectLst/>
        </p:spPr>
        <p:txBody>
          <a:bodyPr wrap="square" tIns="0" bIns="0" lIns="0" rIns="0">
            <a:spAutoFit/>
          </a:bodyPr>
          <a:lstStyle/>
          <a:p>
            <a:pPr>
              <a:spcBef>
                <a:spcPts val="0"/>
              </a:spcBef>
              <a:spcAft>
                <a:spcPts val="400"/>
              </a:spcAft>
              <a:defRPr sz="1700" b="0">
                <a:solidFill>
                  <a:srgbClr val="567168"/>
                </a:solidFill>
                <a:latin typeface="Nimbus Sans"/>
              </a:defRPr>
            </a:pPr>
            <a:r>
              <a:rPr sz="1700"/>
              <a:t>Mecosin menerima hasil kerja yang bisa diperiksa. Dampaknya dinilai dari data pencarian, bukan jumlah artikel saja.</a:t>
            </a:r>
          </a:p>
        </p:txBody>
      </p:sp>
      <p:sp>
        <p:nvSpPr>
          <p:cNvPr id="10" name="TextBox 9"/>
          <p:cNvSpPr txBox="1"/>
          <p:nvPr/>
        </p:nvSpPr>
        <p:spPr>
          <a:xfrm>
            <a:off x="594360" y="6437376"/>
            <a:ext cx="10287000" cy="219456"/>
          </a:xfrm>
          <a:prstGeom prst="rect">
            <a:avLst/>
          </a:prstGeom>
          <a:noFill/>
          <a:effectLst/>
        </p:spPr>
        <p:txBody>
          <a:bodyPr wrap="square" tIns="0" bIns="0" lIns="0" rIns="0">
            <a:spAutoFit/>
          </a:bodyPr>
          <a:lstStyle/>
          <a:p>
            <a:pPr>
              <a:spcBef>
                <a:spcPts val="0"/>
              </a:spcBef>
              <a:spcAft>
                <a:spcPts val="400"/>
              </a:spcAft>
              <a:defRPr sz="900" b="0">
                <a:solidFill>
                  <a:srgbClr val="567168"/>
                </a:solidFill>
                <a:latin typeface="Nimbus Sans"/>
              </a:defRPr>
            </a:pPr>
            <a:r>
              <a:rPr sz="900"/>
              <a:t>Contoh daftar kerja, bukan laporan hasil Mecosin. Jumlah halaman yang dioptimasi mengikuti prioritas dan cakupan.</a:t>
            </a:r>
          </a:p>
        </p:txBody>
      </p:sp>
      <p:sp>
        <p:nvSpPr>
          <p:cNvPr id="11" name="TextBox 10"/>
          <p:cNvSpPr txBox="1"/>
          <p:nvPr/>
        </p:nvSpPr>
        <p:spPr>
          <a:xfrm>
            <a:off x="11091672" y="6391656"/>
            <a:ext cx="457200" cy="256032"/>
          </a:xfrm>
          <a:prstGeom prst="rect">
            <a:avLst/>
          </a:prstGeom>
          <a:noFill/>
          <a:effectLst/>
        </p:spPr>
        <p:txBody>
          <a:bodyPr wrap="square" tIns="0" bIns="0" lIns="0" rIns="0">
            <a:spAutoFit/>
          </a:bodyPr>
          <a:lstStyle/>
          <a:p>
            <a:pPr>
              <a:spcBef>
                <a:spcPts val="0"/>
              </a:spcBef>
              <a:spcAft>
                <a:spcPts val="600"/>
              </a:spcAft>
              <a:defRPr sz="1200" b="1">
                <a:solidFill>
                  <a:srgbClr val="17613F"/>
                </a:solidFill>
                <a:latin typeface="Nimbus Sans"/>
              </a:defRPr>
            </a:pPr>
            <a:r>
              <a:t>29</a:t>
            </a:r>
          </a:p>
        </p:txBody>
      </p:sp>
      <p:sp>
        <p:nvSpPr>
          <p:cNvPr id="12" name="Rectangle 11"/>
          <p:cNvSpPr/>
          <p:nvPr/>
        </p:nvSpPr>
        <p:spPr>
          <a:xfrm>
            <a:off x="566928"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2432304"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297680"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163056"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8028431"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893807" y="6739128"/>
            <a:ext cx="1755648" cy="32004"/>
          </a:xfrm>
          <a:prstGeom prst="rect">
            <a:avLst/>
          </a:prstGeom>
          <a:solidFill>
            <a:srgbClr val="D2AB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594360" y="5833872"/>
            <a:ext cx="10972800" cy="484632"/>
          </a:xfrm>
          <a:prstGeom prst="roundRect">
            <a:avLst>
              <a:gd name="adj" fmla="val 3500"/>
            </a:avLst>
          </a:prstGeom>
          <a:solidFill>
            <a:srgbClr val="E4EE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777240" y="5943600"/>
            <a:ext cx="10607040" cy="283464"/>
          </a:xfrm>
          <a:prstGeom prst="rect">
            <a:avLst/>
          </a:prstGeom>
          <a:noFill/>
          <a:effectLst/>
        </p:spPr>
        <p:txBody>
          <a:bodyPr wrap="square" tIns="0" bIns="0" lIns="0" rIns="0">
            <a:spAutoFit/>
          </a:bodyPr>
          <a:lstStyle/>
          <a:p>
            <a:pPr>
              <a:spcBef>
                <a:spcPts val="0"/>
              </a:spcBef>
              <a:spcAft>
                <a:spcPts val="400"/>
              </a:spcAft>
              <a:defRPr sz="1200" b="0">
                <a:solidFill>
                  <a:srgbClr val="17613F"/>
                </a:solidFill>
                <a:latin typeface="Nimbus Sans"/>
              </a:defRPr>
            </a:pPr>
            <a:r>
              <a:rPr sz="1200"/>
              <a:t>Contoh catatan: halaman produk diperbarui, internal link diperbaiki, lalu status dan hasilnya dipantau.</a:t>
            </a:r>
          </a:p>
        </p:txBody>
      </p:sp>
      <p:sp>
        <p:nvSpPr>
          <p:cNvPr id="34" name="Rectangle 33"/>
          <p:cNvSpPr/>
          <p:nvPr/>
        </p:nvSpPr>
        <p:spPr>
          <a:xfrm>
            <a:off x="1417320" y="2788920"/>
            <a:ext cx="1371600" cy="1508760"/>
          </a:xfrm>
          <a:prstGeom prst="rect">
            <a:avLst/>
          </a:prstGeom>
          <a:solidFill>
            <a:srgbClr val="FFFFFF"/>
          </a:solidFill>
          <a:ln w="2032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417320" y="2788920"/>
            <a:ext cx="1371600" cy="137160"/>
          </a:xfrm>
          <a:prstGeom prst="rect">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1545336" y="3108960"/>
            <a:ext cx="790956"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545336" y="3282696"/>
            <a:ext cx="790956"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545336" y="3456432"/>
            <a:ext cx="489204"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581912" y="3547872"/>
            <a:ext cx="1042415" cy="484632"/>
          </a:xfrm>
          <a:prstGeom prst="rect">
            <a:avLst/>
          </a:prstGeom>
          <a:noFill/>
        </p:spPr>
        <p:txBody>
          <a:bodyPr wrap="square" lIns="0" rIns="0" tIns="0" bIns="0">
            <a:spAutoFit/>
          </a:bodyPr>
          <a:lstStyle/>
          <a:p>
            <a:pPr algn="ctr">
              <a:spcAft>
                <a:spcPts val="0"/>
              </a:spcAft>
            </a:pPr>
            <a:r>
              <a:rPr sz="3000" b="1">
                <a:solidFill>
                  <a:srgbClr val="17613F"/>
                </a:solidFill>
                <a:latin typeface="Nimbus Sans"/>
              </a:rPr>
              <a:t>15</a:t>
            </a:r>
          </a:p>
        </p:txBody>
      </p:sp>
      <p:sp>
        <p:nvSpPr>
          <p:cNvPr id="40" name="TextBox 39"/>
          <p:cNvSpPr txBox="1"/>
          <p:nvPr/>
        </p:nvSpPr>
        <p:spPr>
          <a:xfrm>
            <a:off x="822960" y="4434840"/>
            <a:ext cx="3063240" cy="594360"/>
          </a:xfrm>
          <a:prstGeom prst="rect">
            <a:avLst/>
          </a:prstGeom>
          <a:noFill/>
        </p:spPr>
        <p:txBody>
          <a:bodyPr wrap="square" lIns="0" rIns="0" tIns="0" bIns="0">
            <a:spAutoFit/>
          </a:bodyPr>
          <a:lstStyle/>
          <a:p>
            <a:pPr algn="l">
              <a:spcAft>
                <a:spcPts val="0"/>
              </a:spcAft>
            </a:pPr>
            <a:r>
              <a:rPr sz="2200" b="1">
                <a:solidFill>
                  <a:srgbClr val="17613F"/>
                </a:solidFill>
                <a:latin typeface="Nimbus Sans"/>
              </a:rPr>
              <a:t>15 artikel SEO</a:t>
            </a:r>
          </a:p>
        </p:txBody>
      </p:sp>
      <p:sp>
        <p:nvSpPr>
          <p:cNvPr id="41" name="TextBox 40"/>
          <p:cNvSpPr txBox="1"/>
          <p:nvPr/>
        </p:nvSpPr>
        <p:spPr>
          <a:xfrm>
            <a:off x="822960" y="5102352"/>
            <a:ext cx="3063240" cy="493776"/>
          </a:xfrm>
          <a:prstGeom prst="rect">
            <a:avLst/>
          </a:prstGeom>
          <a:noFill/>
        </p:spPr>
        <p:txBody>
          <a:bodyPr wrap="square" lIns="0" rIns="0" tIns="0" bIns="0">
            <a:spAutoFit/>
          </a:bodyPr>
          <a:lstStyle/>
          <a:p>
            <a:pPr algn="l">
              <a:spcAft>
                <a:spcPts val="0"/>
              </a:spcAft>
            </a:pPr>
            <a:r>
              <a:rPr sz="1600" b="0">
                <a:solidFill>
                  <a:srgbClr val="567168"/>
                </a:solidFill>
                <a:latin typeface="Nimbus Sans"/>
              </a:rPr>
              <a:t>Brief, draf, revisi,</a:t>
            </a:r>
          </a:p>
          <a:p>
            <a:pPr algn="l">
              <a:spcAft>
                <a:spcPts val="0"/>
              </a:spcAft>
            </a:pPr>
            <a:r>
              <a:rPr sz="1600" b="0">
                <a:solidFill>
                  <a:srgbClr val="567168"/>
                </a:solidFill>
                <a:latin typeface="Nimbus Sans"/>
              </a:rPr>
              <a:t>persetujuan &amp; penayangan.</a:t>
            </a:r>
          </a:p>
        </p:txBody>
      </p:sp>
      <p:sp>
        <p:nvSpPr>
          <p:cNvPr id="42" name="Rectangle 41"/>
          <p:cNvSpPr/>
          <p:nvPr/>
        </p:nvSpPr>
        <p:spPr>
          <a:xfrm>
            <a:off x="5166359" y="2788920"/>
            <a:ext cx="1371600" cy="1508760"/>
          </a:xfrm>
          <a:prstGeom prst="rect">
            <a:avLst/>
          </a:prstGeom>
          <a:solidFill>
            <a:srgbClr val="FFFFFF"/>
          </a:solidFill>
          <a:ln w="2032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166359" y="2788920"/>
            <a:ext cx="1371600" cy="137160"/>
          </a:xfrm>
          <a:prstGeom prst="rect">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5294375" y="3108960"/>
            <a:ext cx="790956"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5294375" y="3282696"/>
            <a:ext cx="790956"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5294375" y="3456432"/>
            <a:ext cx="489204"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989320" y="3931920"/>
            <a:ext cx="137160" cy="137160"/>
          </a:xfrm>
          <a:prstGeom prst="line">
            <a:avLst/>
          </a:prstGeom>
          <a:ln w="3810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6126480" y="3767328"/>
            <a:ext cx="301751" cy="301752"/>
          </a:xfrm>
          <a:prstGeom prst="line">
            <a:avLst/>
          </a:prstGeom>
          <a:ln w="38100">
            <a:solidFill>
              <a:srgbClr val="17613F"/>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4572000" y="4434840"/>
            <a:ext cx="3063240" cy="594360"/>
          </a:xfrm>
          <a:prstGeom prst="rect">
            <a:avLst/>
          </a:prstGeom>
          <a:noFill/>
        </p:spPr>
        <p:txBody>
          <a:bodyPr wrap="square" lIns="0" rIns="0" tIns="0" bIns="0">
            <a:spAutoFit/>
          </a:bodyPr>
          <a:lstStyle/>
          <a:p>
            <a:pPr algn="l">
              <a:spcAft>
                <a:spcPts val="0"/>
              </a:spcAft>
            </a:pPr>
            <a:r>
              <a:rPr sz="2200" b="1">
                <a:solidFill>
                  <a:srgbClr val="17613F"/>
                </a:solidFill>
                <a:latin typeface="Nimbus Sans"/>
              </a:rPr>
              <a:t>Catatan perubahan</a:t>
            </a:r>
          </a:p>
        </p:txBody>
      </p:sp>
      <p:sp>
        <p:nvSpPr>
          <p:cNvPr id="50" name="TextBox 49"/>
          <p:cNvSpPr txBox="1"/>
          <p:nvPr/>
        </p:nvSpPr>
        <p:spPr>
          <a:xfrm>
            <a:off x="4572000" y="5102352"/>
            <a:ext cx="3063240" cy="493776"/>
          </a:xfrm>
          <a:prstGeom prst="rect">
            <a:avLst/>
          </a:prstGeom>
          <a:noFill/>
        </p:spPr>
        <p:txBody>
          <a:bodyPr wrap="square" lIns="0" rIns="0" tIns="0" bIns="0">
            <a:spAutoFit/>
          </a:bodyPr>
          <a:lstStyle/>
          <a:p>
            <a:pPr algn="l">
              <a:spcAft>
                <a:spcPts val="0"/>
              </a:spcAft>
            </a:pPr>
            <a:r>
              <a:rPr sz="1600" b="0">
                <a:solidFill>
                  <a:srgbClr val="567168"/>
                </a:solidFill>
                <a:latin typeface="Nimbus Sans"/>
              </a:rPr>
              <a:t>Optimasi halaman &amp;</a:t>
            </a:r>
          </a:p>
          <a:p>
            <a:pPr algn="l">
              <a:spcAft>
                <a:spcPts val="0"/>
              </a:spcAft>
            </a:pPr>
            <a:r>
              <a:rPr sz="1600" b="0">
                <a:solidFill>
                  <a:srgbClr val="567168"/>
                </a:solidFill>
                <a:latin typeface="Nimbus Sans"/>
              </a:rPr>
              <a:t>pekerjaan teknis prioritas.</a:t>
            </a:r>
          </a:p>
        </p:txBody>
      </p:sp>
      <p:sp>
        <p:nvSpPr>
          <p:cNvPr id="51" name="Rectangle 50"/>
          <p:cNvSpPr/>
          <p:nvPr/>
        </p:nvSpPr>
        <p:spPr>
          <a:xfrm>
            <a:off x="8915400" y="2788920"/>
            <a:ext cx="1371600" cy="1508760"/>
          </a:xfrm>
          <a:prstGeom prst="rect">
            <a:avLst/>
          </a:prstGeom>
          <a:solidFill>
            <a:srgbClr val="FFFFFF"/>
          </a:solidFill>
          <a:ln w="2032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915400" y="2788920"/>
            <a:ext cx="1371600" cy="137160"/>
          </a:xfrm>
          <a:prstGeom prst="rect">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 name="Connector 52"/>
          <p:cNvCxnSpPr/>
          <p:nvPr/>
        </p:nvCxnSpPr>
        <p:spPr>
          <a:xfrm>
            <a:off x="9043416" y="3108960"/>
            <a:ext cx="790956"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9043416" y="3282696"/>
            <a:ext cx="790956"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9043416" y="3456432"/>
            <a:ext cx="489204" cy="0"/>
          </a:xfrm>
          <a:prstGeom prst="line">
            <a:avLst/>
          </a:prstGeom>
          <a:ln w="16510">
            <a:solidFill>
              <a:srgbClr val="17613F"/>
            </a:solidFill>
          </a:ln>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9738359" y="3694176"/>
            <a:ext cx="393192" cy="393192"/>
          </a:xfrm>
          <a:prstGeom prst="ellipse">
            <a:avLst/>
          </a:prstGeom>
          <a:noFill/>
          <a:ln w="30480">
            <a:solidFill>
              <a:srgbClr val="1761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 name="Connector 56"/>
          <p:cNvCxnSpPr/>
          <p:nvPr/>
        </p:nvCxnSpPr>
        <p:spPr>
          <a:xfrm>
            <a:off x="10064709" y="4020525"/>
            <a:ext cx="184800" cy="184800"/>
          </a:xfrm>
          <a:prstGeom prst="line">
            <a:avLst/>
          </a:prstGeom>
          <a:ln w="38100">
            <a:solidFill>
              <a:srgbClr val="17613F"/>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8321040" y="4434840"/>
            <a:ext cx="3063240" cy="594360"/>
          </a:xfrm>
          <a:prstGeom prst="rect">
            <a:avLst/>
          </a:prstGeom>
          <a:noFill/>
        </p:spPr>
        <p:txBody>
          <a:bodyPr wrap="square" lIns="0" rIns="0" tIns="0" bIns="0">
            <a:spAutoFit/>
          </a:bodyPr>
          <a:lstStyle/>
          <a:p>
            <a:pPr algn="l">
              <a:spcAft>
                <a:spcPts val="0"/>
              </a:spcAft>
            </a:pPr>
            <a:r>
              <a:rPr sz="2200" b="1">
                <a:solidFill>
                  <a:srgbClr val="17613F"/>
                </a:solidFill>
                <a:latin typeface="Nimbus Sans"/>
              </a:rPr>
              <a:t>Laporan &amp; rencana</a:t>
            </a:r>
          </a:p>
        </p:txBody>
      </p:sp>
      <p:sp>
        <p:nvSpPr>
          <p:cNvPr id="59" name="TextBox 58"/>
          <p:cNvSpPr txBox="1"/>
          <p:nvPr/>
        </p:nvSpPr>
        <p:spPr>
          <a:xfrm>
            <a:off x="8321040" y="5102352"/>
            <a:ext cx="3063240" cy="493776"/>
          </a:xfrm>
          <a:prstGeom prst="rect">
            <a:avLst/>
          </a:prstGeom>
          <a:noFill/>
        </p:spPr>
        <p:txBody>
          <a:bodyPr wrap="square" lIns="0" rIns="0" tIns="0" bIns="0">
            <a:spAutoFit/>
          </a:bodyPr>
          <a:lstStyle/>
          <a:p>
            <a:pPr algn="l">
              <a:spcAft>
                <a:spcPts val="0"/>
              </a:spcAft>
            </a:pPr>
            <a:r>
              <a:rPr sz="1600" b="0">
                <a:solidFill>
                  <a:srgbClr val="567168"/>
                </a:solidFill>
                <a:latin typeface="Nimbus Sans"/>
              </a:rPr>
              <a:t>Hasil, kendala &amp;</a:t>
            </a:r>
          </a:p>
          <a:p>
            <a:pPr algn="l">
              <a:spcAft>
                <a:spcPts val="0"/>
              </a:spcAft>
            </a:pPr>
            <a:r>
              <a:rPr sz="1600" b="0">
                <a:solidFill>
                  <a:srgbClr val="567168"/>
                </a:solidFill>
                <a:latin typeface="Nimbus Sans"/>
              </a:rPr>
              <a:t>rencana bulan berikutnya.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6F8F3"/>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1761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502920" y="210312"/>
            <a:ext cx="2395728" cy="448056"/>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5"/>
          <a:stretch>
            <a:fillRect/>
          </a:stretch>
        </p:blipFill>
        <p:spPr>
          <a:xfrm>
            <a:off x="603504" y="323088"/>
            <a:ext cx="585216" cy="195072"/>
          </a:xfrm>
          <a:prstGeom prst="rect">
            <a:avLst/>
          </a:prstGeom>
          <a:effectLst/>
        </p:spPr>
      </p:pic>
      <p:sp>
        <p:nvSpPr>
          <p:cNvPr id="5" name="TextBox 4"/>
          <p:cNvSpPr txBox="1"/>
          <p:nvPr/>
        </p:nvSpPr>
        <p:spPr>
          <a:xfrm>
            <a:off x="1271016" y="283464"/>
            <a:ext cx="164592" cy="228600"/>
          </a:xfrm>
          <a:prstGeom prst="rect">
            <a:avLst/>
          </a:prstGeom>
          <a:noFill/>
          <a:effectLst/>
        </p:spPr>
        <p:txBody>
          <a:bodyPr wrap="square" tIns="0" bIns="0" lIns="0" rIns="0">
            <a:spAutoFit/>
          </a:bodyPr>
          <a:lstStyle/>
          <a:p>
            <a:pPr>
              <a:spcBef>
                <a:spcPts val="0"/>
              </a:spcBef>
              <a:spcAft>
                <a:spcPts val="600"/>
              </a:spcAft>
              <a:defRPr sz="1200" b="0">
                <a:solidFill>
                  <a:srgbClr val="567168"/>
                </a:solidFill>
                <a:latin typeface="Nimbus Sans"/>
              </a:defRPr>
            </a:pPr>
            <a:r>
              <a:t>×</a:t>
            </a:r>
          </a:p>
        </p:txBody>
      </p:sp>
      <p:pic>
        <p:nvPicPr>
          <p:cNvPr id="27" name="Picture 26" descr="image.png"/>
          <p:cNvPicPr>
            <a:picLocks noChangeAspect="1"/>
          </p:cNvPicPr>
          <p:nvPr/>
        </p:nvPicPr>
        <p:blipFill>
          <a:blip r:embed="rId6"/>
          <a:stretch>
            <a:fillRect/>
          </a:stretch>
        </p:blipFill>
        <p:spPr>
          <a:xfrm>
            <a:off x="1536192" y="334792"/>
            <a:ext cx="1243584" cy="153375"/>
          </a:xfrm>
          <a:prstGeom prst="rect">
            <a:avLst/>
          </a:prstGeom>
          <a:effectLst/>
        </p:spPr>
      </p:pic>
      <p:sp>
        <p:nvSpPr>
          <p:cNvPr id="7" name="TextBox 6"/>
          <p:cNvSpPr txBox="1"/>
          <p:nvPr/>
        </p:nvSpPr>
        <p:spPr>
          <a:xfrm>
            <a:off x="5486400" y="356616"/>
            <a:ext cx="6062472" cy="237744"/>
          </a:xfrm>
          <a:prstGeom prst="rect">
            <a:avLst/>
          </a:prstGeom>
          <a:noFill/>
          <a:effectLst/>
        </p:spPr>
        <p:txBody>
          <a:bodyPr wrap="square" tIns="0" bIns="0" lIns="0" rIns="0">
            <a:spAutoFit/>
          </a:bodyPr>
          <a:lstStyle/>
          <a:p>
            <a:pPr algn="r">
              <a:spcBef>
                <a:spcPts val="0"/>
              </a:spcBef>
              <a:spcAft>
                <a:spcPts val="600"/>
              </a:spcAft>
              <a:defRPr sz="1000" b="1">
                <a:solidFill>
                  <a:srgbClr val="17613F"/>
                </a:solidFill>
                <a:latin typeface="Nimbus Sans"/>
              </a:defRPr>
            </a:pPr>
            <a:r>
              <a:t>06 / PAKET &amp; KERJA SAMA</a:t>
            </a:r>
          </a:p>
        </p:txBody>
      </p:sp>
      <p:sp>
        <p:nvSpPr>
          <p:cNvPr id="8" name="TextBox 7"/>
          <p:cNvSpPr txBox="1"/>
          <p:nvPr/>
        </p:nvSpPr>
        <p:spPr>
          <a:xfrm>
            <a:off x="594360" y="960120"/>
            <a:ext cx="10972800" cy="822960"/>
          </a:xfrm>
          <a:prstGeom prst="rect">
            <a:avLst/>
          </a:prstGeom>
          <a:noFill/>
          <a:effectLst/>
        </p:spPr>
        <p:txBody>
          <a:bodyPr wrap="square" tIns="0" bIns="0" lIns="0" rIns="0">
            <a:spAutoFit/>
          </a:bodyPr>
          <a:lstStyle/>
          <a:p>
            <a:pPr>
              <a:spcBef>
                <a:spcPts val="0"/>
              </a:spcBef>
              <a:spcAft>
                <a:spcPts val="400"/>
              </a:spcAft>
              <a:defRPr sz="3100" b="1">
                <a:solidFill>
                  <a:srgbClr val="193E32"/>
                </a:solidFill>
                <a:latin typeface="Nimbus Sans"/>
              </a:defRPr>
            </a:pPr>
            <a:r>
              <a:rPr sz="3100"/>
              <a:t>Batas layanan dan tanggung jawab</a:t>
            </a:r>
          </a:p>
        </p:txBody>
      </p:sp>
      <p:sp>
        <p:nvSpPr>
          <p:cNvPr id="9" name="TextBox 8"/>
          <p:cNvSpPr txBox="1"/>
          <p:nvPr/>
        </p:nvSpPr>
        <p:spPr>
          <a:xfrm>
            <a:off x="594360" y="1792224"/>
            <a:ext cx="10972800" cy="594360"/>
          </a:xfrm>
          <a:prstGeom prst="rect">
            <a:avLst/>
          </a:prstGeom>
          <a:noFill/>
          <a:effectLst/>
        </p:spPr>
        <p:txBody>
          <a:bodyPr wrap="square" tIns="0" bIns="0" lIns="0" rIns="0">
            <a:spAutoFit/>
          </a:bodyPr>
          <a:lstStyle/>
          <a:p>
            <a:pPr>
              <a:spcBef>
                <a:spcPts val="0"/>
              </a:spcBef>
              <a:spcAft>
                <a:spcPts val="400"/>
              </a:spcAft>
              <a:defRPr sz="1700" b="0">
                <a:solidFill>
                  <a:srgbClr val="567168"/>
                </a:solidFill>
                <a:latin typeface="Nimbus Sans"/>
              </a:defRPr>
            </a:pPr>
            <a:r>
              <a:rPr sz="1700"/>
              <a:t>Cakupan dan pembagian tugas yang jelas membantu pekerjaan dan persetujuan konten berjalan lancar.</a:t>
            </a:r>
          </a:p>
        </p:txBody>
      </p:sp>
      <p:sp>
        <p:nvSpPr>
          <p:cNvPr id="10" name="TextBox 9"/>
          <p:cNvSpPr txBox="1"/>
          <p:nvPr/>
        </p:nvSpPr>
        <p:spPr>
          <a:xfrm>
            <a:off x="594360" y="6437376"/>
            <a:ext cx="10287000" cy="219456"/>
          </a:xfrm>
          <a:prstGeom prst="rect">
            <a:avLst/>
          </a:prstGeom>
          <a:noFill/>
          <a:effectLst/>
        </p:spPr>
        <p:txBody>
          <a:bodyPr wrap="square" tIns="0" bIns="0" lIns="0" rIns="0">
            <a:spAutoFit/>
          </a:bodyPr>
          <a:lstStyle/>
          <a:p>
            <a:pPr>
              <a:spcBef>
                <a:spcPts val="0"/>
              </a:spcBef>
              <a:spcAft>
                <a:spcPts val="400"/>
              </a:spcAft>
              <a:defRPr sz="900" b="0">
                <a:solidFill>
                  <a:srgbClr val="567168"/>
                </a:solidFill>
                <a:latin typeface="Nimbus Sans"/>
              </a:defRPr>
            </a:pPr>
            <a:r>
              <a:rPr sz="900"/>
              <a:t>Ketentuan lengkap mengikuti penawaran. Target ditetapkan setelah data awal dan akses tersedia.</a:t>
            </a:r>
          </a:p>
        </p:txBody>
      </p:sp>
      <p:sp>
        <p:nvSpPr>
          <p:cNvPr id="11" name="TextBox 10"/>
          <p:cNvSpPr txBox="1"/>
          <p:nvPr/>
        </p:nvSpPr>
        <p:spPr>
          <a:xfrm>
            <a:off x="11091672" y="6391656"/>
            <a:ext cx="457200" cy="256032"/>
          </a:xfrm>
          <a:prstGeom prst="rect">
            <a:avLst/>
          </a:prstGeom>
          <a:noFill/>
          <a:effectLst/>
        </p:spPr>
        <p:txBody>
          <a:bodyPr wrap="square" tIns="0" bIns="0" lIns="0" rIns="0">
            <a:spAutoFit/>
          </a:bodyPr>
          <a:lstStyle/>
          <a:p>
            <a:pPr>
              <a:spcBef>
                <a:spcPts val="0"/>
              </a:spcBef>
              <a:spcAft>
                <a:spcPts val="600"/>
              </a:spcAft>
              <a:defRPr sz="1200" b="1">
                <a:solidFill>
                  <a:srgbClr val="17613F"/>
                </a:solidFill>
                <a:latin typeface="Nimbus Sans"/>
              </a:defRPr>
            </a:pPr>
            <a:r>
              <a:t>30</a:t>
            </a:r>
          </a:p>
        </p:txBody>
      </p:sp>
      <p:sp>
        <p:nvSpPr>
          <p:cNvPr id="12" name="Rectangle 11"/>
          <p:cNvSpPr/>
          <p:nvPr/>
        </p:nvSpPr>
        <p:spPr>
          <a:xfrm>
            <a:off x="566928"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2432304"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297680"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163056"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8028431"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893807" y="6739128"/>
            <a:ext cx="1755648" cy="32004"/>
          </a:xfrm>
          <a:prstGeom prst="rect">
            <a:avLst/>
          </a:prstGeom>
          <a:solidFill>
            <a:srgbClr val="D2AB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ounded Rectangle 17"/>
          <p:cNvSpPr/>
          <p:nvPr/>
        </p:nvSpPr>
        <p:spPr>
          <a:xfrm>
            <a:off x="594360" y="2596896"/>
            <a:ext cx="6565392" cy="2816352"/>
          </a:xfrm>
          <a:prstGeom prst="roundRect">
            <a:avLst>
              <a:gd name="adj" fmla="val 35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50392" y="2834639"/>
            <a:ext cx="6035040" cy="237744"/>
          </a:xfrm>
          <a:prstGeom prst="rect">
            <a:avLst/>
          </a:prstGeom>
          <a:noFill/>
          <a:effectLst/>
        </p:spPr>
        <p:txBody>
          <a:bodyPr wrap="square" tIns="0" bIns="0" lIns="0" rIns="0">
            <a:spAutoFit/>
          </a:bodyPr>
          <a:lstStyle/>
          <a:p>
            <a:pPr>
              <a:spcBef>
                <a:spcPts val="0"/>
              </a:spcBef>
              <a:spcAft>
                <a:spcPts val="600"/>
              </a:spcAft>
              <a:defRPr sz="1000" b="1">
                <a:solidFill>
                  <a:srgbClr val="17613F"/>
                </a:solidFill>
                <a:latin typeface="Nimbus Sans"/>
              </a:defRPr>
            </a:pPr>
            <a:r>
              <a:t>DI LUAR PAKET</a:t>
            </a:r>
          </a:p>
        </p:txBody>
      </p:sp>
      <p:sp>
        <p:nvSpPr>
          <p:cNvPr id="20" name="TextBox 19"/>
          <p:cNvSpPr txBox="1"/>
          <p:nvPr/>
        </p:nvSpPr>
        <p:spPr>
          <a:xfrm>
            <a:off x="850392" y="3419856"/>
            <a:ext cx="5989320" cy="1691640"/>
          </a:xfrm>
          <a:prstGeom prst="rect">
            <a:avLst/>
          </a:prstGeom>
          <a:noFill/>
          <a:effectLst/>
        </p:spPr>
        <p:txBody>
          <a:bodyPr wrap="square" tIns="0" bIns="0" lIns="0" rIns="0">
            <a:spAutoFit/>
          </a:bodyPr>
          <a:lstStyle/>
          <a:p>
            <a:pPr>
              <a:spcBef>
                <a:spcPts val="0"/>
              </a:spcBef>
              <a:spcAft>
                <a:spcPts val="600"/>
              </a:spcAft>
              <a:defRPr sz="1700" b="0">
                <a:solidFill>
                  <a:srgbClr val="567168"/>
                </a:solidFill>
                <a:latin typeface="Nimbus Sans"/>
              </a:defRPr>
            </a:pPr>
            <a:r>
              <a:t>Backlink berbayar, penempatan media, PR &amp; iklan</a:t>
            </a:r>
          </a:p>
          <a:p>
            <a:pPr>
              <a:spcBef>
                <a:spcPts val="0"/>
              </a:spcBef>
              <a:spcAft>
                <a:spcPts val="600"/>
              </a:spcAft>
              <a:defRPr sz="1700" b="0">
                <a:solidFill>
                  <a:srgbClr val="567168"/>
                </a:solidFill>
                <a:latin typeface="Nimbus Sans"/>
              </a:defRPr>
            </a:pPr>
            <a:r>
              <a:t>Produksi foto/video &amp; pengelolaan media sosial</a:t>
            </a:r>
          </a:p>
          <a:p>
            <a:pPr>
              <a:spcBef>
                <a:spcPts val="0"/>
              </a:spcBef>
              <a:spcAft>
                <a:spcPts val="600"/>
              </a:spcAft>
              <a:defRPr sz="1700" b="0">
                <a:solidFill>
                  <a:srgbClr val="567168"/>
                </a:solidFill>
                <a:latin typeface="Nimbus Sans"/>
              </a:defRPr>
            </a:pPr>
            <a:r>
              <a:t>Desain ulang besar, backend besar &amp; terjemahan tambahan</a:t>
            </a:r>
          </a:p>
          <a:p>
            <a:pPr>
              <a:spcBef>
                <a:spcPts val="0"/>
              </a:spcBef>
              <a:spcAft>
                <a:spcPts val="600"/>
              </a:spcAft>
              <a:defRPr sz="1700" b="0">
                <a:solidFill>
                  <a:srgbClr val="567168"/>
                </a:solidFill>
                <a:latin typeface="Nimbus Sans"/>
              </a:defRPr>
            </a:pPr>
            <a:r>
              <a:t>Pemeriksaan medis/hukum profesional &amp; jaminan hasil SEO</a:t>
            </a:r>
          </a:p>
        </p:txBody>
      </p:sp>
      <p:sp>
        <p:nvSpPr>
          <p:cNvPr id="21" name="Rounded Rectangle 20"/>
          <p:cNvSpPr/>
          <p:nvPr/>
        </p:nvSpPr>
        <p:spPr>
          <a:xfrm>
            <a:off x="7424927" y="2596896"/>
            <a:ext cx="4114800" cy="2816352"/>
          </a:xfrm>
          <a:prstGeom prst="roundRect">
            <a:avLst>
              <a:gd name="adj" fmla="val 3500"/>
            </a:avLst>
          </a:prstGeom>
          <a:solidFill>
            <a:srgbClr val="E4EE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680960" y="2834639"/>
            <a:ext cx="3566160" cy="237744"/>
          </a:xfrm>
          <a:prstGeom prst="rect">
            <a:avLst/>
          </a:prstGeom>
          <a:noFill/>
          <a:effectLst/>
        </p:spPr>
        <p:txBody>
          <a:bodyPr wrap="square" tIns="0" bIns="0" lIns="0" rIns="0">
            <a:spAutoFit/>
          </a:bodyPr>
          <a:lstStyle/>
          <a:p>
            <a:pPr>
              <a:spcBef>
                <a:spcPts val="0"/>
              </a:spcBef>
              <a:spcAft>
                <a:spcPts val="600"/>
              </a:spcAft>
              <a:defRPr sz="1000" b="1">
                <a:solidFill>
                  <a:srgbClr val="17613F"/>
                </a:solidFill>
                <a:latin typeface="Nimbus Sans"/>
              </a:defRPr>
            </a:pPr>
            <a:r>
              <a:t>PERAN MECOSIN</a:t>
            </a:r>
          </a:p>
        </p:txBody>
      </p:sp>
      <p:sp>
        <p:nvSpPr>
          <p:cNvPr id="23" name="TextBox 22"/>
          <p:cNvSpPr txBox="1"/>
          <p:nvPr/>
        </p:nvSpPr>
        <p:spPr>
          <a:xfrm>
            <a:off x="7680960" y="3419856"/>
            <a:ext cx="3566160" cy="1645920"/>
          </a:xfrm>
          <a:prstGeom prst="rect">
            <a:avLst/>
          </a:prstGeom>
          <a:noFill/>
          <a:effectLst/>
        </p:spPr>
        <p:txBody>
          <a:bodyPr wrap="square" tIns="0" bIns="0" lIns="0" rIns="0">
            <a:spAutoFit/>
          </a:bodyPr>
          <a:lstStyle/>
          <a:p>
            <a:pPr>
              <a:spcBef>
                <a:spcPts val="0"/>
              </a:spcBef>
              <a:spcAft>
                <a:spcPts val="600"/>
              </a:spcAft>
              <a:defRPr sz="2000" b="0">
                <a:solidFill>
                  <a:srgbClr val="17613F"/>
                </a:solidFill>
                <a:latin typeface="Nimbus Sans"/>
              </a:defRPr>
            </a:pPr>
            <a:r>
              <a:t>Materi produk resmi</a:t>
            </a:r>
          </a:p>
          <a:p>
            <a:pPr>
              <a:spcBef>
                <a:spcPts val="0"/>
              </a:spcBef>
              <a:spcAft>
                <a:spcPts val="600"/>
              </a:spcAft>
              <a:defRPr sz="2000" b="0">
                <a:solidFill>
                  <a:srgbClr val="17613F"/>
                </a:solidFill>
                <a:latin typeface="Nimbus Sans"/>
              </a:defRPr>
            </a:pPr>
            <a:r>
              <a:t>Akses yang diperlukan</a:t>
            </a:r>
          </a:p>
          <a:p>
            <a:pPr>
              <a:spcBef>
                <a:spcPts val="0"/>
              </a:spcBef>
              <a:spcAft>
                <a:spcPts val="600"/>
              </a:spcAft>
              <a:defRPr sz="2000" b="0">
                <a:solidFill>
                  <a:srgbClr val="17613F"/>
                </a:solidFill>
                <a:latin typeface="Nimbus Sans"/>
              </a:defRPr>
            </a:pPr>
            <a:r>
              <a:t>PIC dan persetujuan konten</a:t>
            </a:r>
          </a:p>
          <a:p>
            <a:pPr>
              <a:spcBef>
                <a:spcPts val="0"/>
              </a:spcBef>
              <a:spcAft>
                <a:spcPts val="600"/>
              </a:spcAft>
              <a:defRPr sz="2000" b="0">
                <a:solidFill>
                  <a:srgbClr val="17613F"/>
                </a:solidFill>
                <a:latin typeface="Nimbus Sans"/>
              </a:defRPr>
            </a:pPr>
            <a:r>
              <a:t>Penilaian pertanyaan yang masuk</a:t>
            </a:r>
          </a:p>
        </p:txBody>
      </p:sp>
      <p:sp>
        <p:nvSpPr>
          <p:cNvPr id="24" name="Rounded Rectangle 23"/>
          <p:cNvSpPr/>
          <p:nvPr/>
        </p:nvSpPr>
        <p:spPr>
          <a:xfrm>
            <a:off x="594360" y="5833872"/>
            <a:ext cx="10972800" cy="484632"/>
          </a:xfrm>
          <a:prstGeom prst="roundRect">
            <a:avLst>
              <a:gd name="adj" fmla="val 3500"/>
            </a:avLst>
          </a:prstGeom>
          <a:solidFill>
            <a:srgbClr val="E4EE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77240" y="5943600"/>
            <a:ext cx="10607040" cy="283464"/>
          </a:xfrm>
          <a:prstGeom prst="rect">
            <a:avLst/>
          </a:prstGeom>
          <a:noFill/>
          <a:effectLst/>
        </p:spPr>
        <p:txBody>
          <a:bodyPr wrap="square" tIns="0" bIns="0" lIns="0" rIns="0">
            <a:spAutoFit/>
          </a:bodyPr>
          <a:lstStyle/>
          <a:p>
            <a:pPr>
              <a:spcBef>
                <a:spcPts val="0"/>
              </a:spcBef>
              <a:spcAft>
                <a:spcPts val="400"/>
              </a:spcAft>
              <a:defRPr sz="1200" b="0">
                <a:solidFill>
                  <a:srgbClr val="17613F"/>
                </a:solidFill>
                <a:latin typeface="Nimbus Sans"/>
              </a:defRPr>
            </a:pPr>
            <a:r>
              <a:rPr sz="1200"/>
              <a:t>Klaim produk harus sesuai materi dan persetujuan Mecosin. Layanan SEO tidak menggantikan pemeriksaan medis.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6F8F3"/>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1761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502920" y="210312"/>
            <a:ext cx="2395728" cy="448056"/>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4" name="Picture 43" descr="image.png"/>
          <p:cNvPicPr>
            <a:picLocks noChangeAspect="1"/>
          </p:cNvPicPr>
          <p:nvPr/>
        </p:nvPicPr>
        <p:blipFill>
          <a:blip r:embed="rId6"/>
          <a:stretch>
            <a:fillRect/>
          </a:stretch>
        </p:blipFill>
        <p:spPr>
          <a:xfrm>
            <a:off x="603504" y="323088"/>
            <a:ext cx="585216" cy="195072"/>
          </a:xfrm>
          <a:prstGeom prst="rect">
            <a:avLst/>
          </a:prstGeom>
          <a:effectLst/>
        </p:spPr>
      </p:pic>
      <p:sp>
        <p:nvSpPr>
          <p:cNvPr id="5" name="TextBox 4"/>
          <p:cNvSpPr txBox="1"/>
          <p:nvPr/>
        </p:nvSpPr>
        <p:spPr>
          <a:xfrm>
            <a:off x="1271016" y="283464"/>
            <a:ext cx="164592" cy="228600"/>
          </a:xfrm>
          <a:prstGeom prst="rect">
            <a:avLst/>
          </a:prstGeom>
          <a:noFill/>
          <a:effectLst/>
        </p:spPr>
        <p:txBody>
          <a:bodyPr wrap="square" tIns="0" bIns="0" lIns="0" rIns="0">
            <a:spAutoFit/>
          </a:bodyPr>
          <a:lstStyle/>
          <a:p>
            <a:pPr>
              <a:spcBef>
                <a:spcPts val="0"/>
              </a:spcBef>
              <a:spcAft>
                <a:spcPts val="600"/>
              </a:spcAft>
              <a:defRPr sz="1200" b="0">
                <a:solidFill>
                  <a:srgbClr val="567168"/>
                </a:solidFill>
                <a:latin typeface="Nimbus Sans"/>
              </a:defRPr>
            </a:pPr>
            <a:r>
              <a:t>×</a:t>
            </a:r>
          </a:p>
        </p:txBody>
      </p:sp>
      <p:pic>
        <p:nvPicPr>
          <p:cNvPr id="45" name="Picture 44" descr="image.png"/>
          <p:cNvPicPr>
            <a:picLocks noChangeAspect="1"/>
          </p:cNvPicPr>
          <p:nvPr/>
        </p:nvPicPr>
        <p:blipFill>
          <a:blip r:embed="rId7"/>
          <a:stretch>
            <a:fillRect/>
          </a:stretch>
        </p:blipFill>
        <p:spPr>
          <a:xfrm>
            <a:off x="1536192" y="334792"/>
            <a:ext cx="1243584" cy="153375"/>
          </a:xfrm>
          <a:prstGeom prst="rect">
            <a:avLst/>
          </a:prstGeom>
          <a:effectLst/>
        </p:spPr>
      </p:pic>
      <p:sp>
        <p:nvSpPr>
          <p:cNvPr id="7" name="TextBox 6"/>
          <p:cNvSpPr txBox="1"/>
          <p:nvPr/>
        </p:nvSpPr>
        <p:spPr>
          <a:xfrm>
            <a:off x="5486400" y="356616"/>
            <a:ext cx="6062472" cy="237744"/>
          </a:xfrm>
          <a:prstGeom prst="rect">
            <a:avLst/>
          </a:prstGeom>
          <a:noFill/>
          <a:effectLst/>
        </p:spPr>
        <p:txBody>
          <a:bodyPr wrap="square" tIns="0" bIns="0" lIns="0" rIns="0">
            <a:spAutoFit/>
          </a:bodyPr>
          <a:lstStyle/>
          <a:p>
            <a:pPr algn="r">
              <a:spcBef>
                <a:spcPts val="0"/>
              </a:spcBef>
              <a:spcAft>
                <a:spcPts val="600"/>
              </a:spcAft>
              <a:defRPr sz="1000" b="1">
                <a:solidFill>
                  <a:srgbClr val="17613F"/>
                </a:solidFill>
                <a:latin typeface="Nimbus Sans"/>
              </a:defRPr>
            </a:pPr>
            <a:r>
              <a:t>06 / PAKET &amp; KERJA SAMA</a:t>
            </a:r>
          </a:p>
        </p:txBody>
      </p:sp>
      <p:sp>
        <p:nvSpPr>
          <p:cNvPr id="8" name="TextBox 7"/>
          <p:cNvSpPr txBox="1"/>
          <p:nvPr/>
        </p:nvSpPr>
        <p:spPr>
          <a:xfrm>
            <a:off x="594360" y="960120"/>
            <a:ext cx="10972800" cy="822960"/>
          </a:xfrm>
          <a:prstGeom prst="rect">
            <a:avLst/>
          </a:prstGeom>
          <a:noFill/>
          <a:effectLst/>
        </p:spPr>
        <p:txBody>
          <a:bodyPr wrap="square" tIns="0" bIns="0" lIns="0" rIns="0">
            <a:spAutoFit/>
          </a:bodyPr>
          <a:lstStyle/>
          <a:p>
            <a:pPr>
              <a:spcBef>
                <a:spcPts val="0"/>
              </a:spcBef>
              <a:spcAft>
                <a:spcPts val="400"/>
              </a:spcAft>
              <a:defRPr sz="3100" b="1">
                <a:solidFill>
                  <a:srgbClr val="193E32"/>
                </a:solidFill>
                <a:latin typeface="Nimbus Sans"/>
              </a:defRPr>
            </a:pPr>
            <a:r>
              <a:rPr sz="3100"/>
              <a:t>Langkah awal kerja sama</a:t>
            </a:r>
          </a:p>
        </p:txBody>
      </p:sp>
      <p:sp>
        <p:nvSpPr>
          <p:cNvPr id="9" name="TextBox 8"/>
          <p:cNvSpPr txBox="1"/>
          <p:nvPr/>
        </p:nvSpPr>
        <p:spPr>
          <a:xfrm>
            <a:off x="594360" y="1792224"/>
            <a:ext cx="10972800" cy="594360"/>
          </a:xfrm>
          <a:prstGeom prst="rect">
            <a:avLst/>
          </a:prstGeom>
          <a:noFill/>
          <a:effectLst/>
        </p:spPr>
        <p:txBody>
          <a:bodyPr wrap="square" tIns="0" bIns="0" lIns="0" rIns="0">
            <a:spAutoFit/>
          </a:bodyPr>
          <a:lstStyle/>
          <a:p>
            <a:pPr>
              <a:spcBef>
                <a:spcPts val="0"/>
              </a:spcBef>
              <a:spcAft>
                <a:spcPts val="400"/>
              </a:spcAft>
              <a:defRPr sz="1700" b="0">
                <a:solidFill>
                  <a:srgbClr val="567168"/>
                </a:solidFill>
                <a:latin typeface="Nimbus Sans"/>
              </a:defRPr>
            </a:pPr>
            <a:r>
              <a:rPr sz="1700"/>
              <a:t>Sepakati arah pekerjaan, siapkan data, dan tentukan alur persetujuan sebelum produksi dimulai.</a:t>
            </a:r>
          </a:p>
        </p:txBody>
      </p:sp>
      <p:sp>
        <p:nvSpPr>
          <p:cNvPr id="11" name="TextBox 10"/>
          <p:cNvSpPr txBox="1"/>
          <p:nvPr/>
        </p:nvSpPr>
        <p:spPr>
          <a:xfrm>
            <a:off x="11091672" y="6391656"/>
            <a:ext cx="457200" cy="256032"/>
          </a:xfrm>
          <a:prstGeom prst="rect">
            <a:avLst/>
          </a:prstGeom>
          <a:noFill/>
          <a:effectLst/>
        </p:spPr>
        <p:txBody>
          <a:bodyPr wrap="square" tIns="0" bIns="0" lIns="0" rIns="0">
            <a:spAutoFit/>
          </a:bodyPr>
          <a:lstStyle/>
          <a:p>
            <a:pPr>
              <a:spcBef>
                <a:spcPts val="0"/>
              </a:spcBef>
              <a:spcAft>
                <a:spcPts val="600"/>
              </a:spcAft>
              <a:defRPr sz="1200" b="1">
                <a:solidFill>
                  <a:srgbClr val="17613F"/>
                </a:solidFill>
                <a:latin typeface="Nimbus Sans"/>
              </a:defRPr>
            </a:pPr>
            <a:r>
              <a:t>31</a:t>
            </a:r>
          </a:p>
        </p:txBody>
      </p:sp>
      <p:sp>
        <p:nvSpPr>
          <p:cNvPr id="12" name="Rectangle 11"/>
          <p:cNvSpPr/>
          <p:nvPr/>
        </p:nvSpPr>
        <p:spPr>
          <a:xfrm>
            <a:off x="566928"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2432304"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297680"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163056"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8028431" y="6739128"/>
            <a:ext cx="1755648" cy="32004"/>
          </a:xfrm>
          <a:prstGeom prst="rect">
            <a:avLst/>
          </a:prstGeom>
          <a:solidFill>
            <a:srgbClr val="CCD9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893807" y="6739128"/>
            <a:ext cx="1755648" cy="32004"/>
          </a:xfrm>
          <a:prstGeom prst="rect">
            <a:avLst/>
          </a:prstGeom>
          <a:solidFill>
            <a:srgbClr val="D2AB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594360" y="6089904"/>
            <a:ext cx="10972800" cy="36576"/>
          </a:xfrm>
          <a:prstGeom prst="rect">
            <a:avLst/>
          </a:prstGeom>
          <a:solidFill>
            <a:srgbClr val="D2AB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640080" y="6300216"/>
            <a:ext cx="10332720" cy="292608"/>
          </a:xfrm>
          <a:prstGeom prst="rect">
            <a:avLst/>
          </a:prstGeom>
          <a:noFill/>
          <a:effectLst/>
        </p:spPr>
        <p:txBody>
          <a:bodyPr wrap="square" tIns="0" bIns="0" lIns="0" rIns="0">
            <a:spAutoFit/>
          </a:bodyPr>
          <a:lstStyle/>
          <a:p>
            <a:pPr>
              <a:spcBef>
                <a:spcPts val="0"/>
              </a:spcBef>
              <a:spcAft>
                <a:spcPts val="400"/>
              </a:spcAft>
              <a:defRPr sz="1900" b="1">
                <a:solidFill>
                  <a:srgbClr val="193E32"/>
                </a:solidFill>
                <a:latin typeface="Nimbus Sans"/>
              </a:defRPr>
            </a:pPr>
            <a:r>
              <a:rPr sz="1700" b="0"/>
              <a:t>Linc.id  ·  George@linc.id  ·  +62 811 1666 218</a:t>
            </a:r>
          </a:p>
        </p:txBody>
      </p:sp>
      <p:sp>
        <p:nvSpPr>
          <p:cNvPr id="46" name="Oval 45"/>
          <p:cNvSpPr/>
          <p:nvPr/>
        </p:nvSpPr>
        <p:spPr>
          <a:xfrm>
            <a:off x="777240" y="2697480"/>
            <a:ext cx="356616" cy="356616"/>
          </a:xfrm>
          <a:prstGeom prst="ellips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77240" y="2756916"/>
            <a:ext cx="356616" cy="210312"/>
          </a:xfrm>
          <a:prstGeom prst="rect">
            <a:avLst/>
          </a:prstGeom>
          <a:noFill/>
        </p:spPr>
        <p:txBody>
          <a:bodyPr wrap="square" lIns="0" rIns="0" tIns="0" bIns="0">
            <a:spAutoFit/>
          </a:bodyPr>
          <a:lstStyle/>
          <a:p>
            <a:pPr algn="ctr">
              <a:spcAft>
                <a:spcPts val="0"/>
              </a:spcAft>
            </a:pPr>
            <a:r>
              <a:rPr sz="1200" b="1">
                <a:solidFill>
                  <a:srgbClr val="FFFFFF"/>
                </a:solidFill>
                <a:latin typeface="Nimbus Sans"/>
              </a:rPr>
              <a:t>01</a:t>
            </a:r>
          </a:p>
        </p:txBody>
      </p:sp>
      <p:sp>
        <p:nvSpPr>
          <p:cNvPr id="48" name="TextBox 47"/>
          <p:cNvSpPr txBox="1"/>
          <p:nvPr/>
        </p:nvSpPr>
        <p:spPr>
          <a:xfrm>
            <a:off x="1417320" y="2697480"/>
            <a:ext cx="3474720" cy="347472"/>
          </a:xfrm>
          <a:prstGeom prst="rect">
            <a:avLst/>
          </a:prstGeom>
          <a:noFill/>
        </p:spPr>
        <p:txBody>
          <a:bodyPr wrap="square" lIns="0" rIns="0" tIns="0" bIns="0">
            <a:spAutoFit/>
          </a:bodyPr>
          <a:lstStyle/>
          <a:p>
            <a:pPr algn="l">
              <a:spcAft>
                <a:spcPts val="0"/>
              </a:spcAft>
            </a:pPr>
            <a:r>
              <a:rPr sz="2300" b="1">
                <a:solidFill>
                  <a:srgbClr val="17613F"/>
                </a:solidFill>
                <a:latin typeface="Nimbus Sans"/>
              </a:rPr>
              <a:t>Fokus bisnis</a:t>
            </a:r>
          </a:p>
        </p:txBody>
      </p:sp>
      <p:sp>
        <p:nvSpPr>
          <p:cNvPr id="49" name="TextBox 48"/>
          <p:cNvSpPr txBox="1"/>
          <p:nvPr/>
        </p:nvSpPr>
        <p:spPr>
          <a:xfrm>
            <a:off x="1417320" y="3136392"/>
            <a:ext cx="5669280" cy="329184"/>
          </a:xfrm>
          <a:prstGeom prst="rect">
            <a:avLst/>
          </a:prstGeom>
          <a:noFill/>
        </p:spPr>
        <p:txBody>
          <a:bodyPr wrap="square" lIns="0" rIns="0" tIns="0" bIns="0">
            <a:spAutoFit/>
          </a:bodyPr>
          <a:lstStyle/>
          <a:p>
            <a:pPr algn="l">
              <a:spcAft>
                <a:spcPts val="0"/>
              </a:spcAft>
            </a:pPr>
            <a:r>
              <a:rPr sz="1600" b="0">
                <a:solidFill>
                  <a:srgbClr val="567168"/>
                </a:solidFill>
                <a:latin typeface="Nimbus Sans"/>
              </a:rPr>
              <a:t>Produk, calon pelanggan, peluang utama.</a:t>
            </a:r>
          </a:p>
        </p:txBody>
      </p:sp>
      <p:cxnSp>
        <p:nvCxnSpPr>
          <p:cNvPr id="50" name="Connector 49"/>
          <p:cNvCxnSpPr/>
          <p:nvPr/>
        </p:nvCxnSpPr>
        <p:spPr>
          <a:xfrm>
            <a:off x="7223760" y="3017520"/>
            <a:ext cx="594360" cy="0"/>
          </a:xfrm>
          <a:prstGeom prst="line">
            <a:avLst/>
          </a:prstGeom>
          <a:ln w="25400">
            <a:solidFill>
              <a:srgbClr val="D2AB62"/>
            </a:solidFill>
          </a:ln>
        </p:spPr>
        <p:style>
          <a:lnRef idx="2">
            <a:schemeClr val="accent1"/>
          </a:lnRef>
          <a:fillRef idx="0">
            <a:schemeClr val="accent1"/>
          </a:fillRef>
          <a:effectRef idx="1">
            <a:schemeClr val="accent1"/>
          </a:effectRef>
          <a:fontRef idx="minor">
            <a:schemeClr val="tx1"/>
          </a:fontRef>
        </p:style>
      </p:cxnSp>
      <p:sp>
        <p:nvSpPr>
          <p:cNvPr id="51" name="Oval 50"/>
          <p:cNvSpPr/>
          <p:nvPr/>
        </p:nvSpPr>
        <p:spPr>
          <a:xfrm>
            <a:off x="777240" y="3611880"/>
            <a:ext cx="356616" cy="356616"/>
          </a:xfrm>
          <a:prstGeom prst="ellips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77240" y="3671316"/>
            <a:ext cx="356616" cy="210312"/>
          </a:xfrm>
          <a:prstGeom prst="rect">
            <a:avLst/>
          </a:prstGeom>
          <a:noFill/>
        </p:spPr>
        <p:txBody>
          <a:bodyPr wrap="square" lIns="0" rIns="0" tIns="0" bIns="0">
            <a:spAutoFit/>
          </a:bodyPr>
          <a:lstStyle/>
          <a:p>
            <a:pPr algn="ctr">
              <a:spcAft>
                <a:spcPts val="0"/>
              </a:spcAft>
            </a:pPr>
            <a:r>
              <a:rPr sz="1200" b="1">
                <a:solidFill>
                  <a:srgbClr val="FFFFFF"/>
                </a:solidFill>
                <a:latin typeface="Nimbus Sans"/>
              </a:rPr>
              <a:t>02</a:t>
            </a:r>
          </a:p>
        </p:txBody>
      </p:sp>
      <p:sp>
        <p:nvSpPr>
          <p:cNvPr id="53" name="TextBox 52"/>
          <p:cNvSpPr txBox="1"/>
          <p:nvPr/>
        </p:nvSpPr>
        <p:spPr>
          <a:xfrm>
            <a:off x="1417320" y="3611880"/>
            <a:ext cx="3474720" cy="347472"/>
          </a:xfrm>
          <a:prstGeom prst="rect">
            <a:avLst/>
          </a:prstGeom>
          <a:noFill/>
        </p:spPr>
        <p:txBody>
          <a:bodyPr wrap="square" lIns="0" rIns="0" tIns="0" bIns="0">
            <a:spAutoFit/>
          </a:bodyPr>
          <a:lstStyle/>
          <a:p>
            <a:pPr algn="l">
              <a:spcAft>
                <a:spcPts val="0"/>
              </a:spcAft>
            </a:pPr>
            <a:r>
              <a:rPr sz="2300" b="1">
                <a:solidFill>
                  <a:srgbClr val="17613F"/>
                </a:solidFill>
                <a:latin typeface="Nimbus Sans"/>
              </a:rPr>
              <a:t>Akses &amp; materi</a:t>
            </a:r>
          </a:p>
        </p:txBody>
      </p:sp>
      <p:sp>
        <p:nvSpPr>
          <p:cNvPr id="54" name="TextBox 53"/>
          <p:cNvSpPr txBox="1"/>
          <p:nvPr/>
        </p:nvSpPr>
        <p:spPr>
          <a:xfrm>
            <a:off x="1417320" y="4050791"/>
            <a:ext cx="5669280" cy="329184"/>
          </a:xfrm>
          <a:prstGeom prst="rect">
            <a:avLst/>
          </a:prstGeom>
          <a:noFill/>
        </p:spPr>
        <p:txBody>
          <a:bodyPr wrap="square" lIns="0" rIns="0" tIns="0" bIns="0">
            <a:spAutoFit/>
          </a:bodyPr>
          <a:lstStyle/>
          <a:p>
            <a:pPr algn="l">
              <a:spcAft>
                <a:spcPts val="0"/>
              </a:spcAft>
            </a:pPr>
            <a:r>
              <a:rPr sz="1600" b="0">
                <a:solidFill>
                  <a:srgbClr val="567168"/>
                </a:solidFill>
                <a:latin typeface="Nimbus Sans"/>
              </a:rPr>
              <a:t>Website, GSC, Analytics, materi resmi.</a:t>
            </a:r>
          </a:p>
        </p:txBody>
      </p:sp>
      <p:cxnSp>
        <p:nvCxnSpPr>
          <p:cNvPr id="55" name="Connector 54"/>
          <p:cNvCxnSpPr/>
          <p:nvPr/>
        </p:nvCxnSpPr>
        <p:spPr>
          <a:xfrm>
            <a:off x="7223760" y="3931920"/>
            <a:ext cx="594360" cy="0"/>
          </a:xfrm>
          <a:prstGeom prst="line">
            <a:avLst/>
          </a:prstGeom>
          <a:ln w="25400">
            <a:solidFill>
              <a:srgbClr val="D2AB62"/>
            </a:solidFill>
          </a:ln>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777240" y="4526280"/>
            <a:ext cx="356616" cy="356616"/>
          </a:xfrm>
          <a:prstGeom prst="ellipse">
            <a:avLst/>
          </a:prstGeom>
          <a:solidFill>
            <a:srgbClr val="17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77240" y="4585716"/>
            <a:ext cx="356616" cy="210312"/>
          </a:xfrm>
          <a:prstGeom prst="rect">
            <a:avLst/>
          </a:prstGeom>
          <a:noFill/>
        </p:spPr>
        <p:txBody>
          <a:bodyPr wrap="square" lIns="0" rIns="0" tIns="0" bIns="0">
            <a:spAutoFit/>
          </a:bodyPr>
          <a:lstStyle/>
          <a:p>
            <a:pPr algn="ctr">
              <a:spcAft>
                <a:spcPts val="0"/>
              </a:spcAft>
            </a:pPr>
            <a:r>
              <a:rPr sz="1200" b="1">
                <a:solidFill>
                  <a:srgbClr val="FFFFFF"/>
                </a:solidFill>
                <a:latin typeface="Nimbus Sans"/>
              </a:rPr>
              <a:t>03</a:t>
            </a:r>
          </a:p>
        </p:txBody>
      </p:sp>
      <p:sp>
        <p:nvSpPr>
          <p:cNvPr id="58" name="TextBox 57"/>
          <p:cNvSpPr txBox="1"/>
          <p:nvPr/>
        </p:nvSpPr>
        <p:spPr>
          <a:xfrm>
            <a:off x="1417320" y="4526280"/>
            <a:ext cx="3474720" cy="347472"/>
          </a:xfrm>
          <a:prstGeom prst="rect">
            <a:avLst/>
          </a:prstGeom>
          <a:noFill/>
        </p:spPr>
        <p:txBody>
          <a:bodyPr wrap="square" lIns="0" rIns="0" tIns="0" bIns="0">
            <a:spAutoFit/>
          </a:bodyPr>
          <a:lstStyle/>
          <a:p>
            <a:pPr algn="l">
              <a:spcAft>
                <a:spcPts val="0"/>
              </a:spcAft>
            </a:pPr>
            <a:r>
              <a:rPr sz="2300" b="1">
                <a:solidFill>
                  <a:srgbClr val="17613F"/>
                </a:solidFill>
                <a:latin typeface="Nimbus Sans"/>
              </a:rPr>
              <a:t>PIC &amp; persetujuan</a:t>
            </a:r>
          </a:p>
        </p:txBody>
      </p:sp>
      <p:sp>
        <p:nvSpPr>
          <p:cNvPr id="59" name="TextBox 58"/>
          <p:cNvSpPr txBox="1"/>
          <p:nvPr/>
        </p:nvSpPr>
        <p:spPr>
          <a:xfrm>
            <a:off x="1417320" y="4965192"/>
            <a:ext cx="5669280" cy="329184"/>
          </a:xfrm>
          <a:prstGeom prst="rect">
            <a:avLst/>
          </a:prstGeom>
          <a:noFill/>
        </p:spPr>
        <p:txBody>
          <a:bodyPr wrap="square" lIns="0" rIns="0" tIns="0" bIns="0">
            <a:spAutoFit/>
          </a:bodyPr>
          <a:lstStyle/>
          <a:p>
            <a:pPr algn="l">
              <a:spcAft>
                <a:spcPts val="0"/>
              </a:spcAft>
            </a:pPr>
            <a:r>
              <a:rPr sz="1600" b="0">
                <a:solidFill>
                  <a:srgbClr val="567168"/>
                </a:solidFill>
                <a:latin typeface="Nimbus Sans"/>
              </a:rPr>
              <a:t>Pemeriksa konten &amp; PIC pertanyaan masuk.</a:t>
            </a:r>
          </a:p>
        </p:txBody>
      </p:sp>
      <p:cxnSp>
        <p:nvCxnSpPr>
          <p:cNvPr id="60" name="Connector 59"/>
          <p:cNvCxnSpPr/>
          <p:nvPr/>
        </p:nvCxnSpPr>
        <p:spPr>
          <a:xfrm>
            <a:off x="7223760" y="4846320"/>
            <a:ext cx="594360" cy="0"/>
          </a:xfrm>
          <a:prstGeom prst="line">
            <a:avLst/>
          </a:prstGeom>
          <a:ln w="25400">
            <a:solidFill>
              <a:srgbClr val="D2AB62"/>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7818120" y="3017520"/>
            <a:ext cx="0" cy="1828800"/>
          </a:xfrm>
          <a:prstGeom prst="line">
            <a:avLst/>
          </a:prstGeom>
          <a:ln w="25400">
            <a:solidFill>
              <a:srgbClr val="D2AB62"/>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7818120" y="3931920"/>
            <a:ext cx="521207" cy="0"/>
          </a:xfrm>
          <a:prstGeom prst="line">
            <a:avLst/>
          </a:prstGeom>
          <a:ln w="25400">
            <a:solidFill>
              <a:srgbClr val="D2AB62"/>
            </a:solidFill>
            <a:tailEnd type="triangle"/>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9372600" y="3273552"/>
            <a:ext cx="137160" cy="137160"/>
          </a:xfrm>
          <a:prstGeom prst="line">
            <a:avLst/>
          </a:prstGeom>
          <a:ln w="38100">
            <a:solidFill>
              <a:srgbClr val="17613F"/>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9509760" y="3108960"/>
            <a:ext cx="301752" cy="301752"/>
          </a:xfrm>
          <a:prstGeom prst="line">
            <a:avLst/>
          </a:prstGeom>
          <a:ln w="38100">
            <a:solidFill>
              <a:srgbClr val="17613F"/>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8458200" y="3977639"/>
            <a:ext cx="2834640" cy="457200"/>
          </a:xfrm>
          <a:prstGeom prst="rect">
            <a:avLst/>
          </a:prstGeom>
          <a:noFill/>
        </p:spPr>
        <p:txBody>
          <a:bodyPr wrap="square" lIns="0" rIns="0" tIns="0" bIns="0">
            <a:spAutoFit/>
          </a:bodyPr>
          <a:lstStyle/>
          <a:p>
            <a:pPr algn="ctr">
              <a:spcAft>
                <a:spcPts val="0"/>
              </a:spcAft>
            </a:pPr>
            <a:r>
              <a:rPr sz="2800" b="1">
                <a:solidFill>
                  <a:srgbClr val="17613F"/>
                </a:solidFill>
                <a:latin typeface="Nimbus Sans"/>
              </a:rPr>
              <a:t>Mulai bekerja</a:t>
            </a:r>
          </a:p>
        </p:txBody>
      </p:sp>
      <p:sp>
        <p:nvSpPr>
          <p:cNvPr id="66" name="TextBox 65"/>
          <p:cNvSpPr txBox="1"/>
          <p:nvPr/>
        </p:nvSpPr>
        <p:spPr>
          <a:xfrm>
            <a:off x="8458200" y="4617720"/>
            <a:ext cx="2834640" cy="594360"/>
          </a:xfrm>
          <a:prstGeom prst="rect">
            <a:avLst/>
          </a:prstGeom>
          <a:noFill/>
        </p:spPr>
        <p:txBody>
          <a:bodyPr wrap="square" lIns="0" rIns="0" tIns="0" bIns="0">
            <a:spAutoFit/>
          </a:bodyPr>
          <a:lstStyle/>
          <a:p>
            <a:pPr algn="ctr">
              <a:spcAft>
                <a:spcPts val="0"/>
              </a:spcAft>
            </a:pPr>
            <a:r>
              <a:rPr sz="1700" b="0">
                <a:solidFill>
                  <a:srgbClr val="567168"/>
                </a:solidFill>
                <a:latin typeface="Nimbus Sans"/>
              </a:rPr>
              <a:t>Setelah prioritas dan</a:t>
            </a:r>
          </a:p>
          <a:p>
            <a:pPr algn="ctr">
              <a:spcAft>
                <a:spcPts val="0"/>
              </a:spcAft>
            </a:pPr>
            <a:r>
              <a:rPr sz="1700" b="0">
                <a:solidFill>
                  <a:srgbClr val="567168"/>
                </a:solidFill>
                <a:latin typeface="Nimbus Sans"/>
              </a:rPr>
              <a:t>persetujuan disepakati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